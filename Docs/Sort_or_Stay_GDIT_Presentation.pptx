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139db4-be6a-5893-7f45-64c6a9e8484f}">
          <p14:sldIdLst>
            <p14:sldId id="256"/>
            <p14:sldId id="257"/>
            <p14:sldId id="258"/>
          </p14:sldIdLst>
        </p14:section>
        <p14:section name="State of the art" id="{1cc5cd5f-194d-8363-09f7-1d47df517349}">
          <p14:sldIdLst>
            <p14:sldId id="259"/>
            <p14:sldId id="260"/>
            <p14:sldId id="261"/>
            <p14:sldId id="262"/>
            <p14:sldId id="263"/>
          </p14:sldIdLst>
        </p14:section>
        <p14:section name="Proposed solution" id="{4cc997af-ab3c-581c-65d5-bc293f8c7df4}">
          <p14:sldIdLst>
            <p14:sldId id="264"/>
            <p14:sldId id="265"/>
            <p14:sldId id="266"/>
          </p14:sldIdLst>
        </p14:section>
        <p14:section name="Progress and next steps" id="{e743651b-1628-1176-0a1b-212b10046643}">
          <p14:sldIdLst>
            <p14:sldId id="267"/>
            <p14:sldId id="268"/>
            <p14:sldId id="269"/>
          </p14:sldIdLst>
        </p14:section>
        <p14:section name="References" id="{dae31431-8b1d-4370-3dd8-1dd0b1c1b52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Sort or Stay — a 3D escape-room game built in Unity 6 that teaches sorting algorithms. Group 3, course GDIT, IIIT Sri City. Team and contributions: Premkumar Thota (S20240010243) — Floor 1, the Locked Room (bubble sort), and Floor 4, the Control Room (merge sort), plus the shared player (realistic avatars and point-and-click controls). Vijaya Teja Kameswar (S20240010048) — Floor 2, the Storage Room (selection sort), and Floor 5, the Vault (quick sort). Uday Banu Prakash (S20240010009) — Floor 3, the Library (insertion sort), plus the debrief cards, the scoreboard and the pilot study. The six tags on the right are the idea of the game in one picture: the keys start out of order (5 2 4 1 3 6); on Floor 1 you may only swap two neighbours, which is exactly bubble sort; when the row reads 1 to 6 the door unlocks.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 picked this problem: sorting algorithms are taught in every programming course, but students usually learn them by reading pseudocode or watching an animation. They can repeat the steps, but they confuse the algorithms and cannot say why a step happens or what it costs (Sidorov &amp; Cherkasova 2026 describe exactly this: rote memorisation and confused logic). Who experiences it: first- and second-year B.Tech students in DSA, senior school students in informatics, self-learners, and teachers who only have slides and GIFs. Why it is important: sorting is the first place students meet comparisons, swaps and time complexity; it is the base for searching, databases and scheduling. Why a game: in a game the player has to perform each operation under the rule of the algorithm and gets feedback immediately. The evidence row shows this: in Mukasheva et al. (2023) 76.9% of the VR hands-on group reached the high level on Task 1 against 48.7% of the slides group; in Sidorov &amp; Cherkasova (2026) satisfaction was 4.34 vs 3.72 out of 5; and Schöller (2025) argues passive demonstrations do not involve the learner in the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problem: learners can list the steps of bubble, selection or insertion sort, but they do not understand the rule that forces each step (only neighbours swap, the minimum must be found among all remaining items, an item is inserted into an already sorted part) or what each algorithm costs. Current limitation of existing tools: bar animations and visualisers are passive; card-based apps such as Schöller's check moves but remain abstract and only list the allowed moves; VR such as Mukasheva et al. works better but needs a headset per student; and cost is rarely compared across algorithms. Target users: first- and second-year undergraduates taking DSA, senior school students, and teachers who can demo it in class. Scope: five comparison sorts as five floors of one building, a single-player 3D desktop game for Windows and Mac, move checking, hints, debriefs and a scoreboard, and a small pilot study. Out of scope: VR/AR, multiplayer, teaching code syntax and non-comparison sorts such as counting or radix 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1: Michael Schöller, 'An Educational Mobile Game about Sorting Algorithms', Bachelor's thesis, JKU Linz, March 2025 (supervisor Markus Weninger). Problem: JKU's Institute for System Software runs sorting workshops for children with an old Java desktop application that freezes when settings change, needs Java installed and a .jar downloaded, and does not run on phones. Approach: a cross-platform app (Ionic, Angular, Capacitor; Android and web). Cards are face-down and at most two can be open at once, imitating an algorithm that holds two variables. The player can open, swap, pin (to remember the current minimum, used in selection sort) and finalize a card. In Algorithm-Specific Mode the app builds an action list (a queue) for bubble, selection or insertion sort and every input is mapped to an action and compared with the head of the queue. Free Play Mode has no rules. Settings: 6–20 cards, numbers or letters, consecutive or random values. A red dot marks where to continue in insertion sort. Confetti on completion (three times with zero mistakes). Key contribution: operation-level checking with a mistake counter and an alert listing the allowed moves, live counters for comparisons, swaps and mistakes, and a lightweight workshop backend where a teacher starts a session with a key and sees every student's results in an HTML table. Limitations: no user study, so learning gains are not measured; the cards are abstract with no story or world; the alert lists allowed moves but does not explain why; only three O(n²) algorithms; iOS was not attempted and the Play Store release was postponed. The author lists efficiency feedback (comparing the player's own strategy with the known algorithms, possibly with AI) and quick/merge sort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2: Mukasheva, Kalkabayeva and Pussyrmanov, 'Visualization of sorting algorithms in the virtual reality environment', Frontiers in Education 8:1195200, 2023. Problem: the abstract nature of sorting and the many simultaneous actions on unordered data make bubble and selection sort hard; teachers use paper, presentations, flowcharts, dance videos and animations. Approach: they built 'VR sorting' in Unity with the Oculus Integration package for the Oculus Quest 2. Students choose bubble or selection sort on a VR board, then pick up cubes with numbers using one or two virtual hands and swap them; each step is shown on the board, and if an error occurs the sorting restarts. They place it in a 'constructive visualisation' paradigm (static, then dynamic 2D/3D, then constructive VR) and extend Myller's engagement taxonomy and Ihantola's taxonomy with implementation, adaptability and integrity levels. Study: 150 first- and second-year students aged 17–20; experimental group of 78 used VR, control group of 72 used presentations and flowcharts. Five practical tasks scored on a 7-point scale; Cronbach's alpha 0.816. Means were higher for VR on every task (Task 1: 6.05 vs 4.88; Task 2: 5.12 vs 3.35). The chart shows the share at the 'high' level (6–7 points): Task 1 76.9% vs 48.7%, Task 2 51.3% vs 29.1%, Task 3 62.8% vs 40.3%, Task 4 33.4% vs 19.4%, Task 5 28.2% vs 18.1%. Chi-square was significant for all five tasks (p from 0.000 to 0.024). Limitations: a case study at one regional university; needs a headset per learner; only two algorithms; no game layer — no story, score or rewards, and the only consequence of an error is a restart; tasks 4–5, which apply sorting to new problems (lakes by area), stayed low in both groups; participants received extra course points; no delayed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3: Sidorov and Cherkasova, 'A Model for Integrating a Gamified Learning Module into the Study of Sorting Algorithms', Bulletin of Perm University, Mathematics, Mechanics, Computer Science, 2026, No. 1(72), pp. 118–130 (we used the English translation). Problem: sorting is abstract, learners memorise steps without understanding and confuse algorithms; passive animation is insufficient; few works combine gamification, AI and a classical theory of learning in one model. Approach: the web app 'The Path of the Master of Algorithmic Arts' follows P. Ya. Galperin's theory of the stage-by-stage formation of mental actions: an action is first done in an expanded, materialised form, so the array becomes frogs on lily pads (bubble sort), magic blocks for a bridge (selection sort; a wrong choice reduces the bridge's stability), crystals carried to an altar (insertion sort) and warriors sent through gates around a pivot (quick sort). Archmage Alaktik explains each task; Professor Sortius gives the theory. Every operation is controlled: if the learner tries a wrong one, the marker does not activate. Built in HTML5, CSS3 and ES6 classes with promise-based animation, hosted on GitHub Pages, developed with help from generative AI. Study: pilot with 24 fourth-year pedagogical-education students, 12 used the app and 12 used text with GIF animation. A 13-item Kirkpatrick-style satisfaction questionnaire (5-point scale): mean 4.34 vs 3.72; Mann–Whitney U = 143.5, p &lt; 0.001, effect size r = 0.84. Limitations, stated by the authors: tiny sample, only subjective satisfaction (no objective performance and no delayed knowledge test), both medians equal 4.0; no adaptivity yet (AI-generated input variants are proposed). Also, the standard deviations in the text (0.12, 0.23) differ from those in the table (0.69, 1.13). Future work they list: merge and heap sort, comparing algorithms on the same input, LMS integration, and a study with at least 100 respondents.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three papers and our game on the dimensions from the template: technology, interaction, game mechanics, narrative and immersion, feedback, adaptivity and AI, evaluation, and cost. Algorithms covered (not in the table): Schöller — bubble, selection, insertion; Mukasheva — bubble and selection; Sidorov — bubble, selection, insertion and quick sort; Sort or Stay — bubble, selection and insertion are built, merge and quick are planned. Reading across: Mukasheva's VR is the only one with measured learning gains, but it needs a headset for each learner and has no game layer. Schöller's and Sidorov's tools are free and check each move, but they are 2D, and their feedback either lists the allowed moves or blocks the wrong one without explaining why. Sort or Stay sits in between: hands-on in a 3D world on an ordinary laptop, with a story and explanations. Its weak cells are honest: no adaptivity and no evaluation yet — both are in the plan on the last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seven things a learner needs, checked against each paper. Yes / Partly / No is our reading of each paper. 1) All three let the learner perform the operations. 2) None offers a 3D world without special hardware: two are 2D and the 3D one needs a VR headset. 3) Only Sidorov gives the sort a story. 4) Only Schöller makes the algorithm's limits felt — face-down cards mean you only see two values at a time. In our Floor 2 the crate weights are hidden until weighed, which plays the same role. 5) None explains why a move is wrong: Schöller lists the allowed moves, Sidorov blocks the move, Mukasheva restarts. 6) Schöller counts comparisons and swaps, but nobody compares the player's cost with the optimum or across algorithms. 7) Only Mukasheva measured learning with tasks, and nobody ran a delayed test; ours is planned, not done. Right: the papers point at this gap themselves. Schöller's future work asks for efficiency feedback and quick/merge sort; Mukasheva found transfer tasks 4 and 5 low in both groups and studied one university; Sidorov and Cherkasova call for objective performance indicators, delayed knowledge tests with at least one hundred respondents, merge sort, and comparing algorithms on the same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or Stay is a single-player 3D escape game made in Unity 6 (URP). The player is a realistic human (Microsoft Rocketbox avatars Alex and Maya, MIT licence) who wakes up locked in a building. Each floor is one room and one algorithm; the exit only opens when the objects are in order, and the room's rule forces the algorithm. Floor 1, the Locked Room: six keys on numbered hooks; you may only swap neighbours — that is bubble sort, and the minimum number of swaps equals the number of out-of-order pairs. Floor 2, the Storage Room: seven crates whose weights are hidden until weighed on the scales; each pass you must weigh every crate that is left and send the lightest to the next bay with an overhead crane — selection sort, and the readings reset every pass because selection sort keeps no memory. Floor 3, the Library: eight books with call numbers, taken from the table in order and slid into numbered gaps; bigger books shift right — insertion sort. Floors 4 (merge sort) and 5 (quick sort) are next. The pill on each floor names its owner in Group 3: Premkumar — Floors 1 and 4; Vijaya Teja — Floors 2 and 5; Uday — Floor 3. Components: the player and controls; one rule-checking puzzle script per algorithm that validates every move; the feedback layer with explanation messages, hints, gestures and debrief cards; and the level manager, game state and scoreboard that carry results across floors. How it addresses the problem and gap: the learner acts instead of watching; the world is 3D but needs no headset; every wrong move gets a reason; and after each floor the debrief compares the player's moves with the fewest possible and with the previous floors.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Mechanics (the rules and actions): select a key, swap neighbours; weigh one crate or press Q to weigh all, choose the lightest and the crane moves it; press F to fetch the next book, choose a gap; H gives a hint. Each puzzle script checks every move against the algorithm. Dynamics (what play turns into): players plan passes; on Floor 2 they learn that every pass needs all remaining crates weighed again because selection sort keeps no memory; on Floor 3 they see that inserting a small book shifts all bigger ones. Aesthetics: a bright look (LED-lit lock-up room, warehouse, wooden library), realistic avatars rather than cartoons, procedural sounds; the intended feelings are challenge and discovery. Narrative: you wake up locked in a building; every floor is a locked room — sort, or stay. Interaction: point and click is the default — hover shows a marker and a label, a click makes the avatar walk over and use the object. Number keys pick hooks, bays and gaps; Tab switches to mouse-look; V toggles first/third person; C switches between Alex and Maya; Esc opens the pause menu. Challenges: each floor's constraint; wrong moves count as slips. Rewards: green glow, door, cheer gesture, a debrief card comparing your moves with the minimum, and a scoreboard across floors. Progression: more items each floor (6, 7, 8) and from O(n²) algorithms to divide and conquer.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loop has five beats. 1) Player action: the player does one operation of the algorithm — swap two neighbouring keys, weigh crates and choose one, or insert a book into a gap. 2) Game response: the puzzle script checks the move against the algorithm, animates it (keys swap on an arc, the crane lifts a crate, books slide) and updates the counters. 3) Feedback: a wrong move gets a sentence that says why it is wrong, plus a gesture; H gives a hint that explains the next correct step. 4) Reward or consequence: a correct move locks items in with a green glow and finally opens the door; a wrong move counts as a slip and changes nothing. 5) New challenge: the next pass has one item fewer; after the floor, the debrief card compares your moves with the minimum and the next floor brings a new algorithm and one more item. The example on the right is Floor 2 as played in the test run on 23 October: after weighing all seven crates, picking the 17 kg crate produced '17 kg is not the lightest crate left. Compare the readings again', and picking the 12 kg crate moved it to bay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Completed implementation, shown with in-game screenshots captured from the Unity Game view (Full HD) on 23 October 2026. Floor 1 was built by Premkumar Thota, Floor 2 by Vijaya Teja Kameswar and Floor 3 by Uday Banu Prakash. Floor 1, the Locked Room (bubble sort): six keys, neighbour-only swaps, hint, door and debrief card. Floor 2, the Storage Room (selection sort): seven crates with hidden weights, scales, the overhead crane, readings that reset each pass, and loading doors to the stairwell. Floor 3, the Library (insertion sort): eight books with call numbers, fetch in table order, numbered gaps, shifting, glass doors. Test-run numbers from the end scoreboard: Floor 1 — 7 swaps, the fewest possible (7 out-of-order pairs), 7 comparisons, 1 hint, 0 slips, 1:52. Floor 2 — 6 swaps (never more than n − 1 = 6), 27 weighings, 21 comparisons (6+5+4+3+2+1 = n(n−1)/2), 1 slip (deliberate, to test the feedback), 3:27. Floor 3 — 13 shifts equal to the 13 out-of-order pairs, 19 comparisons, 3 hints, 0 slips, 4:28. Total 9:49. Other completed work: Rocketbox avatars with an animation controller, gestures (cheer, scratch head, try the door), point-and-click with a runtime NavMesh for auto-walking, hover marker and labels, number keys, first/third-person camera, pause menu, and editor menus that rebuild each floor's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evidence. Top row: the debrief card after each floor. These cards are the main learning feature: they explain the count, not just show it. Floor 1 explains that the keys started with 7 out-of-order pairs and every neighbour swap fixes exactly one, so 7 is the floor. Floor 2 shows that selection sort always makes 6+5+4+3+2+1 = 21 comparisons and never more than n − 1 swaps, and contrasts it with bubble sort's 7 swaps on Floor 1: few swaps, many comparisons — right when moving things is expensive. Floor 3 shows that 13 shifts equal the 13 out-of-order pairs and that an already-sorted table would need only 7 comparisons and 0 shifts, which is why insertion sort is used for nearly sorted lists. Bottom row: the point-and-click control with the bouncing marker and the label 'Click · Send the 12 kg crate to bay 2 [5]'; the second character Maya; and the end scoreboard 'Floors 1–3 escaped'. The 'not the lightest' message and the hint text appear on screen during play (see the gameplay-loop example); they are not in these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in progress: Floor 4, the Control Room, for merge sort — level design and its rule checker, reusing the shared kit (scene builder, player, interactor, level intro, HUD). Small control fixes found in play-testing: in the Unity editor the click that focuses the Game view also counts as a game click; on Floor 1 the hover chevron sits over the hook number; Maya's hair bun shows a patch from the hair texture. Remaining: Floor 5, the Vault, for quick sort; adaptive hints that give more detail after repeated slips (the adaptivity gap from the comparison slide); a start menu, settings and stand-alone builds; a pilot study — pre-test, play, post-test, and a delayed test after one week, plus a short questionnaire, which answers the evaluation gap; then the report and a demo video. Owners: Premkumar Thota builds Floor 4 (merge sort) and fixes the controls; Vijaya Teja Kameswar builds Floor 5 (quick sort); Uday Banu Prakash writes the pilot tests, adds adaptive hints and leads the pilot study. Floors 4 and 5 are built in parallel in Weeks 1–2; builds, the study and the report are shared. The week-by-week plan is a proposal counted from 27 October and can be shifted to match the course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the three state-of-the-art papers, plus the main tools and assets used in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6766560" cy="32004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548640" y="841248"/>
            <a:ext cx="6766560" cy="1051560"/>
          </a:xfrm>
          <a:prstGeom prst="rect">
            <a:avLst/>
          </a:prstGeom>
          <a:noFill/>
          <a:ln/>
        </p:spPr>
        <p:txBody>
          <a:bodyPr wrap="square" rtlCol="0"/>
          <a:lstStyle>
            <a:lvl1pPr algn="l" indent="0" marL="0">
              <a:buNone/>
              <a:defRPr lang="en-US" sz="6400" b="1" dirty="0">
                <a:solidFill>
                  <a:schemeClr val="tx1"/>
                </a:solidFill>
              </a:defRPr>
            </a:lvl1pPr>
          </a:lstStyle>
          <a:p>
            <a:pPr algn="l" indent="0" marL="0">
              <a:buNone/>
            </a:pPr>
            <a:endParaRPr lang="en-US" sz="6400" dirty="0"/>
          </a:p>
        </p:txBody>
      </p:sp>
      <p:sp>
        <p:nvSpPr>
          <p:cNvPr id="4" name="Text 0"/>
          <p:cNvSpPr/>
          <p:nvPr>
            <p:ph idx="102" type="body" hasCustomPrompt="1"/>
          </p:nvPr>
        </p:nvSpPr>
        <p:spPr>
          <a:xfrm>
            <a:off x="548640" y="1965960"/>
            <a:ext cx="6583680" cy="77724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66928" cy="566928"/>
          </a:xfrm>
          <a:prstGeom prst="roundRect">
            <a:avLst>
              <a:gd name="adj" fmla="val 19355"/>
            </a:avLst>
          </a:prstGeom>
          <a:solidFill>
            <a:schemeClr val="accent1"/>
          </a:solidFill>
          <a:ln>
            <a:solidFill>
              <a:schemeClr val="accent1"/>
            </a:solidFill>
          </a:ln>
        </p:spPr>
        <p:txBody>
          <a:bodyPr wrap="square" rtlCol="0" anchor="ctr"/>
          <a:lstStyle/>
          <a:p>
            <a:pPr indent="0" marL="0">
              <a:buNone/>
            </a:pPr>
            <a:endParaRPr lang="en-US" dirty="0"/>
          </a:p>
        </p:txBody>
      </p:sp>
      <p:sp>
        <p:nvSpPr>
          <p:cNvPr id="3" name="Text 1"/>
          <p:cNvSpPr/>
          <p:nvPr>
            <p:ph idx="101" type="body" hasCustomPrompt="1"/>
          </p:nvPr>
        </p:nvSpPr>
        <p:spPr>
          <a:xfrm>
            <a:off x="1298448" y="365760"/>
            <a:ext cx="1033272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1298448" y="621792"/>
            <a:ext cx="1033272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5" name="Text 1"/>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Sort or Stay  ·  Group 3  ·  GDIT, IIIT Sri City</a:t>
            </a:r>
            <a:endParaRPr lang="en-US" sz="10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6766560" cy="320040"/>
          </a:xfrm>
          <a:prstGeom prst="rect">
            <a:avLst/>
          </a:prstGeom>
          <a:noFill/>
          <a:ln/>
        </p:spPr>
        <p:txBody>
          <a:bodyPr wrap="square" lIns="0" tIns="0" rIns="0" bIns="0" rtlCol="0"/>
          <a:lstStyle/>
          <a:p>
            <a:pPr algn="l" indent="0" marL="0">
              <a:buNone/>
            </a:pPr>
            <a:r>
              <a:rPr lang="en-US" sz="1400" b="1" spc="300" kern="0" dirty="0">
                <a:solidFill>
                  <a:schemeClr val="accent1"/>
                </a:solidFill>
              </a:rPr>
              <a:t>GDIT · GAME PROJECT PRESENTATION</a:t>
            </a:r>
            <a:endParaRPr lang="en-US" sz="1400" dirty="0"/>
          </a:p>
        </p:txBody>
      </p:sp>
      <p:sp>
        <p:nvSpPr>
          <p:cNvPr id="3" name="Text 0"/>
          <p:cNvSpPr/>
          <p:nvPr>
            <p:ph idx="101" type="title" hasCustomPrompt="1"/>
          </p:nvPr>
        </p:nvSpPr>
        <p:spPr>
          <a:xfrm>
            <a:off x="548640" y="841248"/>
            <a:ext cx="6766560" cy="1051560"/>
          </a:xfrm>
          <a:prstGeom prst="rect">
            <a:avLst/>
          </a:prstGeom>
          <a:noFill/>
          <a:ln/>
        </p:spPr>
        <p:txBody>
          <a:bodyPr wrap="square" lIns="0" tIns="0" rIns="0" bIns="0" rtlCol="0" anchor="ctr"/>
          <a:lstStyle/>
          <a:p>
            <a:pPr algn="l" indent="0" marL="0">
              <a:buNone/>
            </a:pPr>
            <a:r>
              <a:rPr lang="en-US" sz="6400" b="1" dirty="0">
                <a:solidFill>
                  <a:schemeClr val="tx1"/>
                </a:solidFill>
              </a:rPr>
              <a:t>Sort or Stay</a:t>
            </a:r>
            <a:endParaRPr lang="en-US" sz="6400" dirty="0"/>
          </a:p>
        </p:txBody>
      </p:sp>
      <p:sp>
        <p:nvSpPr>
          <p:cNvPr id="4" name="Text 0"/>
          <p:cNvSpPr/>
          <p:nvPr>
            <p:ph idx="102" type="body" hasCustomPrompt="1"/>
          </p:nvPr>
        </p:nvSpPr>
        <p:spPr>
          <a:xfrm>
            <a:off x="548640" y="1965960"/>
            <a:ext cx="6583680" cy="777240"/>
          </a:xfrm>
          <a:prstGeom prst="rect">
            <a:avLst/>
          </a:prstGeom>
          <a:noFill/>
          <a:ln/>
        </p:spPr>
        <p:txBody>
          <a:bodyPr wrap="square" lIns="0" tIns="0" rIns="0" bIns="0" rtlCol="0" anchor="t"/>
          <a:lstStyle/>
          <a:p>
            <a:pPr algn="l" indent="0" marL="0">
              <a:buNone/>
            </a:pPr>
            <a:r>
              <a:rPr lang="en-US" sz="2000" dirty="0">
                <a:solidFill>
                  <a:schemeClr val="tx2"/>
                </a:solidFill>
              </a:rPr>
              <a:t>A 3D escape-room game where you learn sorting algorithms by sorting real objects — or stay locked in</a:t>
            </a:r>
            <a:endParaRPr lang="en-US" sz="2000" dirty="0"/>
          </a:p>
        </p:txBody>
      </p:sp>
      <p:sp>
        <p:nvSpPr>
          <p:cNvPr id="5" name="text-1"/>
          <p:cNvSpPr txBox="1"/>
          <p:nvPr/>
        </p:nvSpPr>
        <p:spPr>
          <a:xfrm>
            <a:off x="548640" y="2971800"/>
            <a:ext cx="694944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Group 3</a:t>
            </a:r>
            <a:pPr indent="0" marL="0">
              <a:buNone/>
            </a:pPr>
            <a:r>
              <a:rPr lang="en-US" sz="1600" dirty="0">
                <a:solidFill>
                  <a:schemeClr val="tx2"/>
                </a:solidFill>
                <a:latin typeface="Arial" pitchFamily="34" charset="0"/>
                <a:ea typeface="Arial" pitchFamily="34" charset="-122"/>
                <a:cs typeface="Arial" pitchFamily="34" charset="-120"/>
              </a:rPr>
              <a:t>   ·   Course: GDIT — Game project, IIIT Sri City   ·   October 2026</a:t>
            </a:r>
            <a:endParaRPr lang="en-US" sz="1600" dirty="0"/>
          </a:p>
        </p:txBody>
      </p:sp>
      <p:graphicFrame>
        <p:nvGraphicFramePr>
          <p:cNvPr id="2" name="team-table-2"/>
          <p:cNvGraphicFramePr>
            <a:graphicFrameLocks noGrp="1"/>
          </p:cNvGraphicFramePr>
          <p:nvPr>
            <p:extLst>
              <p:ext uri="{D42A27DB-BD31-4B8C-83A1-F6EECF244321}">
                <p14:modId xmlns:p14="http://schemas.microsoft.com/office/powerpoint/2010/main" val="1579011935"/>
              </p:ext>
            </p:extLst>
          </p:nvPr>
        </p:nvGraphicFramePr>
        <p:xfrm>
          <a:off x="548640" y="3794760"/>
          <a:ext cx="11091672" cy="914400"/>
        </p:xfrm>
        <a:graphic>
          <a:graphicData uri="http://schemas.openxmlformats.org/drawingml/2006/table">
            <a:tbl>
              <a:tblPr/>
              <a:tblGrid>
                <a:gridCol w="2606040"/>
                <a:gridCol w="1783080"/>
                <a:gridCol w="6702552"/>
              </a:tblGrid>
              <a:tr h="347472">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Team member</a:t>
                      </a:r>
                      <a:endParaRPr lang="en-US" sz="12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A3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Roll No.</a:t>
                      </a:r>
                      <a:endParaRPr lang="en-US" sz="12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A3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Contribution (levels)</a:t>
                      </a:r>
                      <a:endParaRPr lang="en-US" sz="12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A38"/>
                    </a:solidFill>
                  </a:tcPr>
                </a:tc>
              </a:tr>
              <a:tr h="713232">
                <a:tc>
                  <a:txBody>
                    <a:bodyPr/>
                    <a:lstStyle/>
                    <a:p>
                      <a:pPr indent="0" marL="0">
                        <a:buNone/>
                      </a:pPr>
                      <a:r>
                        <a:rPr lang="en-US" sz="1500" b="1" dirty="0">
                          <a:solidFill>
                            <a:srgbClr val="1E2A38"/>
                          </a:solidFill>
                          <a:latin typeface="Arial" pitchFamily="34" charset="0"/>
                          <a:ea typeface="Arial" pitchFamily="34" charset="-122"/>
                          <a:cs typeface="Arial" pitchFamily="34" charset="-120"/>
                        </a:rPr>
                        <a:t>Premkumar Thota</a:t>
                      </a:r>
                      <a:endParaRPr lang="en-US" sz="15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400" dirty="0">
                          <a:solidFill>
                            <a:srgbClr val="1E2A38"/>
                          </a:solidFill>
                          <a:latin typeface="Arial" pitchFamily="34" charset="0"/>
                          <a:ea typeface="Arial" pitchFamily="34" charset="-122"/>
                          <a:cs typeface="Arial" pitchFamily="34" charset="-120"/>
                        </a:rPr>
                        <a:t>S20240010243</a:t>
                      </a:r>
                      <a:endParaRPr lang="en-US" sz="14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300" b="1" dirty="0">
                          <a:solidFill>
                            <a:srgbClr val="1E2A38"/>
                          </a:solidFill>
                          <a:latin typeface="Arial" pitchFamily="34" charset="0"/>
                          <a:ea typeface="Arial" pitchFamily="34" charset="-122"/>
                          <a:cs typeface="Arial" pitchFamily="34" charset="-120"/>
                        </a:rPr>
                        <a:t>Floor 1 · Locked Room — bubble sort (built)</a:t>
                      </a:r>
                      <a:endParaRPr lang="en-US" sz="1300" dirty="0">
                        <a:latin typeface="Arial" charset="0"/>
                        <a:ea typeface="Arial" charset="0"/>
                        <a:cs typeface="Arial" charset="0"/>
                      </a:endParaRPr>
                    </a:p>
                    <a:p>
                      <a:pPr indent="0" marL="0">
                        <a:buNone/>
                      </a:pPr>
                      <a:r>
                        <a:rPr lang="en-US" sz="1300" dirty="0">
                          <a:solidFill>
                            <a:srgbClr val="1E2A38"/>
                          </a:solidFill>
                          <a:latin typeface="Arial" pitchFamily="34" charset="0"/>
                          <a:ea typeface="Arial" pitchFamily="34" charset="-122"/>
                          <a:cs typeface="Arial" pitchFamily="34" charset="-120"/>
                        </a:rPr>
                        <a:t>Floor 4 · Control Room — merge sort (next) · player avatars &amp; controls</a:t>
                      </a:r>
                      <a:endParaRPr lang="en-US" sz="13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r>
              <a:tr h="713232">
                <a:tc>
                  <a:txBody>
                    <a:bodyPr/>
                    <a:lstStyle/>
                    <a:p>
                      <a:pPr indent="0" marL="0">
                        <a:buNone/>
                      </a:pPr>
                      <a:r>
                        <a:rPr lang="en-US" sz="1500" b="1" dirty="0">
                          <a:solidFill>
                            <a:srgbClr val="1E2A38"/>
                          </a:solidFill>
                          <a:latin typeface="Arial" pitchFamily="34" charset="0"/>
                          <a:ea typeface="Arial" pitchFamily="34" charset="-122"/>
                          <a:cs typeface="Arial" pitchFamily="34" charset="-120"/>
                        </a:rPr>
                        <a:t>Vijaya Teja Kameswar</a:t>
                      </a:r>
                      <a:endParaRPr lang="en-US" sz="15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E2A38"/>
                          </a:solidFill>
                          <a:latin typeface="Arial" pitchFamily="34" charset="0"/>
                          <a:ea typeface="Arial" pitchFamily="34" charset="-122"/>
                          <a:cs typeface="Arial" pitchFamily="34" charset="-120"/>
                        </a:rPr>
                        <a:t>S20240010048</a:t>
                      </a:r>
                      <a:endParaRPr lang="en-US" sz="14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1E2A38"/>
                          </a:solidFill>
                          <a:latin typeface="Arial" pitchFamily="34" charset="0"/>
                          <a:ea typeface="Arial" pitchFamily="34" charset="-122"/>
                          <a:cs typeface="Arial" pitchFamily="34" charset="-120"/>
                        </a:rPr>
                        <a:t>Floor 2 · Storage Room — selection sort (built)</a:t>
                      </a:r>
                      <a:endParaRPr lang="en-US" sz="1300" dirty="0">
                        <a:latin typeface="Arial" charset="0"/>
                        <a:ea typeface="Arial" charset="0"/>
                        <a:cs typeface="Arial" charset="0"/>
                      </a:endParaRPr>
                    </a:p>
                    <a:p>
                      <a:pPr indent="0" marL="0">
                        <a:buNone/>
                      </a:pPr>
                      <a:r>
                        <a:rPr lang="en-US" sz="1300" dirty="0">
                          <a:solidFill>
                            <a:srgbClr val="1E2A38"/>
                          </a:solidFill>
                          <a:latin typeface="Arial" pitchFamily="34" charset="0"/>
                          <a:ea typeface="Arial" pitchFamily="34" charset="-122"/>
                          <a:cs typeface="Arial" pitchFamily="34" charset="-120"/>
                        </a:rPr>
                        <a:t>Floor 5 · Vault — quick sort (planned)</a:t>
                      </a:r>
                      <a:endParaRPr lang="en-US" sz="13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1E2A38"/>
                          </a:solidFill>
                          <a:latin typeface="Arial" pitchFamily="34" charset="0"/>
                          <a:ea typeface="Arial" pitchFamily="34" charset="-122"/>
                          <a:cs typeface="Arial" pitchFamily="34" charset="-120"/>
                        </a:rPr>
                        <a:t>Uday Banu Prakash</a:t>
                      </a:r>
                      <a:endParaRPr lang="en-US" sz="15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400" dirty="0">
                          <a:solidFill>
                            <a:srgbClr val="1E2A38"/>
                          </a:solidFill>
                          <a:latin typeface="Arial" pitchFamily="34" charset="0"/>
                          <a:ea typeface="Arial" pitchFamily="34" charset="-122"/>
                          <a:cs typeface="Arial" pitchFamily="34" charset="-120"/>
                        </a:rPr>
                        <a:t>S20240010009</a:t>
                      </a:r>
                      <a:endParaRPr lang="en-US" sz="14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300" b="1" dirty="0">
                          <a:solidFill>
                            <a:srgbClr val="1E2A38"/>
                          </a:solidFill>
                          <a:latin typeface="Arial" pitchFamily="34" charset="0"/>
                          <a:ea typeface="Arial" pitchFamily="34" charset="-122"/>
                          <a:cs typeface="Arial" pitchFamily="34" charset="-120"/>
                        </a:rPr>
                        <a:t>Floor 3 · Library — insertion sort (built)</a:t>
                      </a:r>
                      <a:endParaRPr lang="en-US" sz="1300" dirty="0">
                        <a:latin typeface="Arial" charset="0"/>
                        <a:ea typeface="Arial" charset="0"/>
                        <a:cs typeface="Arial" charset="0"/>
                      </a:endParaRPr>
                    </a:p>
                    <a:p>
                      <a:pPr indent="0" marL="0">
                        <a:buNone/>
                      </a:pPr>
                      <a:r>
                        <a:rPr lang="en-US" sz="1300" dirty="0">
                          <a:solidFill>
                            <a:srgbClr val="1E2A38"/>
                          </a:solidFill>
                          <a:latin typeface="Arial" pitchFamily="34" charset="0"/>
                          <a:ea typeface="Arial" pitchFamily="34" charset="-122"/>
                          <a:cs typeface="Arial" pitchFamily="34" charset="-120"/>
                        </a:rPr>
                        <a:t>Debrief cards &amp; scoreboard · pilot study (planned)</a:t>
                      </a:r>
                      <a:endParaRPr lang="en-US" sz="1300" dirty="0">
                        <a:latin typeface="Arial" charset="0"/>
                        <a:ea typeface="Arial" charset="0"/>
                        <a:cs typeface="Arial" charset="0"/>
                      </a:endParaRPr>
                    </a:p>
                  </a:txBody>
                  <a:tcPr marL="101600" marR="1016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r>
            </a:tbl>
          </a:graphicData>
        </a:graphic>
      </p:graphicFrame>
      <p:sp>
        <p:nvSpPr>
          <p:cNvPr id="7" name="text-3"/>
          <p:cNvSpPr txBox="1"/>
          <p:nvPr/>
        </p:nvSpPr>
        <p:spPr>
          <a:xfrm>
            <a:off x="7543800" y="685800"/>
            <a:ext cx="1463040" cy="274320"/>
          </a:xfrm>
          <a:prstGeom prst="rect">
            <a:avLst/>
          </a:prstGeom>
          <a:noFill/>
          <a:ln/>
        </p:spPr>
        <p:txBody>
          <a:bodyPr wrap="square" lIns="0" tIns="0" rIns="0" bIns="0" rtlCol="0" anchor="t"/>
          <a:lstStyle/>
          <a:p>
            <a:pPr indent="0" marL="0">
              <a:buNone/>
            </a:pPr>
            <a:r>
              <a:rPr lang="en-US" sz="1000" b="1" spc="200" kern="0" dirty="0">
                <a:solidFill>
                  <a:schemeClr val="tx2"/>
                </a:solidFill>
                <a:latin typeface="Arial" pitchFamily="34" charset="0"/>
                <a:ea typeface="Arial" pitchFamily="34" charset="-122"/>
                <a:cs typeface="Arial" pitchFamily="34" charset="-120"/>
              </a:rPr>
              <a:t>SMALLEST</a:t>
            </a:r>
            <a:endParaRPr lang="en-US" sz="1000" dirty="0"/>
          </a:p>
        </p:txBody>
      </p:sp>
      <p:sp>
        <p:nvSpPr>
          <p:cNvPr id="8" name="text-4"/>
          <p:cNvSpPr txBox="1"/>
          <p:nvPr/>
        </p:nvSpPr>
        <p:spPr>
          <a:xfrm>
            <a:off x="10030968" y="685800"/>
            <a:ext cx="1463040" cy="274320"/>
          </a:xfrm>
          <a:prstGeom prst="rect">
            <a:avLst/>
          </a:prstGeom>
          <a:noFill/>
          <a:ln/>
        </p:spPr>
        <p:txBody>
          <a:bodyPr wrap="square" lIns="0" tIns="0" rIns="0" bIns="0" rtlCol="0" anchor="t"/>
          <a:lstStyle/>
          <a:p>
            <a:pPr algn="r" indent="0" marL="0">
              <a:buNone/>
            </a:pPr>
            <a:r>
              <a:rPr lang="en-US" sz="1000" b="1" spc="200" kern="0" dirty="0">
                <a:solidFill>
                  <a:schemeClr val="tx2"/>
                </a:solidFill>
                <a:latin typeface="Arial" pitchFamily="34" charset="0"/>
                <a:ea typeface="Arial" pitchFamily="34" charset="-122"/>
                <a:cs typeface="Arial" pitchFamily="34" charset="-120"/>
              </a:rPr>
              <a:t>LARGEST</a:t>
            </a:r>
            <a:endParaRPr lang="en-US" sz="1000" dirty="0"/>
          </a:p>
        </p:txBody>
      </p:sp>
      <p:sp>
        <p:nvSpPr>
          <p:cNvPr id="9" name="tag-5"/>
          <p:cNvSpPr txBox="1"/>
          <p:nvPr/>
        </p:nvSpPr>
        <p:spPr>
          <a:xfrm>
            <a:off x="7543800" y="1051560"/>
            <a:ext cx="566928" cy="566928"/>
          </a:xfrm>
          <a:prstGeom prst="roundRect">
            <a:avLst>
              <a:gd name="adj" fmla="val 12903"/>
            </a:avLst>
          </a:prstGeom>
          <a:solidFill>
            <a:schemeClr val="accent3"/>
          </a:solidFill>
          <a:ln w="12700">
            <a:solidFill>
              <a:schemeClr val="accent3"/>
            </a:solid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5</a:t>
            </a:r>
            <a:endParaRPr lang="en-US" sz="2200" dirty="0"/>
          </a:p>
        </p:txBody>
      </p:sp>
      <p:sp>
        <p:nvSpPr>
          <p:cNvPr id="10" name="tag-6"/>
          <p:cNvSpPr txBox="1"/>
          <p:nvPr/>
        </p:nvSpPr>
        <p:spPr>
          <a:xfrm>
            <a:off x="8220456" y="1051560"/>
            <a:ext cx="566928" cy="566928"/>
          </a:xfrm>
          <a:prstGeom prst="roundRect">
            <a:avLst>
              <a:gd name="adj" fmla="val 12903"/>
            </a:avLst>
          </a:prstGeom>
          <a:solidFill>
            <a:schemeClr val="accent3"/>
          </a:solidFill>
          <a:ln w="12700">
            <a:solidFill>
              <a:schemeClr val="accent3"/>
            </a:solid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2</a:t>
            </a:r>
            <a:endParaRPr lang="en-US" sz="2200" dirty="0"/>
          </a:p>
        </p:txBody>
      </p:sp>
      <p:sp>
        <p:nvSpPr>
          <p:cNvPr id="11" name="tag-7"/>
          <p:cNvSpPr txBox="1"/>
          <p:nvPr/>
        </p:nvSpPr>
        <p:spPr>
          <a:xfrm>
            <a:off x="8897112" y="1051560"/>
            <a:ext cx="566928" cy="566928"/>
          </a:xfrm>
          <a:prstGeom prst="roundRect">
            <a:avLst>
              <a:gd name="adj" fmla="val 12903"/>
            </a:avLst>
          </a:prstGeom>
          <a:solidFill>
            <a:schemeClr val="bg2"/>
          </a:solidFill>
          <a:ln w="12700">
            <a:solidFill>
              <a:srgbClr val="C9D0D7"/>
            </a:solid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4</a:t>
            </a:r>
            <a:endParaRPr lang="en-US" sz="2200" dirty="0"/>
          </a:p>
        </p:txBody>
      </p:sp>
      <p:sp>
        <p:nvSpPr>
          <p:cNvPr id="12" name="tag-8"/>
          <p:cNvSpPr txBox="1"/>
          <p:nvPr/>
        </p:nvSpPr>
        <p:spPr>
          <a:xfrm>
            <a:off x="9573768" y="1051560"/>
            <a:ext cx="566928" cy="566928"/>
          </a:xfrm>
          <a:prstGeom prst="roundRect">
            <a:avLst>
              <a:gd name="adj" fmla="val 12903"/>
            </a:avLst>
          </a:prstGeom>
          <a:solidFill>
            <a:schemeClr val="bg2"/>
          </a:solidFill>
          <a:ln w="12700">
            <a:solidFill>
              <a:srgbClr val="C9D0D7"/>
            </a:solid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1</a:t>
            </a:r>
            <a:endParaRPr lang="en-US" sz="2200" dirty="0"/>
          </a:p>
        </p:txBody>
      </p:sp>
      <p:sp>
        <p:nvSpPr>
          <p:cNvPr id="13" name="tag-9"/>
          <p:cNvSpPr txBox="1"/>
          <p:nvPr/>
        </p:nvSpPr>
        <p:spPr>
          <a:xfrm>
            <a:off x="10250424" y="1051560"/>
            <a:ext cx="566928" cy="566928"/>
          </a:xfrm>
          <a:prstGeom prst="roundRect">
            <a:avLst>
              <a:gd name="adj" fmla="val 12903"/>
            </a:avLst>
          </a:prstGeom>
          <a:solidFill>
            <a:schemeClr val="bg2"/>
          </a:solidFill>
          <a:ln w="12700">
            <a:solidFill>
              <a:srgbClr val="C9D0D7"/>
            </a:solid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3</a:t>
            </a:r>
            <a:endParaRPr lang="en-US" sz="2200" dirty="0"/>
          </a:p>
        </p:txBody>
      </p:sp>
      <p:sp>
        <p:nvSpPr>
          <p:cNvPr id="14" name="tag-10"/>
          <p:cNvSpPr txBox="1"/>
          <p:nvPr/>
        </p:nvSpPr>
        <p:spPr>
          <a:xfrm>
            <a:off x="10927080" y="1051560"/>
            <a:ext cx="566928" cy="566928"/>
          </a:xfrm>
          <a:prstGeom prst="roundRect">
            <a:avLst>
              <a:gd name="adj" fmla="val 12903"/>
            </a:avLst>
          </a:prstGeom>
          <a:solidFill>
            <a:schemeClr val="bg2"/>
          </a:solidFill>
          <a:ln w="12700">
            <a:solidFill>
              <a:srgbClr val="C9D0D7"/>
            </a:solid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6</a:t>
            </a:r>
            <a:endParaRPr lang="en-US" sz="2200" dirty="0"/>
          </a:p>
        </p:txBody>
      </p:sp>
      <p:sp>
        <p:nvSpPr>
          <p:cNvPr id="15" name="swap-11"/>
          <p:cNvSpPr/>
          <p:nvPr/>
        </p:nvSpPr>
        <p:spPr>
          <a:xfrm>
            <a:off x="7827264" y="1819656"/>
            <a:ext cx="676656" cy="0"/>
          </a:xfrm>
          <a:prstGeom prst="line">
            <a:avLst/>
          </a:prstGeom>
          <a:noFill/>
          <a:ln w="31750">
            <a:solidFill>
              <a:schemeClr val="accent1"/>
            </a:solidFill>
            <a:prstDash val="solid"/>
            <a:headEnd type="triangle"/>
            <a:tailEnd type="triangle"/>
          </a:ln>
        </p:spPr>
      </p:sp>
      <p:sp>
        <p:nvSpPr>
          <p:cNvPr id="16" name="text-12"/>
          <p:cNvSpPr txBox="1"/>
          <p:nvPr/>
        </p:nvSpPr>
        <p:spPr>
          <a:xfrm>
            <a:off x="7543800" y="1947672"/>
            <a:ext cx="2011680" cy="274320"/>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swap neighbours</a:t>
            </a:r>
            <a:endParaRPr lang="en-US" sz="1200" dirty="0"/>
          </a:p>
        </p:txBody>
      </p:sp>
      <p:sp>
        <p:nvSpPr>
          <p:cNvPr id="17" name="tag-sorted-13"/>
          <p:cNvSpPr txBox="1"/>
          <p:nvPr/>
        </p:nvSpPr>
        <p:spPr>
          <a:xfrm>
            <a:off x="7543800" y="2468880"/>
            <a:ext cx="566928" cy="566928"/>
          </a:xfrm>
          <a:prstGeom prst="roundRect">
            <a:avLst>
              <a:gd name="adj" fmla="val 12903"/>
            </a:avLst>
          </a:prstGeom>
          <a:solidFill>
            <a:schemeClr val="accent2"/>
          </a:solidFill>
          <a:ln w="12700">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1</a:t>
            </a:r>
            <a:endParaRPr lang="en-US" sz="2200" dirty="0"/>
          </a:p>
        </p:txBody>
      </p:sp>
      <p:sp>
        <p:nvSpPr>
          <p:cNvPr id="18" name="tag-sorted-14"/>
          <p:cNvSpPr txBox="1"/>
          <p:nvPr/>
        </p:nvSpPr>
        <p:spPr>
          <a:xfrm>
            <a:off x="8220456" y="2468880"/>
            <a:ext cx="566928" cy="566928"/>
          </a:xfrm>
          <a:prstGeom prst="roundRect">
            <a:avLst>
              <a:gd name="adj" fmla="val 12903"/>
            </a:avLst>
          </a:prstGeom>
          <a:solidFill>
            <a:schemeClr val="accent2"/>
          </a:solidFill>
          <a:ln w="12700">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2</a:t>
            </a:r>
            <a:endParaRPr lang="en-US" sz="2200" dirty="0"/>
          </a:p>
        </p:txBody>
      </p:sp>
      <p:sp>
        <p:nvSpPr>
          <p:cNvPr id="19" name="tag-sorted-15"/>
          <p:cNvSpPr txBox="1"/>
          <p:nvPr/>
        </p:nvSpPr>
        <p:spPr>
          <a:xfrm>
            <a:off x="8897112" y="2468880"/>
            <a:ext cx="566928" cy="566928"/>
          </a:xfrm>
          <a:prstGeom prst="roundRect">
            <a:avLst>
              <a:gd name="adj" fmla="val 12903"/>
            </a:avLst>
          </a:prstGeom>
          <a:solidFill>
            <a:schemeClr val="accent2"/>
          </a:solidFill>
          <a:ln w="12700">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3</a:t>
            </a:r>
            <a:endParaRPr lang="en-US" sz="2200" dirty="0"/>
          </a:p>
        </p:txBody>
      </p:sp>
      <p:sp>
        <p:nvSpPr>
          <p:cNvPr id="20" name="tag-sorted-16"/>
          <p:cNvSpPr txBox="1"/>
          <p:nvPr/>
        </p:nvSpPr>
        <p:spPr>
          <a:xfrm>
            <a:off x="9573768" y="2468880"/>
            <a:ext cx="566928" cy="566928"/>
          </a:xfrm>
          <a:prstGeom prst="roundRect">
            <a:avLst>
              <a:gd name="adj" fmla="val 12903"/>
            </a:avLst>
          </a:prstGeom>
          <a:solidFill>
            <a:schemeClr val="accent2"/>
          </a:solidFill>
          <a:ln w="12700">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4</a:t>
            </a:r>
            <a:endParaRPr lang="en-US" sz="2200" dirty="0"/>
          </a:p>
        </p:txBody>
      </p:sp>
      <p:sp>
        <p:nvSpPr>
          <p:cNvPr id="21" name="tag-sorted-17"/>
          <p:cNvSpPr txBox="1"/>
          <p:nvPr/>
        </p:nvSpPr>
        <p:spPr>
          <a:xfrm>
            <a:off x="10250424" y="2468880"/>
            <a:ext cx="566928" cy="566928"/>
          </a:xfrm>
          <a:prstGeom prst="roundRect">
            <a:avLst>
              <a:gd name="adj" fmla="val 12903"/>
            </a:avLst>
          </a:prstGeom>
          <a:solidFill>
            <a:schemeClr val="accent2"/>
          </a:solidFill>
          <a:ln w="12700">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5</a:t>
            </a:r>
            <a:endParaRPr lang="en-US" sz="2200" dirty="0"/>
          </a:p>
        </p:txBody>
      </p:sp>
      <p:sp>
        <p:nvSpPr>
          <p:cNvPr id="22" name="tag-sorted-18"/>
          <p:cNvSpPr txBox="1"/>
          <p:nvPr/>
        </p:nvSpPr>
        <p:spPr>
          <a:xfrm>
            <a:off x="10927080" y="2468880"/>
            <a:ext cx="566928" cy="566928"/>
          </a:xfrm>
          <a:prstGeom prst="roundRect">
            <a:avLst>
              <a:gd name="adj" fmla="val 12903"/>
            </a:avLst>
          </a:prstGeom>
          <a:solidFill>
            <a:schemeClr val="accent2"/>
          </a:solidFill>
          <a:ln w="12700">
            <a:solidFill>
              <a:schemeClr val="accent2"/>
            </a:solid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6</a:t>
            </a:r>
            <a:endParaRPr lang="en-US" sz="2200" dirty="0"/>
          </a:p>
        </p:txBody>
      </p:sp>
      <p:sp>
        <p:nvSpPr>
          <p:cNvPr id="23" name="text-19"/>
          <p:cNvSpPr txBox="1"/>
          <p:nvPr/>
        </p:nvSpPr>
        <p:spPr>
          <a:xfrm>
            <a:off x="7543800" y="3145536"/>
            <a:ext cx="2011680" cy="274320"/>
          </a:xfrm>
          <a:prstGeom prst="rect">
            <a:avLst/>
          </a:prstGeom>
          <a:noFill/>
          <a:ln/>
        </p:spPr>
        <p:txBody>
          <a:bodyPr wrap="square" lIns="0" tIns="0" rIns="0" bIns="0" rtlCol="0" anchor="t"/>
          <a:lstStyle/>
          <a:p>
            <a:pPr indent="0" marL="0">
              <a:buNone/>
            </a:pPr>
            <a:r>
              <a:rPr lang="en-US" sz="1200" b="1" dirty="0">
                <a:solidFill>
                  <a:schemeClr val="accent2"/>
                </a:solidFill>
                <a:latin typeface="Arial" pitchFamily="34" charset="0"/>
                <a:ea typeface="Arial" pitchFamily="34" charset="-122"/>
                <a:cs typeface="Arial" pitchFamily="34" charset="-120"/>
              </a:rPr>
              <a:t>door unlocks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MOTIVATION</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Sorting is taught everywhere, but rarely understood</a:t>
            </a:r>
            <a:endParaRPr lang="en-US" sz="2800" dirty="0"/>
          </a:p>
        </p:txBody>
      </p:sp>
      <p:sp>
        <p:nvSpPr>
          <p:cNvPr id="4" name="card-20"/>
          <p:cNvSpPr/>
          <p:nvPr/>
        </p:nvSpPr>
        <p:spPr>
          <a:xfrm>
            <a:off x="548640" y="1463040"/>
            <a:ext cx="2615184" cy="2606040"/>
          </a:xfrm>
          <a:prstGeom prst="roundRect">
            <a:avLst>
              <a:gd name="adj" fmla="val 3509"/>
            </a:avLst>
          </a:prstGeom>
          <a:solidFill>
            <a:schemeClr val="bg2"/>
          </a:solidFill>
          <a:ln w="12700">
            <a:solidFill>
              <a:schemeClr val="bg2"/>
            </a:solidFill>
            <a:prstDash val="solid"/>
          </a:ln>
        </p:spPr>
      </p:sp>
      <p:sp>
        <p:nvSpPr>
          <p:cNvPr id="5" name="icon-bg-21"/>
          <p:cNvSpPr/>
          <p:nvPr/>
        </p:nvSpPr>
        <p:spPr>
          <a:xfrm>
            <a:off x="749808" y="1664208"/>
            <a:ext cx="457200" cy="457200"/>
          </a:xfrm>
          <a:prstGeom prst="ellipse">
            <a:avLst/>
          </a:prstGeom>
          <a:solidFill>
            <a:schemeClr val="accent1"/>
          </a:solidFill>
          <a:ln w="12700">
            <a:solidFill>
              <a:schemeClr val="accent1"/>
            </a:solidFill>
            <a:prstDash val="solid"/>
          </a:ln>
        </p:spPr>
      </p:sp>
      <p:pic>
        <p:nvPicPr>
          <p:cNvPr id="6" name="icon-22" descr="preencoded.png">    </p:cNvPr>
          <p:cNvPicPr>
            <a:picLocks noChangeAspect="1"/>
          </p:cNvPicPr>
          <p:nvPr/>
        </p:nvPicPr>
        <p:blipFill>
          <a:blip r:embed="rId1"/>
          <a:stretch>
            <a:fillRect/>
          </a:stretch>
        </p:blipFill>
        <p:spPr>
          <a:xfrm>
            <a:off x="859536" y="1773936"/>
            <a:ext cx="237744" cy="237744"/>
          </a:xfrm>
          <a:prstGeom prst="rect">
            <a:avLst/>
          </a:prstGeom>
        </p:spPr>
      </p:pic>
      <p:sp>
        <p:nvSpPr>
          <p:cNvPr id="7" name="text-23"/>
          <p:cNvSpPr txBox="1"/>
          <p:nvPr/>
        </p:nvSpPr>
        <p:spPr>
          <a:xfrm>
            <a:off x="749808" y="2240280"/>
            <a:ext cx="2212848"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Why this problem</a:t>
            </a:r>
            <a:endParaRPr lang="en-US" sz="1600" dirty="0"/>
          </a:p>
        </p:txBody>
      </p:sp>
      <p:sp>
        <p:nvSpPr>
          <p:cNvPr id="8" name="text-24"/>
          <p:cNvSpPr txBox="1"/>
          <p:nvPr/>
        </p:nvSpPr>
        <p:spPr>
          <a:xfrm>
            <a:off x="749808" y="2606040"/>
            <a:ext cx="2212848" cy="13258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Sorting is the first real algorithm topic in every CS course. Learners memorise the steps, then mix up the algorithms and what each one costs.</a:t>
            </a:r>
            <a:endParaRPr lang="en-US" sz="1400" dirty="0"/>
          </a:p>
        </p:txBody>
      </p:sp>
      <p:sp>
        <p:nvSpPr>
          <p:cNvPr id="9" name="card-25"/>
          <p:cNvSpPr/>
          <p:nvPr/>
        </p:nvSpPr>
        <p:spPr>
          <a:xfrm>
            <a:off x="3438144" y="1463040"/>
            <a:ext cx="2615184" cy="2606040"/>
          </a:xfrm>
          <a:prstGeom prst="roundRect">
            <a:avLst>
              <a:gd name="adj" fmla="val 3509"/>
            </a:avLst>
          </a:prstGeom>
          <a:solidFill>
            <a:schemeClr val="bg2"/>
          </a:solidFill>
          <a:ln w="12700">
            <a:solidFill>
              <a:schemeClr val="bg2"/>
            </a:solidFill>
            <a:prstDash val="solid"/>
          </a:ln>
        </p:spPr>
      </p:sp>
      <p:sp>
        <p:nvSpPr>
          <p:cNvPr id="10" name="icon-bg-26"/>
          <p:cNvSpPr/>
          <p:nvPr/>
        </p:nvSpPr>
        <p:spPr>
          <a:xfrm>
            <a:off x="3639312" y="1664208"/>
            <a:ext cx="457200" cy="457200"/>
          </a:xfrm>
          <a:prstGeom prst="ellipse">
            <a:avLst/>
          </a:prstGeom>
          <a:solidFill>
            <a:schemeClr val="accent1"/>
          </a:solidFill>
          <a:ln w="12700">
            <a:solidFill>
              <a:schemeClr val="accent1"/>
            </a:solidFill>
            <a:prstDash val="solid"/>
          </a:ln>
        </p:spPr>
      </p:sp>
      <p:pic>
        <p:nvPicPr>
          <p:cNvPr id="11" name="icon-27" descr="preencoded.png">    </p:cNvPr>
          <p:cNvPicPr>
            <a:picLocks noChangeAspect="1"/>
          </p:cNvPicPr>
          <p:nvPr/>
        </p:nvPicPr>
        <p:blipFill>
          <a:blip r:embed="rId2"/>
          <a:stretch>
            <a:fillRect/>
          </a:stretch>
        </p:blipFill>
        <p:spPr>
          <a:xfrm>
            <a:off x="3749040" y="1773936"/>
            <a:ext cx="237744" cy="237744"/>
          </a:xfrm>
          <a:prstGeom prst="rect">
            <a:avLst/>
          </a:prstGeom>
        </p:spPr>
      </p:pic>
      <p:sp>
        <p:nvSpPr>
          <p:cNvPr id="12" name="text-28"/>
          <p:cNvSpPr txBox="1"/>
          <p:nvPr/>
        </p:nvSpPr>
        <p:spPr>
          <a:xfrm>
            <a:off x="3639312" y="2240280"/>
            <a:ext cx="2212848"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Who faces it</a:t>
            </a:r>
            <a:endParaRPr lang="en-US" sz="1600" dirty="0"/>
          </a:p>
        </p:txBody>
      </p:sp>
      <p:sp>
        <p:nvSpPr>
          <p:cNvPr id="13" name="text-29"/>
          <p:cNvSpPr txBox="1"/>
          <p:nvPr/>
        </p:nvSpPr>
        <p:spPr>
          <a:xfrm>
            <a:off x="3639312" y="2606040"/>
            <a:ext cx="2212848" cy="13258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First- and second-year Data Structures &amp; Algorithms students, school students starting programming, self-learners and their teachers.</a:t>
            </a:r>
            <a:endParaRPr lang="en-US" sz="1400" dirty="0"/>
          </a:p>
        </p:txBody>
      </p:sp>
      <p:sp>
        <p:nvSpPr>
          <p:cNvPr id="14" name="card-30"/>
          <p:cNvSpPr/>
          <p:nvPr/>
        </p:nvSpPr>
        <p:spPr>
          <a:xfrm>
            <a:off x="6327648" y="1463040"/>
            <a:ext cx="2615184" cy="2606040"/>
          </a:xfrm>
          <a:prstGeom prst="roundRect">
            <a:avLst>
              <a:gd name="adj" fmla="val 3509"/>
            </a:avLst>
          </a:prstGeom>
          <a:solidFill>
            <a:schemeClr val="bg2"/>
          </a:solidFill>
          <a:ln w="12700">
            <a:solidFill>
              <a:schemeClr val="bg2"/>
            </a:solidFill>
            <a:prstDash val="solid"/>
          </a:ln>
        </p:spPr>
      </p:sp>
      <p:sp>
        <p:nvSpPr>
          <p:cNvPr id="15" name="icon-bg-31"/>
          <p:cNvSpPr/>
          <p:nvPr/>
        </p:nvSpPr>
        <p:spPr>
          <a:xfrm>
            <a:off x="6528816" y="1664208"/>
            <a:ext cx="457200" cy="457200"/>
          </a:xfrm>
          <a:prstGeom prst="ellipse">
            <a:avLst/>
          </a:prstGeom>
          <a:solidFill>
            <a:schemeClr val="accent1"/>
          </a:solidFill>
          <a:ln w="12700">
            <a:solidFill>
              <a:schemeClr val="accent1"/>
            </a:solidFill>
            <a:prstDash val="solid"/>
          </a:ln>
        </p:spPr>
      </p:sp>
      <p:pic>
        <p:nvPicPr>
          <p:cNvPr id="16" name="icon-32" descr="preencoded.png">    </p:cNvPr>
          <p:cNvPicPr>
            <a:picLocks noChangeAspect="1"/>
          </p:cNvPicPr>
          <p:nvPr/>
        </p:nvPicPr>
        <p:blipFill>
          <a:blip r:embed="rId3"/>
          <a:stretch>
            <a:fillRect/>
          </a:stretch>
        </p:blipFill>
        <p:spPr>
          <a:xfrm>
            <a:off x="6638544" y="1773936"/>
            <a:ext cx="237744" cy="237744"/>
          </a:xfrm>
          <a:prstGeom prst="rect">
            <a:avLst/>
          </a:prstGeom>
        </p:spPr>
      </p:pic>
      <p:sp>
        <p:nvSpPr>
          <p:cNvPr id="17" name="text-33"/>
          <p:cNvSpPr txBox="1"/>
          <p:nvPr/>
        </p:nvSpPr>
        <p:spPr>
          <a:xfrm>
            <a:off x="6528816" y="2240280"/>
            <a:ext cx="2212848"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Why it matters</a:t>
            </a:r>
            <a:endParaRPr lang="en-US" sz="1600" dirty="0"/>
          </a:p>
        </p:txBody>
      </p:sp>
      <p:sp>
        <p:nvSpPr>
          <p:cNvPr id="18" name="text-34"/>
          <p:cNvSpPr txBox="1"/>
          <p:nvPr/>
        </p:nvSpPr>
        <p:spPr>
          <a:xfrm>
            <a:off x="6528816" y="2606040"/>
            <a:ext cx="2212848" cy="13258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Sorting is where students first meet comparisons, swaps and O(n²) vs O(n log n). Gaps here carry into searching, databases and later courses.</a:t>
            </a:r>
            <a:endParaRPr lang="en-US" sz="1400" dirty="0"/>
          </a:p>
        </p:txBody>
      </p:sp>
      <p:sp>
        <p:nvSpPr>
          <p:cNvPr id="19" name="card-35"/>
          <p:cNvSpPr/>
          <p:nvPr/>
        </p:nvSpPr>
        <p:spPr>
          <a:xfrm>
            <a:off x="9217152" y="1463040"/>
            <a:ext cx="2615184" cy="2606040"/>
          </a:xfrm>
          <a:prstGeom prst="roundRect">
            <a:avLst>
              <a:gd name="adj" fmla="val 3509"/>
            </a:avLst>
          </a:prstGeom>
          <a:solidFill>
            <a:schemeClr val="bg2"/>
          </a:solidFill>
          <a:ln w="12700">
            <a:solidFill>
              <a:schemeClr val="bg2"/>
            </a:solidFill>
            <a:prstDash val="solid"/>
          </a:ln>
        </p:spPr>
      </p:sp>
      <p:sp>
        <p:nvSpPr>
          <p:cNvPr id="20" name="icon-bg-36"/>
          <p:cNvSpPr/>
          <p:nvPr/>
        </p:nvSpPr>
        <p:spPr>
          <a:xfrm>
            <a:off x="9418320" y="1664208"/>
            <a:ext cx="457200" cy="457200"/>
          </a:xfrm>
          <a:prstGeom prst="ellipse">
            <a:avLst/>
          </a:prstGeom>
          <a:solidFill>
            <a:schemeClr val="accent1"/>
          </a:solidFill>
          <a:ln w="12700">
            <a:solidFill>
              <a:schemeClr val="accent1"/>
            </a:solidFill>
            <a:prstDash val="solid"/>
          </a:ln>
        </p:spPr>
      </p:sp>
      <p:pic>
        <p:nvPicPr>
          <p:cNvPr id="21" name="icon-37" descr="preencoded.png">    </p:cNvPr>
          <p:cNvPicPr>
            <a:picLocks noChangeAspect="1"/>
          </p:cNvPicPr>
          <p:nvPr/>
        </p:nvPicPr>
        <p:blipFill>
          <a:blip r:embed="rId4"/>
          <a:stretch>
            <a:fillRect/>
          </a:stretch>
        </p:blipFill>
        <p:spPr>
          <a:xfrm>
            <a:off x="9528048" y="1773936"/>
            <a:ext cx="237744" cy="237744"/>
          </a:xfrm>
          <a:prstGeom prst="rect">
            <a:avLst/>
          </a:prstGeom>
        </p:spPr>
      </p:pic>
      <p:sp>
        <p:nvSpPr>
          <p:cNvPr id="22" name="text-38"/>
          <p:cNvSpPr txBox="1"/>
          <p:nvPr/>
        </p:nvSpPr>
        <p:spPr>
          <a:xfrm>
            <a:off x="9418320" y="2240280"/>
            <a:ext cx="2212848" cy="32004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Why a game</a:t>
            </a:r>
            <a:endParaRPr lang="en-US" sz="1600" dirty="0"/>
          </a:p>
        </p:txBody>
      </p:sp>
      <p:sp>
        <p:nvSpPr>
          <p:cNvPr id="23" name="text-39"/>
          <p:cNvSpPr txBox="1"/>
          <p:nvPr/>
        </p:nvSpPr>
        <p:spPr>
          <a:xfrm>
            <a:off x="9418320" y="2606040"/>
            <a:ext cx="2212848" cy="132588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A game makes the learner do every comparison and swap under the algorithm's rule, with instant feedback, instead of watching an animation.</a:t>
            </a:r>
            <a:endParaRPr lang="en-US" sz="1400" dirty="0"/>
          </a:p>
        </p:txBody>
      </p:sp>
      <p:sp>
        <p:nvSpPr>
          <p:cNvPr id="24" name="text-40"/>
          <p:cNvSpPr txBox="1"/>
          <p:nvPr/>
        </p:nvSpPr>
        <p:spPr>
          <a:xfrm>
            <a:off x="548640" y="4297680"/>
            <a:ext cx="7315200" cy="274320"/>
          </a:xfrm>
          <a:prstGeom prst="rect">
            <a:avLst/>
          </a:prstGeom>
          <a:noFill/>
          <a:ln/>
        </p:spPr>
        <p:txBody>
          <a:bodyPr wrap="square" lIns="0" tIns="0" rIns="0" bIns="0" rtlCol="0" anchor="t"/>
          <a:lstStyle/>
          <a:p>
            <a:pPr indent="0" marL="0">
              <a:buNone/>
            </a:pPr>
            <a:r>
              <a:rPr lang="en-US" sz="1200" b="1" spc="200" kern="0" dirty="0">
                <a:solidFill>
                  <a:schemeClr val="tx2"/>
                </a:solidFill>
                <a:latin typeface="Arial" pitchFamily="34" charset="0"/>
                <a:ea typeface="Arial" pitchFamily="34" charset="-122"/>
                <a:cs typeface="Arial" pitchFamily="34" charset="-120"/>
              </a:rPr>
              <a:t>WHAT THE THREE STUDIES FOUND</a:t>
            </a:r>
            <a:endParaRPr lang="en-US" sz="1200" dirty="0"/>
          </a:p>
        </p:txBody>
      </p:sp>
      <p:sp>
        <p:nvSpPr>
          <p:cNvPr id="25" name="text-41"/>
          <p:cNvSpPr txBox="1"/>
          <p:nvPr/>
        </p:nvSpPr>
        <p:spPr>
          <a:xfrm>
            <a:off x="548640" y="4617720"/>
            <a:ext cx="3511296" cy="548640"/>
          </a:xfrm>
          <a:prstGeom prst="rect">
            <a:avLst/>
          </a:prstGeom>
          <a:noFill/>
          <a:ln/>
        </p:spPr>
        <p:txBody>
          <a:bodyPr wrap="square" lIns="0" tIns="0" rIns="0" bIns="0" rtlCol="0" anchor="ctr"/>
          <a:lstStyle/>
          <a:p>
            <a:pPr indent="0" marL="0">
              <a:buNone/>
            </a:pPr>
            <a:r>
              <a:rPr lang="en-US" sz="3200" b="1" dirty="0">
                <a:solidFill>
                  <a:schemeClr val="accent5"/>
                </a:solidFill>
                <a:latin typeface="Arial" pitchFamily="34" charset="0"/>
                <a:ea typeface="Arial" pitchFamily="34" charset="-122"/>
                <a:cs typeface="Arial" pitchFamily="34" charset="-120"/>
              </a:rPr>
              <a:t>76.9% vs 48.7%</a:t>
            </a:r>
            <a:endParaRPr lang="en-US" sz="3200" dirty="0"/>
          </a:p>
        </p:txBody>
      </p:sp>
      <p:sp>
        <p:nvSpPr>
          <p:cNvPr id="26" name="text-42"/>
          <p:cNvSpPr txBox="1"/>
          <p:nvPr/>
        </p:nvSpPr>
        <p:spPr>
          <a:xfrm>
            <a:off x="548640" y="5212080"/>
            <a:ext cx="3511296" cy="960120"/>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reached the top understanding level on Task 1 after sorting cubes by hand in VR, vs. slides and flowcharts (Mukasheva et al., 2023)</a:t>
            </a:r>
            <a:endParaRPr lang="en-US" sz="1200" dirty="0"/>
          </a:p>
        </p:txBody>
      </p:sp>
      <p:sp>
        <p:nvSpPr>
          <p:cNvPr id="27" name="text-43"/>
          <p:cNvSpPr txBox="1"/>
          <p:nvPr/>
        </p:nvSpPr>
        <p:spPr>
          <a:xfrm>
            <a:off x="4334256" y="4617720"/>
            <a:ext cx="3511296" cy="548640"/>
          </a:xfrm>
          <a:prstGeom prst="rect">
            <a:avLst/>
          </a:prstGeom>
          <a:noFill/>
          <a:ln/>
        </p:spPr>
        <p:txBody>
          <a:bodyPr wrap="square" lIns="0" tIns="0" rIns="0" bIns="0" rtlCol="0" anchor="ctr"/>
          <a:lstStyle/>
          <a:p>
            <a:pPr indent="0" marL="0">
              <a:buNone/>
            </a:pPr>
            <a:r>
              <a:rPr lang="en-US" sz="3200" b="1" dirty="0">
                <a:solidFill>
                  <a:schemeClr val="accent6"/>
                </a:solidFill>
                <a:latin typeface="Arial" pitchFamily="34" charset="0"/>
                <a:ea typeface="Arial" pitchFamily="34" charset="-122"/>
                <a:cs typeface="Arial" pitchFamily="34" charset="-120"/>
              </a:rPr>
              <a:t>4.34 vs 3.72</a:t>
            </a:r>
            <a:endParaRPr lang="en-US" sz="3200" dirty="0"/>
          </a:p>
        </p:txBody>
      </p:sp>
      <p:sp>
        <p:nvSpPr>
          <p:cNvPr id="28" name="text-44"/>
          <p:cNvSpPr txBox="1"/>
          <p:nvPr/>
        </p:nvSpPr>
        <p:spPr>
          <a:xfrm>
            <a:off x="4334256" y="5212080"/>
            <a:ext cx="3511296" cy="960120"/>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satisfaction (out of 5) with a gamified sorting module vs. text + GIF animation (Sidorov &amp; Cherkasova, 2026)</a:t>
            </a:r>
            <a:endParaRPr lang="en-US" sz="1200" dirty="0"/>
          </a:p>
        </p:txBody>
      </p:sp>
      <p:sp>
        <p:nvSpPr>
          <p:cNvPr id="29" name="text-45"/>
          <p:cNvSpPr txBox="1"/>
          <p:nvPr/>
        </p:nvSpPr>
        <p:spPr>
          <a:xfrm>
            <a:off x="8119872" y="4617720"/>
            <a:ext cx="3511296" cy="548640"/>
          </a:xfrm>
          <a:prstGeom prst="rect">
            <a:avLst/>
          </a:prstGeom>
          <a:noFill/>
          <a:ln/>
        </p:spPr>
        <p:txBody>
          <a:bodyPr wrap="square" lIns="0" tIns="0" rIns="0" bIns="0" rtlCol="0" anchor="ctr"/>
          <a:lstStyle/>
          <a:p>
            <a:pPr indent="0" marL="0">
              <a:buNone/>
            </a:pPr>
            <a:r>
              <a:rPr lang="en-US" sz="3200" b="1" dirty="0">
                <a:solidFill>
                  <a:schemeClr val="accent4"/>
                </a:solidFill>
                <a:latin typeface="Arial" pitchFamily="34" charset="0"/>
                <a:ea typeface="Arial" pitchFamily="34" charset="-122"/>
                <a:cs typeface="Arial" pitchFamily="34" charset="-120"/>
              </a:rPr>
              <a:t>Watch ≠ learn</a:t>
            </a:r>
            <a:endParaRPr lang="en-US" sz="3200" dirty="0"/>
          </a:p>
        </p:txBody>
      </p:sp>
      <p:sp>
        <p:nvSpPr>
          <p:cNvPr id="30" name="text-46"/>
          <p:cNvSpPr txBox="1"/>
          <p:nvPr/>
        </p:nvSpPr>
        <p:spPr>
          <a:xfrm>
            <a:off x="8119872" y="5212080"/>
            <a:ext cx="3511296" cy="960120"/>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tools that only show an animation leave the learner out of the decision-making (Schöller, 2025)</a:t>
            </a:r>
            <a:endParaRPr lang="en-US" sz="12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PROBLEM STATEMENT</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Learners watch sorting but rarely do it themselves</a:t>
            </a:r>
            <a:endParaRPr lang="en-US" sz="2800" dirty="0"/>
          </a:p>
        </p:txBody>
      </p:sp>
      <p:sp>
        <p:nvSpPr>
          <p:cNvPr id="4" name="card-47"/>
          <p:cNvSpPr/>
          <p:nvPr/>
        </p:nvSpPr>
        <p:spPr>
          <a:xfrm>
            <a:off x="548640" y="1417320"/>
            <a:ext cx="11091672" cy="1051560"/>
          </a:xfrm>
          <a:prstGeom prst="roundRect">
            <a:avLst>
              <a:gd name="adj" fmla="val 8696"/>
            </a:avLst>
          </a:prstGeom>
          <a:solidFill>
            <a:srgbClr val="FDF0E7"/>
          </a:solidFill>
          <a:ln w="12700">
            <a:solidFill>
              <a:srgbClr val="FDF0E7"/>
            </a:solidFill>
            <a:prstDash val="solid"/>
          </a:ln>
        </p:spPr>
      </p:sp>
      <p:sp>
        <p:nvSpPr>
          <p:cNvPr id="5" name="icon-bg-48"/>
          <p:cNvSpPr/>
          <p:nvPr/>
        </p:nvSpPr>
        <p:spPr>
          <a:xfrm>
            <a:off x="777240" y="1673352"/>
            <a:ext cx="548640" cy="548640"/>
          </a:xfrm>
          <a:prstGeom prst="ellipse">
            <a:avLst/>
          </a:prstGeom>
          <a:solidFill>
            <a:schemeClr val="accent1"/>
          </a:solidFill>
          <a:ln w="12700">
            <a:solidFill>
              <a:schemeClr val="accent1"/>
            </a:solidFill>
            <a:prstDash val="solid"/>
          </a:ln>
        </p:spPr>
      </p:sp>
      <p:pic>
        <p:nvPicPr>
          <p:cNvPr id="6" name="icon-49" descr="preencoded.png">    </p:cNvPr>
          <p:cNvPicPr>
            <a:picLocks noChangeAspect="1"/>
          </p:cNvPicPr>
          <p:nvPr/>
        </p:nvPicPr>
        <p:blipFill>
          <a:blip r:embed="rId1"/>
          <a:stretch>
            <a:fillRect/>
          </a:stretch>
        </p:blipFill>
        <p:spPr>
          <a:xfrm>
            <a:off x="908914" y="1805026"/>
            <a:ext cx="285293" cy="285293"/>
          </a:xfrm>
          <a:prstGeom prst="rect">
            <a:avLst/>
          </a:prstGeom>
        </p:spPr>
      </p:pic>
      <p:sp>
        <p:nvSpPr>
          <p:cNvPr id="7" name="text-50"/>
          <p:cNvSpPr txBox="1"/>
          <p:nvPr/>
        </p:nvSpPr>
        <p:spPr>
          <a:xfrm>
            <a:off x="1508760" y="1527048"/>
            <a:ext cx="9921240" cy="86868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Problem: </a:t>
            </a:r>
            <a:pPr indent="0" marL="0">
              <a:buNone/>
            </a:pPr>
            <a:r>
              <a:rPr lang="en-US" sz="1600" dirty="0">
                <a:solidFill>
                  <a:schemeClr val="tx1"/>
                </a:solidFill>
                <a:latin typeface="Arial" pitchFamily="34" charset="0"/>
                <a:ea typeface="Arial" pitchFamily="34" charset="-122"/>
                <a:cs typeface="Arial" pitchFamily="34" charset="-120"/>
              </a:rPr>
              <a:t>beginners learn the steps of sorting algorithms but not the rule behind each step or its cost, because today's tools are passive, abstract, or need costly hardware. We need an affordable, hands-on game that checks every move and explains every mistake.</a:t>
            </a:r>
            <a:endParaRPr lang="en-US" sz="1600" dirty="0"/>
          </a:p>
        </p:txBody>
      </p:sp>
      <p:sp>
        <p:nvSpPr>
          <p:cNvPr id="8" name="icon-bg-51"/>
          <p:cNvSpPr/>
          <p:nvPr/>
        </p:nvSpPr>
        <p:spPr>
          <a:xfrm>
            <a:off x="548640" y="2743200"/>
            <a:ext cx="420624" cy="420624"/>
          </a:xfrm>
          <a:prstGeom prst="ellipse">
            <a:avLst/>
          </a:prstGeom>
          <a:solidFill>
            <a:schemeClr val="tx1"/>
          </a:solidFill>
          <a:ln w="12700">
            <a:solidFill>
              <a:schemeClr val="tx1"/>
            </a:solidFill>
            <a:prstDash val="solid"/>
          </a:ln>
        </p:spPr>
      </p:sp>
      <p:pic>
        <p:nvPicPr>
          <p:cNvPr id="9" name="icon-52" descr="preencoded.png">    </p:cNvPr>
          <p:cNvPicPr>
            <a:picLocks noChangeAspect="1"/>
          </p:cNvPicPr>
          <p:nvPr/>
        </p:nvPicPr>
        <p:blipFill>
          <a:blip r:embed="rId2"/>
          <a:stretch>
            <a:fillRect/>
          </a:stretch>
        </p:blipFill>
        <p:spPr>
          <a:xfrm>
            <a:off x="649590" y="2844150"/>
            <a:ext cx="218724" cy="218724"/>
          </a:xfrm>
          <a:prstGeom prst="rect">
            <a:avLst/>
          </a:prstGeom>
        </p:spPr>
      </p:pic>
      <p:sp>
        <p:nvSpPr>
          <p:cNvPr id="10" name="text-53"/>
          <p:cNvSpPr txBox="1"/>
          <p:nvPr/>
        </p:nvSpPr>
        <p:spPr>
          <a:xfrm>
            <a:off x="1097280" y="2743200"/>
            <a:ext cx="2962656" cy="420624"/>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Current limitations</a:t>
            </a:r>
            <a:endParaRPr lang="en-US" sz="1800" dirty="0"/>
          </a:p>
        </p:txBody>
      </p:sp>
      <p:sp>
        <p:nvSpPr>
          <p:cNvPr id="11" name="text-54"/>
          <p:cNvSpPr txBox="1"/>
          <p:nvPr/>
        </p:nvSpPr>
        <p:spPr>
          <a:xfrm>
            <a:off x="548640" y="3383280"/>
            <a:ext cx="3511296" cy="28346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Animations and bar visualisers are passive: the learner watches, never decides</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2D card apps check moves but stay abstract and rarely explain why a move is wrong</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VR helps more, but needs a headset for every learner</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Costs (comparisons, swaps) are seldom compared across algorithms</a:t>
            </a:r>
            <a:endParaRPr lang="en-US" sz="1500" dirty="0"/>
          </a:p>
        </p:txBody>
      </p:sp>
      <p:sp>
        <p:nvSpPr>
          <p:cNvPr id="12" name="icon-bg-55"/>
          <p:cNvSpPr/>
          <p:nvPr/>
        </p:nvSpPr>
        <p:spPr>
          <a:xfrm>
            <a:off x="4334256" y="2743200"/>
            <a:ext cx="420624" cy="420624"/>
          </a:xfrm>
          <a:prstGeom prst="ellipse">
            <a:avLst/>
          </a:prstGeom>
          <a:solidFill>
            <a:schemeClr val="tx1"/>
          </a:solidFill>
          <a:ln w="12700">
            <a:solidFill>
              <a:schemeClr val="tx1"/>
            </a:solidFill>
            <a:prstDash val="solid"/>
          </a:ln>
        </p:spPr>
      </p:sp>
      <p:pic>
        <p:nvPicPr>
          <p:cNvPr id="13" name="icon-56" descr="preencoded.png">    </p:cNvPr>
          <p:cNvPicPr>
            <a:picLocks noChangeAspect="1"/>
          </p:cNvPicPr>
          <p:nvPr/>
        </p:nvPicPr>
        <p:blipFill>
          <a:blip r:embed="rId3"/>
          <a:stretch>
            <a:fillRect/>
          </a:stretch>
        </p:blipFill>
        <p:spPr>
          <a:xfrm>
            <a:off x="4435206" y="2844150"/>
            <a:ext cx="218724" cy="218724"/>
          </a:xfrm>
          <a:prstGeom prst="rect">
            <a:avLst/>
          </a:prstGeom>
        </p:spPr>
      </p:pic>
      <p:sp>
        <p:nvSpPr>
          <p:cNvPr id="14" name="text-57"/>
          <p:cNvSpPr txBox="1"/>
          <p:nvPr/>
        </p:nvSpPr>
        <p:spPr>
          <a:xfrm>
            <a:off x="4882896" y="2743200"/>
            <a:ext cx="2962656" cy="420624"/>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Target users</a:t>
            </a:r>
            <a:endParaRPr lang="en-US" sz="1800" dirty="0"/>
          </a:p>
        </p:txBody>
      </p:sp>
      <p:sp>
        <p:nvSpPr>
          <p:cNvPr id="15" name="text-58"/>
          <p:cNvSpPr txBox="1"/>
          <p:nvPr/>
        </p:nvSpPr>
        <p:spPr>
          <a:xfrm>
            <a:off x="4334256" y="3383280"/>
            <a:ext cx="3511296" cy="28346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1st–2nd year undergraduates in Data Structures &amp; Algorithms (about 17–21)</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Senior school students starting programming</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Teachers: a class demo, then practice at home</a:t>
            </a:r>
            <a:endParaRPr lang="en-US" sz="1500" dirty="0"/>
          </a:p>
        </p:txBody>
      </p:sp>
      <p:sp>
        <p:nvSpPr>
          <p:cNvPr id="16" name="icon-bg-59"/>
          <p:cNvSpPr/>
          <p:nvPr/>
        </p:nvSpPr>
        <p:spPr>
          <a:xfrm>
            <a:off x="8119872" y="2743200"/>
            <a:ext cx="420624" cy="420624"/>
          </a:xfrm>
          <a:prstGeom prst="ellipse">
            <a:avLst/>
          </a:prstGeom>
          <a:solidFill>
            <a:schemeClr val="tx1"/>
          </a:solidFill>
          <a:ln w="12700">
            <a:solidFill>
              <a:schemeClr val="tx1"/>
            </a:solidFill>
            <a:prstDash val="solid"/>
          </a:ln>
        </p:spPr>
      </p:sp>
      <p:pic>
        <p:nvPicPr>
          <p:cNvPr id="17" name="icon-60" descr="preencoded.png">    </p:cNvPr>
          <p:cNvPicPr>
            <a:picLocks noChangeAspect="1"/>
          </p:cNvPicPr>
          <p:nvPr/>
        </p:nvPicPr>
        <p:blipFill>
          <a:blip r:embed="rId4"/>
          <a:stretch>
            <a:fillRect/>
          </a:stretch>
        </p:blipFill>
        <p:spPr>
          <a:xfrm>
            <a:off x="8220822" y="2844150"/>
            <a:ext cx="218724" cy="218724"/>
          </a:xfrm>
          <a:prstGeom prst="rect">
            <a:avLst/>
          </a:prstGeom>
        </p:spPr>
      </p:pic>
      <p:sp>
        <p:nvSpPr>
          <p:cNvPr id="18" name="text-61"/>
          <p:cNvSpPr txBox="1"/>
          <p:nvPr/>
        </p:nvSpPr>
        <p:spPr>
          <a:xfrm>
            <a:off x="8668512" y="2743200"/>
            <a:ext cx="2962656" cy="420624"/>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Scope</a:t>
            </a:r>
            <a:endParaRPr lang="en-US" sz="1800" dirty="0"/>
          </a:p>
        </p:txBody>
      </p:sp>
      <p:sp>
        <p:nvSpPr>
          <p:cNvPr id="19" name="text-62"/>
          <p:cNvSpPr txBox="1"/>
          <p:nvPr/>
        </p:nvSpPr>
        <p:spPr>
          <a:xfrm>
            <a:off x="8119872" y="3383280"/>
            <a:ext cx="3511296" cy="28346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In: 5 comparison sorts (bubble, selection, insertion, merge, quick) as 5 floors</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In: single-player 3D desktop game (Windows / Mac) with move checking, hints, debriefs, scoreboard; a small pilot study</a:t>
            </a:r>
            <a:endParaRPr lang="en-US" sz="1500" dirty="0"/>
          </a:p>
          <a:p>
            <a:pPr marL="177800" indent="-177800">
              <a:spcAft>
                <a:spcPts val="1000"/>
              </a:spcAft>
              <a:buSzPct val="100000"/>
              <a:buChar char="•"/>
            </a:pPr>
            <a:r>
              <a:rPr lang="en-US" sz="1500" dirty="0">
                <a:solidFill>
                  <a:schemeClr val="tx1"/>
                </a:solidFill>
                <a:latin typeface="Arial" pitchFamily="34" charset="0"/>
                <a:ea typeface="Arial" pitchFamily="34" charset="-122"/>
                <a:cs typeface="Arial" pitchFamily="34" charset="-120"/>
              </a:rPr>
              <a:t>Out: VR/AR, multiplayer, writing code, non-comparison sorts</a:t>
            </a:r>
            <a:endParaRPr lang="en-US" sz="15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STATE OF THE ART · PAPER 1 OF 3</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Schöller (2025): a card game that checks every move</a:t>
            </a:r>
            <a:endParaRPr lang="en-US" sz="2800" dirty="0"/>
          </a:p>
        </p:txBody>
      </p:sp>
      <p:sp>
        <p:nvSpPr>
          <p:cNvPr id="4" name="text-63"/>
          <p:cNvSpPr txBox="1"/>
          <p:nvPr/>
        </p:nvSpPr>
        <p:spPr>
          <a:xfrm>
            <a:off x="1298448" y="1207008"/>
            <a:ext cx="10332720" cy="274320"/>
          </a:xfrm>
          <a:prstGeom prst="rect">
            <a:avLst/>
          </a:prstGeom>
          <a:noFill/>
          <a:ln/>
        </p:spPr>
        <p:txBody>
          <a:bodyPr wrap="square" lIns="0" tIns="0" rIns="0" bIns="0" rtlCol="0" anchor="t"/>
          <a:lstStyle/>
          <a:p>
            <a:pPr indent="0" marL="0">
              <a:buNone/>
            </a:pPr>
            <a:r>
              <a:rPr lang="en-US" sz="1200" i="1" dirty="0">
                <a:solidFill>
                  <a:schemeClr val="tx2"/>
                </a:solidFill>
                <a:latin typeface="Arial" pitchFamily="34" charset="0"/>
                <a:ea typeface="Arial" pitchFamily="34" charset="-122"/>
                <a:cs typeface="Arial" pitchFamily="34" charset="-120"/>
              </a:rPr>
              <a:t>Bachelor's thesis, Johannes Kepler University Linz (Austria), March 2025 · Ionic + Angular + Capacitor app for phone and web</a:t>
            </a:r>
            <a:endParaRPr lang="en-US" sz="1200" dirty="0"/>
          </a:p>
        </p:txBody>
      </p:sp>
      <p:sp>
        <p:nvSpPr>
          <p:cNvPr id="5" name="card-64"/>
          <p:cNvSpPr/>
          <p:nvPr/>
        </p:nvSpPr>
        <p:spPr>
          <a:xfrm>
            <a:off x="548640" y="1572768"/>
            <a:ext cx="3383280" cy="2240280"/>
          </a:xfrm>
          <a:prstGeom prst="roundRect">
            <a:avLst>
              <a:gd name="adj" fmla="val 4082"/>
            </a:avLst>
          </a:prstGeom>
          <a:solidFill>
            <a:schemeClr val="bg2"/>
          </a:solidFill>
          <a:ln w="12700">
            <a:solidFill>
              <a:schemeClr val="bg2"/>
            </a:solidFill>
            <a:prstDash val="solid"/>
          </a:ln>
        </p:spPr>
      </p:sp>
      <p:sp>
        <p:nvSpPr>
          <p:cNvPr id="6" name="icon-bg-65"/>
          <p:cNvSpPr/>
          <p:nvPr/>
        </p:nvSpPr>
        <p:spPr>
          <a:xfrm>
            <a:off x="713232" y="1728216"/>
            <a:ext cx="365760" cy="365760"/>
          </a:xfrm>
          <a:prstGeom prst="ellipse">
            <a:avLst/>
          </a:prstGeom>
          <a:solidFill>
            <a:schemeClr val="accent4"/>
          </a:solidFill>
          <a:ln w="12700">
            <a:solidFill>
              <a:schemeClr val="accent4"/>
            </a:solidFill>
            <a:prstDash val="solid"/>
          </a:ln>
        </p:spPr>
      </p:sp>
      <p:pic>
        <p:nvPicPr>
          <p:cNvPr id="7" name="icon-66" descr="preencoded.png">    </p:cNvPr>
          <p:cNvPicPr>
            <a:picLocks noChangeAspect="1"/>
          </p:cNvPicPr>
          <p:nvPr/>
        </p:nvPicPr>
        <p:blipFill>
          <a:blip r:embed="rId1"/>
          <a:stretch>
            <a:fillRect/>
          </a:stretch>
        </p:blipFill>
        <p:spPr>
          <a:xfrm>
            <a:off x="801014" y="1815998"/>
            <a:ext cx="190195" cy="190195"/>
          </a:xfrm>
          <a:prstGeom prst="rect">
            <a:avLst/>
          </a:prstGeom>
        </p:spPr>
      </p:pic>
      <p:sp>
        <p:nvSpPr>
          <p:cNvPr id="8" name="text-67"/>
          <p:cNvSpPr txBox="1"/>
          <p:nvPr/>
        </p:nvSpPr>
        <p:spPr>
          <a:xfrm>
            <a:off x="1188720" y="1728216"/>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Problem</a:t>
            </a:r>
            <a:endParaRPr lang="en-US" sz="1500" dirty="0"/>
          </a:p>
        </p:txBody>
      </p:sp>
      <p:sp>
        <p:nvSpPr>
          <p:cNvPr id="9" name="text-68"/>
          <p:cNvSpPr txBox="1"/>
          <p:nvPr/>
        </p:nvSpPr>
        <p:spPr>
          <a:xfrm>
            <a:off x="713232" y="2194560"/>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JKU's sorting workshops for kids used a ~20-year-old Java desktop tool: it froze, needed Java + a .jar, desktop only</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Text and pseudocode leave learners passive</a:t>
            </a:r>
            <a:endParaRPr lang="en-US" sz="1300" dirty="0"/>
          </a:p>
        </p:txBody>
      </p:sp>
      <p:sp>
        <p:nvSpPr>
          <p:cNvPr id="10" name="card-69"/>
          <p:cNvSpPr/>
          <p:nvPr/>
        </p:nvSpPr>
        <p:spPr>
          <a:xfrm>
            <a:off x="4160520" y="1572768"/>
            <a:ext cx="3383280" cy="2240280"/>
          </a:xfrm>
          <a:prstGeom prst="roundRect">
            <a:avLst>
              <a:gd name="adj" fmla="val 4082"/>
            </a:avLst>
          </a:prstGeom>
          <a:solidFill>
            <a:schemeClr val="bg2"/>
          </a:solidFill>
          <a:ln w="12700">
            <a:solidFill>
              <a:schemeClr val="bg2"/>
            </a:solidFill>
            <a:prstDash val="solid"/>
          </a:ln>
        </p:spPr>
      </p:sp>
      <p:sp>
        <p:nvSpPr>
          <p:cNvPr id="11" name="icon-bg-70"/>
          <p:cNvSpPr/>
          <p:nvPr/>
        </p:nvSpPr>
        <p:spPr>
          <a:xfrm>
            <a:off x="4325112" y="1728216"/>
            <a:ext cx="365760" cy="365760"/>
          </a:xfrm>
          <a:prstGeom prst="ellipse">
            <a:avLst/>
          </a:prstGeom>
          <a:solidFill>
            <a:schemeClr val="accent4"/>
          </a:solidFill>
          <a:ln w="12700">
            <a:solidFill>
              <a:schemeClr val="accent4"/>
            </a:solidFill>
            <a:prstDash val="solid"/>
          </a:ln>
        </p:spPr>
      </p:sp>
      <p:pic>
        <p:nvPicPr>
          <p:cNvPr id="12" name="icon-71" descr="preencoded.png">    </p:cNvPr>
          <p:cNvPicPr>
            <a:picLocks noChangeAspect="1"/>
          </p:cNvPicPr>
          <p:nvPr/>
        </p:nvPicPr>
        <p:blipFill>
          <a:blip r:embed="rId2"/>
          <a:stretch>
            <a:fillRect/>
          </a:stretch>
        </p:blipFill>
        <p:spPr>
          <a:xfrm>
            <a:off x="4412894" y="1815998"/>
            <a:ext cx="190195" cy="190195"/>
          </a:xfrm>
          <a:prstGeom prst="rect">
            <a:avLst/>
          </a:prstGeom>
        </p:spPr>
      </p:pic>
      <p:sp>
        <p:nvSpPr>
          <p:cNvPr id="13" name="text-72"/>
          <p:cNvSpPr txBox="1"/>
          <p:nvPr/>
        </p:nvSpPr>
        <p:spPr>
          <a:xfrm>
            <a:off x="4800600" y="1728216"/>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Approach</a:t>
            </a:r>
            <a:endParaRPr lang="en-US" sz="1500" dirty="0"/>
          </a:p>
        </p:txBody>
      </p:sp>
      <p:sp>
        <p:nvSpPr>
          <p:cNvPr id="14" name="text-73"/>
          <p:cNvSpPr txBox="1"/>
          <p:nvPr/>
        </p:nvSpPr>
        <p:spPr>
          <a:xfrm>
            <a:off x="4325112" y="2194560"/>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Face-down cards; at most two open (like two variables)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Actions: open, swap, pin (current minimum), finalize</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Algorithm mode checks each action against a pre-built action queue; Free Play has no rules</a:t>
            </a:r>
            <a:endParaRPr lang="en-US" sz="1300" dirty="0"/>
          </a:p>
        </p:txBody>
      </p:sp>
      <p:sp>
        <p:nvSpPr>
          <p:cNvPr id="15" name="card-74"/>
          <p:cNvSpPr/>
          <p:nvPr/>
        </p:nvSpPr>
        <p:spPr>
          <a:xfrm>
            <a:off x="548640" y="3977640"/>
            <a:ext cx="3383280" cy="2240280"/>
          </a:xfrm>
          <a:prstGeom prst="roundRect">
            <a:avLst>
              <a:gd name="adj" fmla="val 4082"/>
            </a:avLst>
          </a:prstGeom>
          <a:solidFill>
            <a:schemeClr val="bg2"/>
          </a:solidFill>
          <a:ln w="12700">
            <a:solidFill>
              <a:schemeClr val="bg2"/>
            </a:solidFill>
            <a:prstDash val="solid"/>
          </a:ln>
        </p:spPr>
      </p:sp>
      <p:sp>
        <p:nvSpPr>
          <p:cNvPr id="16" name="icon-bg-75"/>
          <p:cNvSpPr/>
          <p:nvPr/>
        </p:nvSpPr>
        <p:spPr>
          <a:xfrm>
            <a:off x="713232" y="4133088"/>
            <a:ext cx="365760" cy="365760"/>
          </a:xfrm>
          <a:prstGeom prst="ellipse">
            <a:avLst/>
          </a:prstGeom>
          <a:solidFill>
            <a:schemeClr val="accent4"/>
          </a:solidFill>
          <a:ln w="12700">
            <a:solidFill>
              <a:schemeClr val="accent4"/>
            </a:solidFill>
            <a:prstDash val="solid"/>
          </a:ln>
        </p:spPr>
      </p:sp>
      <p:pic>
        <p:nvPicPr>
          <p:cNvPr id="17" name="icon-76" descr="preencoded.png">    </p:cNvPr>
          <p:cNvPicPr>
            <a:picLocks noChangeAspect="1"/>
          </p:cNvPicPr>
          <p:nvPr/>
        </p:nvPicPr>
        <p:blipFill>
          <a:blip r:embed="rId3"/>
          <a:stretch>
            <a:fillRect/>
          </a:stretch>
        </p:blipFill>
        <p:spPr>
          <a:xfrm>
            <a:off x="801014" y="4220870"/>
            <a:ext cx="190195" cy="190195"/>
          </a:xfrm>
          <a:prstGeom prst="rect">
            <a:avLst/>
          </a:prstGeom>
        </p:spPr>
      </p:pic>
      <p:sp>
        <p:nvSpPr>
          <p:cNvPr id="18" name="text-77"/>
          <p:cNvSpPr txBox="1"/>
          <p:nvPr/>
        </p:nvSpPr>
        <p:spPr>
          <a:xfrm>
            <a:off x="1188720" y="4133088"/>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Key contribution</a:t>
            </a:r>
            <a:endParaRPr lang="en-US" sz="1500" dirty="0"/>
          </a:p>
        </p:txBody>
      </p:sp>
      <p:sp>
        <p:nvSpPr>
          <p:cNvPr id="19" name="text-78"/>
          <p:cNvSpPr txBox="1"/>
          <p:nvPr/>
        </p:nvSpPr>
        <p:spPr>
          <a:xfrm>
            <a:off x="713232" y="4599432"/>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Step-level checking: mistake +1 and an alert listing the allowed moves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Live counters: comparisons, swaps, mistakes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Workshop mode: teacher collects each student's stats</a:t>
            </a:r>
            <a:endParaRPr lang="en-US" sz="1300" dirty="0"/>
          </a:p>
        </p:txBody>
      </p:sp>
      <p:sp>
        <p:nvSpPr>
          <p:cNvPr id="20" name="card-79"/>
          <p:cNvSpPr/>
          <p:nvPr/>
        </p:nvSpPr>
        <p:spPr>
          <a:xfrm>
            <a:off x="4160520" y="3977640"/>
            <a:ext cx="3383280" cy="2240280"/>
          </a:xfrm>
          <a:prstGeom prst="roundRect">
            <a:avLst>
              <a:gd name="adj" fmla="val 4082"/>
            </a:avLst>
          </a:prstGeom>
          <a:solidFill>
            <a:schemeClr val="bg2"/>
          </a:solidFill>
          <a:ln w="12700">
            <a:solidFill>
              <a:schemeClr val="bg2"/>
            </a:solidFill>
            <a:prstDash val="solid"/>
          </a:ln>
        </p:spPr>
      </p:sp>
      <p:sp>
        <p:nvSpPr>
          <p:cNvPr id="21" name="icon-bg-80"/>
          <p:cNvSpPr/>
          <p:nvPr/>
        </p:nvSpPr>
        <p:spPr>
          <a:xfrm>
            <a:off x="4325112" y="4133088"/>
            <a:ext cx="365760" cy="365760"/>
          </a:xfrm>
          <a:prstGeom prst="ellipse">
            <a:avLst/>
          </a:prstGeom>
          <a:solidFill>
            <a:schemeClr val="tx1"/>
          </a:solidFill>
          <a:ln w="12700">
            <a:solidFill>
              <a:schemeClr val="tx1"/>
            </a:solidFill>
            <a:prstDash val="solid"/>
          </a:ln>
        </p:spPr>
      </p:sp>
      <p:pic>
        <p:nvPicPr>
          <p:cNvPr id="22" name="icon-81" descr="preencoded.png">    </p:cNvPr>
          <p:cNvPicPr>
            <a:picLocks noChangeAspect="1"/>
          </p:cNvPicPr>
          <p:nvPr/>
        </p:nvPicPr>
        <p:blipFill>
          <a:blip r:embed="rId4"/>
          <a:stretch>
            <a:fillRect/>
          </a:stretch>
        </p:blipFill>
        <p:spPr>
          <a:xfrm>
            <a:off x="4412894" y="4220870"/>
            <a:ext cx="190195" cy="190195"/>
          </a:xfrm>
          <a:prstGeom prst="rect">
            <a:avLst/>
          </a:prstGeom>
        </p:spPr>
      </p:pic>
      <p:sp>
        <p:nvSpPr>
          <p:cNvPr id="23" name="text-82"/>
          <p:cNvSpPr txBox="1"/>
          <p:nvPr/>
        </p:nvSpPr>
        <p:spPr>
          <a:xfrm>
            <a:off x="4800600" y="4133088"/>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Limitations</a:t>
            </a:r>
            <a:endParaRPr lang="en-US" sz="1500" dirty="0"/>
          </a:p>
        </p:txBody>
      </p:sp>
      <p:sp>
        <p:nvSpPr>
          <p:cNvPr id="24" name="text-83"/>
          <p:cNvSpPr txBox="1"/>
          <p:nvPr/>
        </p:nvSpPr>
        <p:spPr>
          <a:xfrm>
            <a:off x="4325112" y="4599432"/>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No study of learning with users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Abstract 2D cards, no story or world</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Feedback says what is allowed, not why</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Only bubble, selection, insertion</a:t>
            </a:r>
            <a:endParaRPr lang="en-US" sz="1300" dirty="0"/>
          </a:p>
        </p:txBody>
      </p:sp>
      <p:sp>
        <p:nvSpPr>
          <p:cNvPr id="25" name="text-84"/>
          <p:cNvSpPr txBox="1"/>
          <p:nvPr/>
        </p:nvSpPr>
        <p:spPr>
          <a:xfrm>
            <a:off x="7863840" y="1600200"/>
            <a:ext cx="374904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Arial" pitchFamily="34" charset="0"/>
                <a:ea typeface="Arial" pitchFamily="34" charset="-122"/>
                <a:cs typeface="Arial" pitchFamily="34" charset="-120"/>
              </a:rPr>
              <a:t>CARD STATES</a:t>
            </a:r>
            <a:endParaRPr lang="en-US" sz="1100" dirty="0"/>
          </a:p>
        </p:txBody>
      </p:sp>
      <p:sp>
        <p:nvSpPr>
          <p:cNvPr id="26" name="cardstate-85"/>
          <p:cNvSpPr txBox="1"/>
          <p:nvPr/>
        </p:nvSpPr>
        <p:spPr>
          <a:xfrm>
            <a:off x="7863840" y="1920240"/>
            <a:ext cx="731520" cy="960120"/>
          </a:xfrm>
          <a:prstGeom prst="roundRect">
            <a:avLst>
              <a:gd name="adj" fmla="val 10000"/>
            </a:avLst>
          </a:prstGeom>
          <a:solidFill>
            <a:srgbClr val="9AA7B4"/>
          </a:solidFill>
          <a:ln w="12700">
            <a:solidFill>
              <a:srgbClr val="9AA7B4"/>
            </a:solidFill>
          </a:ln>
        </p:spPr>
        <p:txBody>
          <a:bodyPr wrap="square" lIns="0" tIns="0" rIns="0" bIns="0" rtlCol="0" anchor="ctr"/>
          <a:lstStyle/>
          <a:p>
            <a:pPr algn="ctr" indent="0" marL="0">
              <a:buNone/>
            </a:pPr>
            <a:endParaRPr lang="en-US" sz="2400" dirty="0"/>
          </a:p>
        </p:txBody>
      </p:sp>
      <p:sp>
        <p:nvSpPr>
          <p:cNvPr id="27" name="text-86"/>
          <p:cNvSpPr txBox="1"/>
          <p:nvPr/>
        </p:nvSpPr>
        <p:spPr>
          <a:xfrm>
            <a:off x="7772400" y="2926080"/>
            <a:ext cx="914400" cy="256032"/>
          </a:xfrm>
          <a:prstGeom prst="rect">
            <a:avLst/>
          </a:prstGeom>
          <a:noFill/>
          <a:ln/>
        </p:spPr>
        <p:txBody>
          <a:bodyPr wrap="square" lIns="0" tIns="0" rIns="0" bIns="0" rtlCol="0" anchor="t"/>
          <a:lstStyle/>
          <a:p>
            <a:pPr algn="ctr" indent="0" marL="0">
              <a:buNone/>
            </a:pPr>
            <a:r>
              <a:rPr lang="en-US" sz="1100" dirty="0">
                <a:solidFill>
                  <a:schemeClr val="tx2"/>
                </a:solidFill>
                <a:latin typeface="Arial" pitchFamily="34" charset="0"/>
                <a:ea typeface="Arial" pitchFamily="34" charset="-122"/>
                <a:cs typeface="Arial" pitchFamily="34" charset="-120"/>
              </a:rPr>
              <a:t>closed</a:t>
            </a:r>
            <a:endParaRPr lang="en-US" sz="1100" dirty="0"/>
          </a:p>
        </p:txBody>
      </p:sp>
      <p:sp>
        <p:nvSpPr>
          <p:cNvPr id="28" name="cardstate-87"/>
          <p:cNvSpPr txBox="1"/>
          <p:nvPr/>
        </p:nvSpPr>
        <p:spPr>
          <a:xfrm>
            <a:off x="8805672" y="1920240"/>
            <a:ext cx="731520" cy="960120"/>
          </a:xfrm>
          <a:prstGeom prst="roundRect">
            <a:avLst>
              <a:gd name="adj" fmla="val 10000"/>
            </a:avLst>
          </a:prstGeom>
          <a:solidFill>
            <a:srgbClr val="FFFFFF"/>
          </a:solidFill>
          <a:ln w="12700">
            <a:solidFill>
              <a:srgbClr val="9AA7B4"/>
            </a:solidFill>
          </a:ln>
        </p:spPr>
        <p:txBody>
          <a:bodyPr wrap="square" lIns="0" tIns="0" rIns="0" bIns="0" rtlCol="0" anchor="ctr"/>
          <a:lstStyle/>
          <a:p>
            <a:pPr algn="ctr" indent="0" marL="0">
              <a:buNone/>
            </a:pPr>
            <a:r>
              <a:rPr lang="en-US" sz="2400" dirty="0">
                <a:solidFill>
                  <a:schemeClr val="tx1"/>
                </a:solidFill>
                <a:latin typeface="Arial" pitchFamily="34" charset="0"/>
                <a:ea typeface="Arial" pitchFamily="34" charset="-122"/>
                <a:cs typeface="Arial" pitchFamily="34" charset="-120"/>
              </a:rPr>
              <a:t>5</a:t>
            </a:r>
            <a:endParaRPr lang="en-US" sz="2400" dirty="0"/>
          </a:p>
        </p:txBody>
      </p:sp>
      <p:sp>
        <p:nvSpPr>
          <p:cNvPr id="29" name="text-88"/>
          <p:cNvSpPr txBox="1"/>
          <p:nvPr/>
        </p:nvSpPr>
        <p:spPr>
          <a:xfrm>
            <a:off x="8714232" y="2926080"/>
            <a:ext cx="914400" cy="256032"/>
          </a:xfrm>
          <a:prstGeom prst="rect">
            <a:avLst/>
          </a:prstGeom>
          <a:noFill/>
          <a:ln/>
        </p:spPr>
        <p:txBody>
          <a:bodyPr wrap="square" lIns="0" tIns="0" rIns="0" bIns="0" rtlCol="0" anchor="t"/>
          <a:lstStyle/>
          <a:p>
            <a:pPr algn="ctr" indent="0" marL="0">
              <a:buNone/>
            </a:pPr>
            <a:r>
              <a:rPr lang="en-US" sz="1100" dirty="0">
                <a:solidFill>
                  <a:schemeClr val="tx2"/>
                </a:solidFill>
                <a:latin typeface="Arial" pitchFamily="34" charset="0"/>
                <a:ea typeface="Arial" pitchFamily="34" charset="-122"/>
                <a:cs typeface="Arial" pitchFamily="34" charset="-120"/>
              </a:rPr>
              <a:t>open</a:t>
            </a:r>
            <a:endParaRPr lang="en-US" sz="1100" dirty="0"/>
          </a:p>
        </p:txBody>
      </p:sp>
      <p:sp>
        <p:nvSpPr>
          <p:cNvPr id="30" name="cardstate-89"/>
          <p:cNvSpPr txBox="1"/>
          <p:nvPr/>
        </p:nvSpPr>
        <p:spPr>
          <a:xfrm>
            <a:off x="9747504" y="1920240"/>
            <a:ext cx="731520" cy="960120"/>
          </a:xfrm>
          <a:prstGeom prst="roundRect">
            <a:avLst>
              <a:gd name="adj" fmla="val 10000"/>
            </a:avLst>
          </a:prstGeom>
          <a:solidFill>
            <a:srgbClr val="FFFFFF"/>
          </a:solidFill>
          <a:ln w="12700">
            <a:solidFill>
              <a:srgbClr val="9AA7B4"/>
            </a:solidFill>
          </a:ln>
        </p:spPr>
        <p:txBody>
          <a:bodyPr wrap="square" lIns="0" tIns="0" rIns="0" bIns="0" rtlCol="0" anchor="ctr"/>
          <a:lstStyle/>
          <a:p>
            <a:pPr algn="ctr" indent="0" marL="0">
              <a:buNone/>
            </a:pPr>
            <a:r>
              <a:rPr lang="en-US" sz="2400" dirty="0">
                <a:solidFill>
                  <a:schemeClr val="tx1"/>
                </a:solidFill>
                <a:latin typeface="Arial" pitchFamily="34" charset="0"/>
                <a:ea typeface="Arial" pitchFamily="34" charset="-122"/>
                <a:cs typeface="Arial" pitchFamily="34" charset="-120"/>
              </a:rPr>
              <a:t>2</a:t>
            </a:r>
            <a:endParaRPr lang="en-US" sz="2400" dirty="0"/>
          </a:p>
        </p:txBody>
      </p:sp>
      <p:sp>
        <p:nvSpPr>
          <p:cNvPr id="31" name="pin-90"/>
          <p:cNvSpPr/>
          <p:nvPr/>
        </p:nvSpPr>
        <p:spPr>
          <a:xfrm>
            <a:off x="10259568" y="1984248"/>
            <a:ext cx="146304" cy="146304"/>
          </a:xfrm>
          <a:prstGeom prst="ellipse">
            <a:avLst/>
          </a:prstGeom>
          <a:solidFill>
            <a:schemeClr val="accent4"/>
          </a:solidFill>
          <a:ln w="12700">
            <a:solidFill>
              <a:schemeClr val="accent4"/>
            </a:solidFill>
            <a:prstDash val="solid"/>
          </a:ln>
        </p:spPr>
      </p:sp>
      <p:sp>
        <p:nvSpPr>
          <p:cNvPr id="32" name="text-91"/>
          <p:cNvSpPr txBox="1"/>
          <p:nvPr/>
        </p:nvSpPr>
        <p:spPr>
          <a:xfrm>
            <a:off x="9656064" y="2926080"/>
            <a:ext cx="914400" cy="256032"/>
          </a:xfrm>
          <a:prstGeom prst="rect">
            <a:avLst/>
          </a:prstGeom>
          <a:noFill/>
          <a:ln/>
        </p:spPr>
        <p:txBody>
          <a:bodyPr wrap="square" lIns="0" tIns="0" rIns="0" bIns="0" rtlCol="0" anchor="t"/>
          <a:lstStyle/>
          <a:p>
            <a:pPr algn="ctr" indent="0" marL="0">
              <a:buNone/>
            </a:pPr>
            <a:r>
              <a:rPr lang="en-US" sz="1100" dirty="0">
                <a:solidFill>
                  <a:schemeClr val="tx2"/>
                </a:solidFill>
                <a:latin typeface="Arial" pitchFamily="34" charset="0"/>
                <a:ea typeface="Arial" pitchFamily="34" charset="-122"/>
                <a:cs typeface="Arial" pitchFamily="34" charset="-120"/>
              </a:rPr>
              <a:t>pinned</a:t>
            </a:r>
            <a:endParaRPr lang="en-US" sz="1100" dirty="0"/>
          </a:p>
        </p:txBody>
      </p:sp>
      <p:sp>
        <p:nvSpPr>
          <p:cNvPr id="33" name="cardstate-92"/>
          <p:cNvSpPr txBox="1"/>
          <p:nvPr/>
        </p:nvSpPr>
        <p:spPr>
          <a:xfrm>
            <a:off x="10689336" y="1920240"/>
            <a:ext cx="731520" cy="960120"/>
          </a:xfrm>
          <a:prstGeom prst="roundRect">
            <a:avLst>
              <a:gd name="adj" fmla="val 10000"/>
            </a:avLst>
          </a:prstGeom>
          <a:solidFill>
            <a:srgbClr val="2F9E6E"/>
          </a:solidFill>
          <a:ln w="12700">
            <a:solidFill>
              <a:srgbClr val="9AA7B4"/>
            </a:solidFill>
          </a:ln>
        </p:spPr>
        <p:txBody>
          <a:bodyPr wrap="square" lIns="0" tIns="0" rIns="0" bIns="0" rtlCol="0" anchor="ctr"/>
          <a:lstStyle/>
          <a:p>
            <a:pPr algn="ctr" indent="0" marL="0">
              <a:buNone/>
            </a:pPr>
            <a:endParaRPr lang="en-US" sz="2400" dirty="0"/>
          </a:p>
        </p:txBody>
      </p:sp>
      <p:sp>
        <p:nvSpPr>
          <p:cNvPr id="34" name="text-93"/>
          <p:cNvSpPr txBox="1"/>
          <p:nvPr/>
        </p:nvSpPr>
        <p:spPr>
          <a:xfrm>
            <a:off x="10597896" y="2926080"/>
            <a:ext cx="914400" cy="256032"/>
          </a:xfrm>
          <a:prstGeom prst="rect">
            <a:avLst/>
          </a:prstGeom>
          <a:noFill/>
          <a:ln/>
        </p:spPr>
        <p:txBody>
          <a:bodyPr wrap="square" lIns="0" tIns="0" rIns="0" bIns="0" rtlCol="0" anchor="t"/>
          <a:lstStyle/>
          <a:p>
            <a:pPr algn="ctr" indent="0" marL="0">
              <a:buNone/>
            </a:pPr>
            <a:r>
              <a:rPr lang="en-US" sz="1100" dirty="0">
                <a:solidFill>
                  <a:schemeClr val="tx2"/>
                </a:solidFill>
                <a:latin typeface="Arial" pitchFamily="34" charset="0"/>
                <a:ea typeface="Arial" pitchFamily="34" charset="-122"/>
                <a:cs typeface="Arial" pitchFamily="34" charset="-120"/>
              </a:rPr>
              <a:t>finalized</a:t>
            </a:r>
            <a:endParaRPr lang="en-US" sz="1100" dirty="0"/>
          </a:p>
        </p:txBody>
      </p:sp>
      <p:sp>
        <p:nvSpPr>
          <p:cNvPr id="35" name="text-94"/>
          <p:cNvSpPr txBox="1"/>
          <p:nvPr/>
        </p:nvSpPr>
        <p:spPr>
          <a:xfrm>
            <a:off x="7863840" y="3337560"/>
            <a:ext cx="3840480"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Arial" pitchFamily="34" charset="0"/>
                <a:ea typeface="Arial" pitchFamily="34" charset="-122"/>
                <a:cs typeface="Arial" pitchFamily="34" charset="-120"/>
              </a:rPr>
              <a:t>ACTION QUEUE · SELECTION SORT [3, 2, 1, 5, 4]</a:t>
            </a:r>
            <a:endParaRPr lang="en-US" sz="1100" dirty="0"/>
          </a:p>
        </p:txBody>
      </p:sp>
      <p:sp>
        <p:nvSpPr>
          <p:cNvPr id="36" name="queue-chip-95"/>
          <p:cNvSpPr/>
          <p:nvPr/>
        </p:nvSpPr>
        <p:spPr>
          <a:xfrm>
            <a:off x="7863840" y="3657600"/>
            <a:ext cx="2377440" cy="274320"/>
          </a:xfrm>
          <a:prstGeom prst="roundRect">
            <a:avLst>
              <a:gd name="adj" fmla="val 20000"/>
            </a:avLst>
          </a:prstGeom>
          <a:solidFill>
            <a:schemeClr val="accent4"/>
          </a:solidFill>
          <a:ln w="12700">
            <a:solidFill>
              <a:schemeClr val="accent4"/>
            </a:solidFill>
            <a:prstDash val="solid"/>
          </a:ln>
        </p:spPr>
      </p:sp>
      <p:sp>
        <p:nvSpPr>
          <p:cNvPr id="37" name="text-96"/>
          <p:cNvSpPr txBox="1"/>
          <p:nvPr/>
        </p:nvSpPr>
        <p:spPr>
          <a:xfrm>
            <a:off x="7973568" y="3657600"/>
            <a:ext cx="2194560" cy="27432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open([0,1])</a:t>
            </a:r>
            <a:endParaRPr lang="en-US" sz="1100" dirty="0"/>
          </a:p>
        </p:txBody>
      </p:sp>
      <p:sp>
        <p:nvSpPr>
          <p:cNvPr id="38" name="queue-chip-97"/>
          <p:cNvSpPr/>
          <p:nvPr/>
        </p:nvSpPr>
        <p:spPr>
          <a:xfrm>
            <a:off x="7863840" y="3995928"/>
            <a:ext cx="2377440" cy="274320"/>
          </a:xfrm>
          <a:prstGeom prst="roundRect">
            <a:avLst>
              <a:gd name="adj" fmla="val 20000"/>
            </a:avLst>
          </a:prstGeom>
          <a:solidFill>
            <a:schemeClr val="bg2"/>
          </a:solidFill>
          <a:ln w="12700">
            <a:solidFill>
              <a:schemeClr val="bg2"/>
            </a:solidFill>
            <a:prstDash val="solid"/>
          </a:ln>
        </p:spPr>
      </p:sp>
      <p:sp>
        <p:nvSpPr>
          <p:cNvPr id="39" name="text-98"/>
          <p:cNvSpPr txBox="1"/>
          <p:nvPr/>
        </p:nvSpPr>
        <p:spPr>
          <a:xfrm>
            <a:off x="7973568" y="3995928"/>
            <a:ext cx="2194560" cy="2743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pin(1)</a:t>
            </a:r>
            <a:endParaRPr lang="en-US" sz="1100" dirty="0"/>
          </a:p>
        </p:txBody>
      </p:sp>
      <p:sp>
        <p:nvSpPr>
          <p:cNvPr id="40" name="queue-chip-99"/>
          <p:cNvSpPr/>
          <p:nvPr/>
        </p:nvSpPr>
        <p:spPr>
          <a:xfrm>
            <a:off x="7863840" y="4334256"/>
            <a:ext cx="2377440" cy="274320"/>
          </a:xfrm>
          <a:prstGeom prst="roundRect">
            <a:avLst>
              <a:gd name="adj" fmla="val 20000"/>
            </a:avLst>
          </a:prstGeom>
          <a:solidFill>
            <a:schemeClr val="bg2"/>
          </a:solidFill>
          <a:ln w="12700">
            <a:solidFill>
              <a:schemeClr val="bg2"/>
            </a:solidFill>
            <a:prstDash val="solid"/>
          </a:ln>
        </p:spPr>
      </p:sp>
      <p:sp>
        <p:nvSpPr>
          <p:cNvPr id="41" name="text-100"/>
          <p:cNvSpPr txBox="1"/>
          <p:nvPr/>
        </p:nvSpPr>
        <p:spPr>
          <a:xfrm>
            <a:off x="7973568" y="4334256"/>
            <a:ext cx="2194560" cy="2743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open([2])</a:t>
            </a:r>
            <a:endParaRPr lang="en-US" sz="1100" dirty="0"/>
          </a:p>
        </p:txBody>
      </p:sp>
      <p:sp>
        <p:nvSpPr>
          <p:cNvPr id="42" name="queue-chip-101"/>
          <p:cNvSpPr/>
          <p:nvPr/>
        </p:nvSpPr>
        <p:spPr>
          <a:xfrm>
            <a:off x="7863840" y="4672584"/>
            <a:ext cx="2377440" cy="274320"/>
          </a:xfrm>
          <a:prstGeom prst="roundRect">
            <a:avLst>
              <a:gd name="adj" fmla="val 20000"/>
            </a:avLst>
          </a:prstGeom>
          <a:solidFill>
            <a:schemeClr val="bg2"/>
          </a:solidFill>
          <a:ln w="12700">
            <a:solidFill>
              <a:schemeClr val="bg2"/>
            </a:solidFill>
            <a:prstDash val="solid"/>
          </a:ln>
        </p:spPr>
      </p:sp>
      <p:sp>
        <p:nvSpPr>
          <p:cNvPr id="43" name="text-102"/>
          <p:cNvSpPr txBox="1"/>
          <p:nvPr/>
        </p:nvSpPr>
        <p:spPr>
          <a:xfrm>
            <a:off x="7973568" y="4672584"/>
            <a:ext cx="2194560" cy="2743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pin(2)</a:t>
            </a:r>
            <a:endParaRPr lang="en-US" sz="1100" dirty="0"/>
          </a:p>
        </p:txBody>
      </p:sp>
      <p:sp>
        <p:nvSpPr>
          <p:cNvPr id="44" name="queue-chip-103"/>
          <p:cNvSpPr/>
          <p:nvPr/>
        </p:nvSpPr>
        <p:spPr>
          <a:xfrm>
            <a:off x="7863840" y="5010912"/>
            <a:ext cx="2377440" cy="274320"/>
          </a:xfrm>
          <a:prstGeom prst="roundRect">
            <a:avLst>
              <a:gd name="adj" fmla="val 20000"/>
            </a:avLst>
          </a:prstGeom>
          <a:solidFill>
            <a:schemeClr val="bg2"/>
          </a:solidFill>
          <a:ln w="12700">
            <a:solidFill>
              <a:schemeClr val="bg2"/>
            </a:solidFill>
            <a:prstDash val="solid"/>
          </a:ln>
        </p:spPr>
      </p:sp>
      <p:sp>
        <p:nvSpPr>
          <p:cNvPr id="45" name="text-104"/>
          <p:cNvSpPr txBox="1"/>
          <p:nvPr/>
        </p:nvSpPr>
        <p:spPr>
          <a:xfrm>
            <a:off x="7973568" y="5010912"/>
            <a:ext cx="2194560" cy="2743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open([3]) · open([4])</a:t>
            </a:r>
            <a:endParaRPr lang="en-US" sz="1100" dirty="0"/>
          </a:p>
        </p:txBody>
      </p:sp>
      <p:sp>
        <p:nvSpPr>
          <p:cNvPr id="46" name="queue-chip-105"/>
          <p:cNvSpPr/>
          <p:nvPr/>
        </p:nvSpPr>
        <p:spPr>
          <a:xfrm>
            <a:off x="7863840" y="5349240"/>
            <a:ext cx="2377440" cy="274320"/>
          </a:xfrm>
          <a:prstGeom prst="roundRect">
            <a:avLst>
              <a:gd name="adj" fmla="val 20000"/>
            </a:avLst>
          </a:prstGeom>
          <a:solidFill>
            <a:schemeClr val="bg2"/>
          </a:solidFill>
          <a:ln w="12700">
            <a:solidFill>
              <a:schemeClr val="bg2"/>
            </a:solidFill>
            <a:prstDash val="solid"/>
          </a:ln>
        </p:spPr>
      </p:sp>
      <p:sp>
        <p:nvSpPr>
          <p:cNvPr id="47" name="text-106"/>
          <p:cNvSpPr txBox="1"/>
          <p:nvPr/>
        </p:nvSpPr>
        <p:spPr>
          <a:xfrm>
            <a:off x="7973568" y="5349240"/>
            <a:ext cx="2194560" cy="2743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open([0]) → swap(0,2)</a:t>
            </a:r>
            <a:endParaRPr lang="en-US" sz="1100" dirty="0"/>
          </a:p>
        </p:txBody>
      </p:sp>
      <p:sp>
        <p:nvSpPr>
          <p:cNvPr id="48" name="queue-chip-107"/>
          <p:cNvSpPr/>
          <p:nvPr/>
        </p:nvSpPr>
        <p:spPr>
          <a:xfrm>
            <a:off x="7863840" y="5687568"/>
            <a:ext cx="2377440" cy="274320"/>
          </a:xfrm>
          <a:prstGeom prst="roundRect">
            <a:avLst>
              <a:gd name="adj" fmla="val 20000"/>
            </a:avLst>
          </a:prstGeom>
          <a:solidFill>
            <a:schemeClr val="bg2"/>
          </a:solidFill>
          <a:ln w="12700">
            <a:solidFill>
              <a:schemeClr val="bg2"/>
            </a:solidFill>
            <a:prstDash val="solid"/>
          </a:ln>
        </p:spPr>
      </p:sp>
      <p:sp>
        <p:nvSpPr>
          <p:cNvPr id="49" name="text-108"/>
          <p:cNvSpPr txBox="1"/>
          <p:nvPr/>
        </p:nvSpPr>
        <p:spPr>
          <a:xfrm>
            <a:off x="7973568" y="5687568"/>
            <a:ext cx="2194560" cy="27432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finalize(0)</a:t>
            </a:r>
            <a:endParaRPr lang="en-US" sz="1100" dirty="0"/>
          </a:p>
        </p:txBody>
      </p:sp>
      <p:sp>
        <p:nvSpPr>
          <p:cNvPr id="50" name="text-109"/>
          <p:cNvSpPr txBox="1"/>
          <p:nvPr/>
        </p:nvSpPr>
        <p:spPr>
          <a:xfrm>
            <a:off x="10378440" y="3639312"/>
            <a:ext cx="1280160" cy="822960"/>
          </a:xfrm>
          <a:prstGeom prst="rect">
            <a:avLst/>
          </a:prstGeom>
          <a:noFill/>
          <a:ln/>
        </p:spPr>
        <p:txBody>
          <a:bodyPr wrap="square" lIns="0" tIns="0" rIns="0" bIns="0" rtlCol="0" anchor="t"/>
          <a:lstStyle/>
          <a:p>
            <a:pPr indent="0" marL="0">
              <a:buNone/>
            </a:pPr>
            <a:r>
              <a:rPr lang="en-US" sz="1100" dirty="0">
                <a:solidFill>
                  <a:schemeClr val="accent4"/>
                </a:solidFill>
                <a:latin typeface="Arial" pitchFamily="34" charset="0"/>
                <a:ea typeface="Arial" pitchFamily="34" charset="-122"/>
                <a:cs typeface="Arial" pitchFamily="34" charset="-120"/>
              </a:rPr>
              <a:t>next expected move; any other move = mistake + alert</a:t>
            </a:r>
            <a:endParaRPr lang="en-US" sz="1100" dirty="0"/>
          </a:p>
        </p:txBody>
      </p:sp>
      <p:sp>
        <p:nvSpPr>
          <p:cNvPr id="51" name="text-110"/>
          <p:cNvSpPr txBox="1"/>
          <p:nvPr/>
        </p:nvSpPr>
        <p:spPr>
          <a:xfrm>
            <a:off x="7863840" y="6053328"/>
            <a:ext cx="3749040" cy="228600"/>
          </a:xfrm>
          <a:prstGeom prst="rect">
            <a:avLst/>
          </a:prstGeom>
          <a:noFill/>
          <a:ln/>
        </p:spPr>
        <p:txBody>
          <a:bodyPr wrap="square" lIns="0" tIns="0" rIns="0" bIns="0" rtlCol="0" anchor="t"/>
          <a:lstStyle/>
          <a:p>
            <a:pPr indent="0" marL="0">
              <a:buNone/>
            </a:pPr>
            <a:r>
              <a:rPr lang="en-US" sz="1000" i="1" dirty="0">
                <a:solidFill>
                  <a:schemeClr val="tx2"/>
                </a:solidFill>
                <a:latin typeface="Arial" pitchFamily="34" charset="0"/>
                <a:ea typeface="Arial" pitchFamily="34" charset="-122"/>
                <a:cs typeface="Arial" pitchFamily="34" charset="-120"/>
              </a:rPr>
              <a:t>Redrawn from Schöller (2025), Figs. 7, 14 and §3.4</a:t>
            </a:r>
            <a:endParaRPr lang="en-US" sz="10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STATE OF THE ART · PAPER 2 OF 3</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Mukasheva et al. (2023): sorting cubes by hand in VR</a:t>
            </a:r>
            <a:endParaRPr lang="en-US" sz="2800" dirty="0"/>
          </a:p>
        </p:txBody>
      </p:sp>
      <p:sp>
        <p:nvSpPr>
          <p:cNvPr id="4" name="text-111"/>
          <p:cNvSpPr txBox="1"/>
          <p:nvPr/>
        </p:nvSpPr>
        <p:spPr>
          <a:xfrm>
            <a:off x="1298448" y="1207008"/>
            <a:ext cx="10332720" cy="274320"/>
          </a:xfrm>
          <a:prstGeom prst="rect">
            <a:avLst/>
          </a:prstGeom>
          <a:noFill/>
          <a:ln/>
        </p:spPr>
        <p:txBody>
          <a:bodyPr wrap="square" lIns="0" tIns="0" rIns="0" bIns="0" rtlCol="0" anchor="t"/>
          <a:lstStyle/>
          <a:p>
            <a:pPr indent="0" marL="0">
              <a:buNone/>
            </a:pPr>
            <a:r>
              <a:rPr lang="en-US" sz="1200" i="1" dirty="0">
                <a:solidFill>
                  <a:schemeClr val="tx2"/>
                </a:solidFill>
                <a:latin typeface="Arial" pitchFamily="34" charset="0"/>
                <a:ea typeface="Arial" pitchFamily="34" charset="-122"/>
                <a:cs typeface="Arial" pitchFamily="34" charset="-120"/>
              </a:rPr>
              <a:t>Frontiers in Education 8:1195200 · Unity + Oculus Quest 2 · 150 undergraduates, Kazakhstan</a:t>
            </a:r>
            <a:endParaRPr lang="en-US" sz="1200" dirty="0"/>
          </a:p>
        </p:txBody>
      </p:sp>
      <p:sp>
        <p:nvSpPr>
          <p:cNvPr id="5" name="card-112"/>
          <p:cNvSpPr/>
          <p:nvPr/>
        </p:nvSpPr>
        <p:spPr>
          <a:xfrm>
            <a:off x="548640" y="1572768"/>
            <a:ext cx="3383280" cy="2240280"/>
          </a:xfrm>
          <a:prstGeom prst="roundRect">
            <a:avLst>
              <a:gd name="adj" fmla="val 4082"/>
            </a:avLst>
          </a:prstGeom>
          <a:solidFill>
            <a:schemeClr val="bg2"/>
          </a:solidFill>
          <a:ln w="12700">
            <a:solidFill>
              <a:schemeClr val="bg2"/>
            </a:solidFill>
            <a:prstDash val="solid"/>
          </a:ln>
        </p:spPr>
      </p:sp>
      <p:sp>
        <p:nvSpPr>
          <p:cNvPr id="6" name="icon-bg-113"/>
          <p:cNvSpPr/>
          <p:nvPr/>
        </p:nvSpPr>
        <p:spPr>
          <a:xfrm>
            <a:off x="713232" y="1728216"/>
            <a:ext cx="365760" cy="365760"/>
          </a:xfrm>
          <a:prstGeom prst="ellipse">
            <a:avLst/>
          </a:prstGeom>
          <a:solidFill>
            <a:schemeClr val="accent5"/>
          </a:solidFill>
          <a:ln w="12700">
            <a:solidFill>
              <a:schemeClr val="accent5"/>
            </a:solidFill>
            <a:prstDash val="solid"/>
          </a:ln>
        </p:spPr>
      </p:sp>
      <p:pic>
        <p:nvPicPr>
          <p:cNvPr id="7" name="icon-114" descr="preencoded.png">    </p:cNvPr>
          <p:cNvPicPr>
            <a:picLocks noChangeAspect="1"/>
          </p:cNvPicPr>
          <p:nvPr/>
        </p:nvPicPr>
        <p:blipFill>
          <a:blip r:embed="rId1"/>
          <a:stretch>
            <a:fillRect/>
          </a:stretch>
        </p:blipFill>
        <p:spPr>
          <a:xfrm>
            <a:off x="801014" y="1815998"/>
            <a:ext cx="190195" cy="190195"/>
          </a:xfrm>
          <a:prstGeom prst="rect">
            <a:avLst/>
          </a:prstGeom>
        </p:spPr>
      </p:pic>
      <p:sp>
        <p:nvSpPr>
          <p:cNvPr id="8" name="text-115"/>
          <p:cNvSpPr txBox="1"/>
          <p:nvPr/>
        </p:nvSpPr>
        <p:spPr>
          <a:xfrm>
            <a:off x="1188720" y="1728216"/>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Problem</a:t>
            </a:r>
            <a:endParaRPr lang="en-US" sz="1500" dirty="0"/>
          </a:p>
        </p:txBody>
      </p:sp>
      <p:sp>
        <p:nvSpPr>
          <p:cNvPr id="9" name="text-116"/>
          <p:cNvSpPr txBox="1"/>
          <p:nvPr/>
        </p:nvSpPr>
        <p:spPr>
          <a:xfrm>
            <a:off x="713232" y="2194560"/>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Abstract steps and several actions on unordered data at once make bubble and selection sort hard</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Teaching relies on paper traces, slides, videos</a:t>
            </a:r>
            <a:endParaRPr lang="en-US" sz="1300" dirty="0"/>
          </a:p>
        </p:txBody>
      </p:sp>
      <p:sp>
        <p:nvSpPr>
          <p:cNvPr id="10" name="card-117"/>
          <p:cNvSpPr/>
          <p:nvPr/>
        </p:nvSpPr>
        <p:spPr>
          <a:xfrm>
            <a:off x="4160520" y="1572768"/>
            <a:ext cx="3383280" cy="2240280"/>
          </a:xfrm>
          <a:prstGeom prst="roundRect">
            <a:avLst>
              <a:gd name="adj" fmla="val 4082"/>
            </a:avLst>
          </a:prstGeom>
          <a:solidFill>
            <a:schemeClr val="bg2"/>
          </a:solidFill>
          <a:ln w="12700">
            <a:solidFill>
              <a:schemeClr val="bg2"/>
            </a:solidFill>
            <a:prstDash val="solid"/>
          </a:ln>
        </p:spPr>
      </p:sp>
      <p:sp>
        <p:nvSpPr>
          <p:cNvPr id="11" name="icon-bg-118"/>
          <p:cNvSpPr/>
          <p:nvPr/>
        </p:nvSpPr>
        <p:spPr>
          <a:xfrm>
            <a:off x="4325112" y="1728216"/>
            <a:ext cx="365760" cy="365760"/>
          </a:xfrm>
          <a:prstGeom prst="ellipse">
            <a:avLst/>
          </a:prstGeom>
          <a:solidFill>
            <a:schemeClr val="accent5"/>
          </a:solidFill>
          <a:ln w="12700">
            <a:solidFill>
              <a:schemeClr val="accent5"/>
            </a:solidFill>
            <a:prstDash val="solid"/>
          </a:ln>
        </p:spPr>
      </p:sp>
      <p:pic>
        <p:nvPicPr>
          <p:cNvPr id="12" name="icon-119" descr="preencoded.png">    </p:cNvPr>
          <p:cNvPicPr>
            <a:picLocks noChangeAspect="1"/>
          </p:cNvPicPr>
          <p:nvPr/>
        </p:nvPicPr>
        <p:blipFill>
          <a:blip r:embed="rId2"/>
          <a:stretch>
            <a:fillRect/>
          </a:stretch>
        </p:blipFill>
        <p:spPr>
          <a:xfrm>
            <a:off x="4412894" y="1815998"/>
            <a:ext cx="190195" cy="190195"/>
          </a:xfrm>
          <a:prstGeom prst="rect">
            <a:avLst/>
          </a:prstGeom>
        </p:spPr>
      </p:pic>
      <p:sp>
        <p:nvSpPr>
          <p:cNvPr id="13" name="text-120"/>
          <p:cNvSpPr txBox="1"/>
          <p:nvPr/>
        </p:nvSpPr>
        <p:spPr>
          <a:xfrm>
            <a:off x="4800600" y="1728216"/>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Approach</a:t>
            </a:r>
            <a:endParaRPr lang="en-US" sz="1500" dirty="0"/>
          </a:p>
        </p:txBody>
      </p:sp>
      <p:sp>
        <p:nvSpPr>
          <p:cNvPr id="14" name="text-121"/>
          <p:cNvSpPr txBox="1"/>
          <p:nvPr/>
        </p:nvSpPr>
        <p:spPr>
          <a:xfrm>
            <a:off x="4325112" y="2194560"/>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'VR sorting': grab numbered cubes with virtual hands and swap them (10-element array)</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Each step shown on a VR board; an error restarts the sort</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78 VR vs 72 slides + flowcharts; 5 tasks, 7-point scoring</a:t>
            </a:r>
            <a:endParaRPr lang="en-US" sz="1300" dirty="0"/>
          </a:p>
        </p:txBody>
      </p:sp>
      <p:sp>
        <p:nvSpPr>
          <p:cNvPr id="15" name="card-122"/>
          <p:cNvSpPr/>
          <p:nvPr/>
        </p:nvSpPr>
        <p:spPr>
          <a:xfrm>
            <a:off x="548640" y="3977640"/>
            <a:ext cx="3383280" cy="2240280"/>
          </a:xfrm>
          <a:prstGeom prst="roundRect">
            <a:avLst>
              <a:gd name="adj" fmla="val 4082"/>
            </a:avLst>
          </a:prstGeom>
          <a:solidFill>
            <a:schemeClr val="bg2"/>
          </a:solidFill>
          <a:ln w="12700">
            <a:solidFill>
              <a:schemeClr val="bg2"/>
            </a:solidFill>
            <a:prstDash val="solid"/>
          </a:ln>
        </p:spPr>
      </p:sp>
      <p:sp>
        <p:nvSpPr>
          <p:cNvPr id="16" name="icon-bg-123"/>
          <p:cNvSpPr/>
          <p:nvPr/>
        </p:nvSpPr>
        <p:spPr>
          <a:xfrm>
            <a:off x="713232" y="4133088"/>
            <a:ext cx="365760" cy="365760"/>
          </a:xfrm>
          <a:prstGeom prst="ellipse">
            <a:avLst/>
          </a:prstGeom>
          <a:solidFill>
            <a:schemeClr val="accent5"/>
          </a:solidFill>
          <a:ln w="12700">
            <a:solidFill>
              <a:schemeClr val="accent5"/>
            </a:solidFill>
            <a:prstDash val="solid"/>
          </a:ln>
        </p:spPr>
      </p:sp>
      <p:pic>
        <p:nvPicPr>
          <p:cNvPr id="17" name="icon-124" descr="preencoded.png">    </p:cNvPr>
          <p:cNvPicPr>
            <a:picLocks noChangeAspect="1"/>
          </p:cNvPicPr>
          <p:nvPr/>
        </p:nvPicPr>
        <p:blipFill>
          <a:blip r:embed="rId3"/>
          <a:stretch>
            <a:fillRect/>
          </a:stretch>
        </p:blipFill>
        <p:spPr>
          <a:xfrm>
            <a:off x="801014" y="4220870"/>
            <a:ext cx="190195" cy="190195"/>
          </a:xfrm>
          <a:prstGeom prst="rect">
            <a:avLst/>
          </a:prstGeom>
        </p:spPr>
      </p:pic>
      <p:sp>
        <p:nvSpPr>
          <p:cNvPr id="18" name="text-125"/>
          <p:cNvSpPr txBox="1"/>
          <p:nvPr/>
        </p:nvSpPr>
        <p:spPr>
          <a:xfrm>
            <a:off x="1188720" y="4133088"/>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Key contribution</a:t>
            </a:r>
            <a:endParaRPr lang="en-US" sz="1500" dirty="0"/>
          </a:p>
        </p:txBody>
      </p:sp>
      <p:sp>
        <p:nvSpPr>
          <p:cNvPr id="19" name="text-126"/>
          <p:cNvSpPr txBox="1"/>
          <p:nvPr/>
        </p:nvSpPr>
        <p:spPr>
          <a:xfrm>
            <a:off x="713232" y="4599432"/>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Every task favoured the VR group (χ², p ≤ 0.024)</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Frames VR as 'constructive visualisation': static → dynamic → constructive</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Extended taxonomy: implementation, adaptability, integrity</a:t>
            </a:r>
            <a:endParaRPr lang="en-US" sz="1300" dirty="0"/>
          </a:p>
        </p:txBody>
      </p:sp>
      <p:sp>
        <p:nvSpPr>
          <p:cNvPr id="20" name="card-127"/>
          <p:cNvSpPr/>
          <p:nvPr/>
        </p:nvSpPr>
        <p:spPr>
          <a:xfrm>
            <a:off x="4160520" y="3977640"/>
            <a:ext cx="3383280" cy="2240280"/>
          </a:xfrm>
          <a:prstGeom prst="roundRect">
            <a:avLst>
              <a:gd name="adj" fmla="val 4082"/>
            </a:avLst>
          </a:prstGeom>
          <a:solidFill>
            <a:schemeClr val="bg2"/>
          </a:solidFill>
          <a:ln w="12700">
            <a:solidFill>
              <a:schemeClr val="bg2"/>
            </a:solidFill>
            <a:prstDash val="solid"/>
          </a:ln>
        </p:spPr>
      </p:sp>
      <p:sp>
        <p:nvSpPr>
          <p:cNvPr id="21" name="icon-bg-128"/>
          <p:cNvSpPr/>
          <p:nvPr/>
        </p:nvSpPr>
        <p:spPr>
          <a:xfrm>
            <a:off x="4325112" y="4133088"/>
            <a:ext cx="365760" cy="365760"/>
          </a:xfrm>
          <a:prstGeom prst="ellipse">
            <a:avLst/>
          </a:prstGeom>
          <a:solidFill>
            <a:schemeClr val="tx1"/>
          </a:solidFill>
          <a:ln w="12700">
            <a:solidFill>
              <a:schemeClr val="tx1"/>
            </a:solidFill>
            <a:prstDash val="solid"/>
          </a:ln>
        </p:spPr>
      </p:sp>
      <p:pic>
        <p:nvPicPr>
          <p:cNvPr id="22" name="icon-129" descr="preencoded.png">    </p:cNvPr>
          <p:cNvPicPr>
            <a:picLocks noChangeAspect="1"/>
          </p:cNvPicPr>
          <p:nvPr/>
        </p:nvPicPr>
        <p:blipFill>
          <a:blip r:embed="rId4"/>
          <a:stretch>
            <a:fillRect/>
          </a:stretch>
        </p:blipFill>
        <p:spPr>
          <a:xfrm>
            <a:off x="4412894" y="4220870"/>
            <a:ext cx="190195" cy="190195"/>
          </a:xfrm>
          <a:prstGeom prst="rect">
            <a:avLst/>
          </a:prstGeom>
        </p:spPr>
      </p:pic>
      <p:sp>
        <p:nvSpPr>
          <p:cNvPr id="23" name="text-130"/>
          <p:cNvSpPr txBox="1"/>
          <p:nvPr/>
        </p:nvSpPr>
        <p:spPr>
          <a:xfrm>
            <a:off x="4800600" y="4133088"/>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Limitations</a:t>
            </a:r>
            <a:endParaRPr lang="en-US" sz="1500" dirty="0"/>
          </a:p>
        </p:txBody>
      </p:sp>
      <p:sp>
        <p:nvSpPr>
          <p:cNvPr id="24" name="text-131"/>
          <p:cNvSpPr txBox="1"/>
          <p:nvPr/>
        </p:nvSpPr>
        <p:spPr>
          <a:xfrm>
            <a:off x="4325112" y="4599432"/>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One university; no delayed test</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Needs a headset per learner</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Only 2 algorithms; no story, score or rewards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Transfer tasks 4–5 stayed low (≤ 33% high)</a:t>
            </a:r>
            <a:endParaRPr lang="en-US" sz="1300" dirty="0"/>
          </a:p>
        </p:txBody>
      </p:sp>
      <p:pic>
        <p:nvPicPr>
          <p:cNvPr id="25" name="chart-132" descr="/tmp/claude-0/-home-claude/8b672690-7cd0-5d59-9493-8eaa2a9a5a93/scratchpad/deck/charts/mukasheva_high.png">    </p:cNvPr>
          <p:cNvPicPr>
            <a:picLocks noChangeAspect="1"/>
          </p:cNvPicPr>
          <p:nvPr/>
        </p:nvPicPr>
        <p:blipFill>
          <a:blip r:embed="rId5"/>
          <a:stretch>
            <a:fillRect/>
          </a:stretch>
        </p:blipFill>
        <p:spPr>
          <a:xfrm>
            <a:off x="7772400" y="1691640"/>
            <a:ext cx="3886200" cy="2185988"/>
          </a:xfrm>
          <a:prstGeom prst="rect">
            <a:avLst/>
          </a:prstGeom>
        </p:spPr>
      </p:pic>
      <p:sp>
        <p:nvSpPr>
          <p:cNvPr id="26" name="text-133"/>
          <p:cNvSpPr txBox="1"/>
          <p:nvPr/>
        </p:nvSpPr>
        <p:spPr>
          <a:xfrm>
            <a:off x="7863840" y="4069080"/>
            <a:ext cx="1828800" cy="502920"/>
          </a:xfrm>
          <a:prstGeom prst="rect">
            <a:avLst/>
          </a:prstGeom>
          <a:noFill/>
          <a:ln/>
        </p:spPr>
        <p:txBody>
          <a:bodyPr wrap="square" lIns="0" tIns="0" rIns="0" bIns="0" rtlCol="0" anchor="ctr"/>
          <a:lstStyle/>
          <a:p>
            <a:pPr indent="0" marL="0">
              <a:buNone/>
            </a:pPr>
            <a:r>
              <a:rPr lang="en-US" sz="2800" b="1" dirty="0">
                <a:solidFill>
                  <a:schemeClr val="accent5"/>
                </a:solidFill>
                <a:latin typeface="Arial" pitchFamily="34" charset="0"/>
                <a:ea typeface="Arial" pitchFamily="34" charset="-122"/>
                <a:cs typeface="Arial" pitchFamily="34" charset="-120"/>
              </a:rPr>
              <a:t>+28.2 pts</a:t>
            </a:r>
            <a:endParaRPr lang="en-US" sz="2800" dirty="0"/>
          </a:p>
        </p:txBody>
      </p:sp>
      <p:sp>
        <p:nvSpPr>
          <p:cNvPr id="27" name="text-134"/>
          <p:cNvSpPr txBox="1"/>
          <p:nvPr/>
        </p:nvSpPr>
        <p:spPr>
          <a:xfrm>
            <a:off x="7863840" y="4572000"/>
            <a:ext cx="1828800" cy="45720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gap on Task 1 (76.9% vs 48.7%)</a:t>
            </a:r>
            <a:endParaRPr lang="en-US" sz="1100" dirty="0"/>
          </a:p>
        </p:txBody>
      </p:sp>
      <p:sp>
        <p:nvSpPr>
          <p:cNvPr id="28" name="text-135"/>
          <p:cNvSpPr txBox="1"/>
          <p:nvPr/>
        </p:nvSpPr>
        <p:spPr>
          <a:xfrm>
            <a:off x="9829800" y="4069080"/>
            <a:ext cx="1828800" cy="502920"/>
          </a:xfrm>
          <a:prstGeom prst="rect">
            <a:avLst/>
          </a:prstGeom>
          <a:noFill/>
          <a:ln/>
        </p:spPr>
        <p:txBody>
          <a:bodyPr wrap="square" lIns="0" tIns="0" rIns="0" bIns="0" rtlCol="0" anchor="ctr"/>
          <a:lstStyle/>
          <a:p>
            <a:pPr indent="0" marL="0">
              <a:buNone/>
            </a:pPr>
            <a:r>
              <a:rPr lang="en-US" sz="2800" b="1" dirty="0">
                <a:solidFill>
                  <a:schemeClr val="accent5"/>
                </a:solidFill>
                <a:latin typeface="Arial" pitchFamily="34" charset="0"/>
                <a:ea typeface="Arial" pitchFamily="34" charset="-122"/>
                <a:cs typeface="Arial" pitchFamily="34" charset="-120"/>
              </a:rPr>
              <a:t>α = 0.816</a:t>
            </a:r>
            <a:endParaRPr lang="en-US" sz="2800" dirty="0"/>
          </a:p>
        </p:txBody>
      </p:sp>
      <p:sp>
        <p:nvSpPr>
          <p:cNvPr id="29" name="text-136"/>
          <p:cNvSpPr txBox="1"/>
          <p:nvPr/>
        </p:nvSpPr>
        <p:spPr>
          <a:xfrm>
            <a:off x="9829800" y="4572000"/>
            <a:ext cx="1828800" cy="45720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reliability of the 5 tasks (Cronbach)</a:t>
            </a:r>
            <a:endParaRPr lang="en-US" sz="1100" dirty="0"/>
          </a:p>
        </p:txBody>
      </p:sp>
      <p:sp>
        <p:nvSpPr>
          <p:cNvPr id="30" name="text-137"/>
          <p:cNvSpPr txBox="1"/>
          <p:nvPr/>
        </p:nvSpPr>
        <p:spPr>
          <a:xfrm>
            <a:off x="7863840" y="5166360"/>
            <a:ext cx="3749040" cy="54864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Mean scores were higher for VR on all five tasks — e.g. Task 2: 5.12 vs 3.35 out of 7.</a:t>
            </a:r>
            <a:endParaRPr lang="en-US" sz="1200" dirty="0"/>
          </a:p>
        </p:txBody>
      </p:sp>
      <p:sp>
        <p:nvSpPr>
          <p:cNvPr id="31" name="text-138"/>
          <p:cNvSpPr txBox="1"/>
          <p:nvPr/>
        </p:nvSpPr>
        <p:spPr>
          <a:xfrm>
            <a:off x="7863840" y="6053328"/>
            <a:ext cx="3749040" cy="228600"/>
          </a:xfrm>
          <a:prstGeom prst="rect">
            <a:avLst/>
          </a:prstGeom>
          <a:noFill/>
          <a:ln/>
        </p:spPr>
        <p:txBody>
          <a:bodyPr wrap="square" lIns="0" tIns="0" rIns="0" bIns="0" rtlCol="0" anchor="t"/>
          <a:lstStyle/>
          <a:p>
            <a:pPr indent="0" marL="0">
              <a:buNone/>
            </a:pPr>
            <a:r>
              <a:rPr lang="en-US" sz="1000" i="1" dirty="0">
                <a:solidFill>
                  <a:schemeClr val="tx2"/>
                </a:solidFill>
                <a:latin typeface="Arial" pitchFamily="34" charset="0"/>
                <a:ea typeface="Arial" pitchFamily="34" charset="-122"/>
                <a:cs typeface="Arial" pitchFamily="34" charset="-120"/>
              </a:rPr>
              <a:t>Chart redrawn from Mukasheva et al. (2023), Table 5</a:t>
            </a:r>
            <a:endParaRPr lang="en-US" sz="10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STATE OF THE ART · PAPER 3 OF 3</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Sidorov &amp; Cherkasova (2026): story levels from theory</a:t>
            </a:r>
            <a:endParaRPr lang="en-US" sz="2800" dirty="0"/>
          </a:p>
        </p:txBody>
      </p:sp>
      <p:sp>
        <p:nvSpPr>
          <p:cNvPr id="4" name="text-139"/>
          <p:cNvSpPr txBox="1"/>
          <p:nvPr/>
        </p:nvSpPr>
        <p:spPr>
          <a:xfrm>
            <a:off x="1298448" y="1207008"/>
            <a:ext cx="10332720" cy="274320"/>
          </a:xfrm>
          <a:prstGeom prst="rect">
            <a:avLst/>
          </a:prstGeom>
          <a:noFill/>
          <a:ln/>
        </p:spPr>
        <p:txBody>
          <a:bodyPr wrap="square" lIns="0" tIns="0" rIns="0" bIns="0" rtlCol="0" anchor="t"/>
          <a:lstStyle/>
          <a:p>
            <a:pPr indent="0" marL="0">
              <a:buNone/>
            </a:pPr>
            <a:r>
              <a:rPr lang="en-US" sz="1200" i="1" dirty="0">
                <a:solidFill>
                  <a:schemeClr val="tx2"/>
                </a:solidFill>
                <a:latin typeface="Arial" pitchFamily="34" charset="0"/>
                <a:ea typeface="Arial" pitchFamily="34" charset="-122"/>
                <a:cs typeface="Arial" pitchFamily="34" charset="-120"/>
              </a:rPr>
              <a:t>Bulletin of Perm University. Math. Mech. Comp. Sci. 1(72): 118–130 · HTML5 / JavaScript web app · pilot with 24 students</a:t>
            </a:r>
            <a:endParaRPr lang="en-US" sz="1200" dirty="0"/>
          </a:p>
        </p:txBody>
      </p:sp>
      <p:sp>
        <p:nvSpPr>
          <p:cNvPr id="5" name="card-140"/>
          <p:cNvSpPr/>
          <p:nvPr/>
        </p:nvSpPr>
        <p:spPr>
          <a:xfrm>
            <a:off x="548640" y="1572768"/>
            <a:ext cx="3383280" cy="2240280"/>
          </a:xfrm>
          <a:prstGeom prst="roundRect">
            <a:avLst>
              <a:gd name="adj" fmla="val 4082"/>
            </a:avLst>
          </a:prstGeom>
          <a:solidFill>
            <a:schemeClr val="bg2"/>
          </a:solidFill>
          <a:ln w="12700">
            <a:solidFill>
              <a:schemeClr val="bg2"/>
            </a:solidFill>
            <a:prstDash val="solid"/>
          </a:ln>
        </p:spPr>
      </p:sp>
      <p:sp>
        <p:nvSpPr>
          <p:cNvPr id="6" name="icon-bg-141"/>
          <p:cNvSpPr/>
          <p:nvPr/>
        </p:nvSpPr>
        <p:spPr>
          <a:xfrm>
            <a:off x="713232" y="1728216"/>
            <a:ext cx="365760" cy="365760"/>
          </a:xfrm>
          <a:prstGeom prst="ellipse">
            <a:avLst/>
          </a:prstGeom>
          <a:solidFill>
            <a:schemeClr val="accent6"/>
          </a:solidFill>
          <a:ln w="12700">
            <a:solidFill>
              <a:schemeClr val="accent6"/>
            </a:solidFill>
            <a:prstDash val="solid"/>
          </a:ln>
        </p:spPr>
      </p:sp>
      <p:pic>
        <p:nvPicPr>
          <p:cNvPr id="7" name="icon-142" descr="preencoded.png">    </p:cNvPr>
          <p:cNvPicPr>
            <a:picLocks noChangeAspect="1"/>
          </p:cNvPicPr>
          <p:nvPr/>
        </p:nvPicPr>
        <p:blipFill>
          <a:blip r:embed="rId1"/>
          <a:stretch>
            <a:fillRect/>
          </a:stretch>
        </p:blipFill>
        <p:spPr>
          <a:xfrm>
            <a:off x="801014" y="1815998"/>
            <a:ext cx="190195" cy="190195"/>
          </a:xfrm>
          <a:prstGeom prst="rect">
            <a:avLst/>
          </a:prstGeom>
        </p:spPr>
      </p:pic>
      <p:sp>
        <p:nvSpPr>
          <p:cNvPr id="8" name="text-143"/>
          <p:cNvSpPr txBox="1"/>
          <p:nvPr/>
        </p:nvSpPr>
        <p:spPr>
          <a:xfrm>
            <a:off x="1188720" y="1728216"/>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Problem</a:t>
            </a:r>
            <a:endParaRPr lang="en-US" sz="1500" dirty="0"/>
          </a:p>
        </p:txBody>
      </p:sp>
      <p:sp>
        <p:nvSpPr>
          <p:cNvPr id="9" name="text-144"/>
          <p:cNvSpPr txBox="1"/>
          <p:nvPr/>
        </p:nvSpPr>
        <p:spPr>
          <a:xfrm>
            <a:off x="713232" y="2194560"/>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Learners memorise steps and confuse the logic of different algorithms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Passive animation is not enough; gamification, AI and learning theory are rarely combined</a:t>
            </a:r>
            <a:endParaRPr lang="en-US" sz="1300" dirty="0"/>
          </a:p>
        </p:txBody>
      </p:sp>
      <p:sp>
        <p:nvSpPr>
          <p:cNvPr id="10" name="card-145"/>
          <p:cNvSpPr/>
          <p:nvPr/>
        </p:nvSpPr>
        <p:spPr>
          <a:xfrm>
            <a:off x="4160520" y="1572768"/>
            <a:ext cx="3383280" cy="2240280"/>
          </a:xfrm>
          <a:prstGeom prst="roundRect">
            <a:avLst>
              <a:gd name="adj" fmla="val 4082"/>
            </a:avLst>
          </a:prstGeom>
          <a:solidFill>
            <a:schemeClr val="bg2"/>
          </a:solidFill>
          <a:ln w="12700">
            <a:solidFill>
              <a:schemeClr val="bg2"/>
            </a:solidFill>
            <a:prstDash val="solid"/>
          </a:ln>
        </p:spPr>
      </p:sp>
      <p:sp>
        <p:nvSpPr>
          <p:cNvPr id="11" name="icon-bg-146"/>
          <p:cNvSpPr/>
          <p:nvPr/>
        </p:nvSpPr>
        <p:spPr>
          <a:xfrm>
            <a:off x="4325112" y="1728216"/>
            <a:ext cx="365760" cy="365760"/>
          </a:xfrm>
          <a:prstGeom prst="ellipse">
            <a:avLst/>
          </a:prstGeom>
          <a:solidFill>
            <a:schemeClr val="accent6"/>
          </a:solidFill>
          <a:ln w="12700">
            <a:solidFill>
              <a:schemeClr val="accent6"/>
            </a:solidFill>
            <a:prstDash val="solid"/>
          </a:ln>
        </p:spPr>
      </p:sp>
      <p:pic>
        <p:nvPicPr>
          <p:cNvPr id="12" name="icon-147" descr="preencoded.png">    </p:cNvPr>
          <p:cNvPicPr>
            <a:picLocks noChangeAspect="1"/>
          </p:cNvPicPr>
          <p:nvPr/>
        </p:nvPicPr>
        <p:blipFill>
          <a:blip r:embed="rId2"/>
          <a:stretch>
            <a:fillRect/>
          </a:stretch>
        </p:blipFill>
        <p:spPr>
          <a:xfrm>
            <a:off x="4412894" y="1815998"/>
            <a:ext cx="190195" cy="190195"/>
          </a:xfrm>
          <a:prstGeom prst="rect">
            <a:avLst/>
          </a:prstGeom>
        </p:spPr>
      </p:pic>
      <p:sp>
        <p:nvSpPr>
          <p:cNvPr id="13" name="text-148"/>
          <p:cNvSpPr txBox="1"/>
          <p:nvPr/>
        </p:nvSpPr>
        <p:spPr>
          <a:xfrm>
            <a:off x="4800600" y="1728216"/>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Approach</a:t>
            </a:r>
            <a:endParaRPr lang="en-US" sz="1500" dirty="0"/>
          </a:p>
        </p:txBody>
      </p:sp>
      <p:sp>
        <p:nvSpPr>
          <p:cNvPr id="14" name="text-149"/>
          <p:cNvSpPr txBox="1"/>
          <p:nvPr/>
        </p:nvSpPr>
        <p:spPr>
          <a:xfrm>
            <a:off x="4325112" y="2194560"/>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Galperin's stage-by-stage theory: each operation is acted out on objects</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4 story levels; a mentor character sets each task</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Wrong operations are blocked step by step</a:t>
            </a:r>
            <a:endParaRPr lang="en-US" sz="1300" dirty="0"/>
          </a:p>
        </p:txBody>
      </p:sp>
      <p:sp>
        <p:nvSpPr>
          <p:cNvPr id="15" name="card-150"/>
          <p:cNvSpPr/>
          <p:nvPr/>
        </p:nvSpPr>
        <p:spPr>
          <a:xfrm>
            <a:off x="548640" y="3977640"/>
            <a:ext cx="3383280" cy="2240280"/>
          </a:xfrm>
          <a:prstGeom prst="roundRect">
            <a:avLst>
              <a:gd name="adj" fmla="val 4082"/>
            </a:avLst>
          </a:prstGeom>
          <a:solidFill>
            <a:schemeClr val="bg2"/>
          </a:solidFill>
          <a:ln w="12700">
            <a:solidFill>
              <a:schemeClr val="bg2"/>
            </a:solidFill>
            <a:prstDash val="solid"/>
          </a:ln>
        </p:spPr>
      </p:sp>
      <p:sp>
        <p:nvSpPr>
          <p:cNvPr id="16" name="icon-bg-151"/>
          <p:cNvSpPr/>
          <p:nvPr/>
        </p:nvSpPr>
        <p:spPr>
          <a:xfrm>
            <a:off x="713232" y="4133088"/>
            <a:ext cx="365760" cy="365760"/>
          </a:xfrm>
          <a:prstGeom prst="ellipse">
            <a:avLst/>
          </a:prstGeom>
          <a:solidFill>
            <a:schemeClr val="accent6"/>
          </a:solidFill>
          <a:ln w="12700">
            <a:solidFill>
              <a:schemeClr val="accent6"/>
            </a:solidFill>
            <a:prstDash val="solid"/>
          </a:ln>
        </p:spPr>
      </p:sp>
      <p:pic>
        <p:nvPicPr>
          <p:cNvPr id="17" name="icon-152" descr="preencoded.png">    </p:cNvPr>
          <p:cNvPicPr>
            <a:picLocks noChangeAspect="1"/>
          </p:cNvPicPr>
          <p:nvPr/>
        </p:nvPicPr>
        <p:blipFill>
          <a:blip r:embed="rId3"/>
          <a:stretch>
            <a:fillRect/>
          </a:stretch>
        </p:blipFill>
        <p:spPr>
          <a:xfrm>
            <a:off x="801014" y="4220870"/>
            <a:ext cx="190195" cy="190195"/>
          </a:xfrm>
          <a:prstGeom prst="rect">
            <a:avLst/>
          </a:prstGeom>
        </p:spPr>
      </p:pic>
      <p:sp>
        <p:nvSpPr>
          <p:cNvPr id="18" name="text-153"/>
          <p:cNvSpPr txBox="1"/>
          <p:nvPr/>
        </p:nvSpPr>
        <p:spPr>
          <a:xfrm>
            <a:off x="1188720" y="4133088"/>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Key contribution</a:t>
            </a:r>
            <a:endParaRPr lang="en-US" sz="1500" dirty="0"/>
          </a:p>
        </p:txBody>
      </p:sp>
      <p:sp>
        <p:nvSpPr>
          <p:cNvPr id="19" name="text-154"/>
          <p:cNvSpPr txBox="1"/>
          <p:nvPr/>
        </p:nvSpPr>
        <p:spPr>
          <a:xfrm>
            <a:off x="713232" y="4599432"/>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A model that ties a classical learning theory to game mechanics and narrative</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Satisfaction 4.34 vs 3.72 (Mann–Whitney U = 143.5, p &lt; 0.001, r = 0.84)</a:t>
            </a:r>
            <a:endParaRPr lang="en-US" sz="1300" dirty="0"/>
          </a:p>
        </p:txBody>
      </p:sp>
      <p:sp>
        <p:nvSpPr>
          <p:cNvPr id="20" name="card-155"/>
          <p:cNvSpPr/>
          <p:nvPr/>
        </p:nvSpPr>
        <p:spPr>
          <a:xfrm>
            <a:off x="4160520" y="3977640"/>
            <a:ext cx="3383280" cy="2240280"/>
          </a:xfrm>
          <a:prstGeom prst="roundRect">
            <a:avLst>
              <a:gd name="adj" fmla="val 4082"/>
            </a:avLst>
          </a:prstGeom>
          <a:solidFill>
            <a:schemeClr val="bg2"/>
          </a:solidFill>
          <a:ln w="12700">
            <a:solidFill>
              <a:schemeClr val="bg2"/>
            </a:solidFill>
            <a:prstDash val="solid"/>
          </a:ln>
        </p:spPr>
      </p:sp>
      <p:sp>
        <p:nvSpPr>
          <p:cNvPr id="21" name="icon-bg-156"/>
          <p:cNvSpPr/>
          <p:nvPr/>
        </p:nvSpPr>
        <p:spPr>
          <a:xfrm>
            <a:off x="4325112" y="4133088"/>
            <a:ext cx="365760" cy="365760"/>
          </a:xfrm>
          <a:prstGeom prst="ellipse">
            <a:avLst/>
          </a:prstGeom>
          <a:solidFill>
            <a:schemeClr val="tx1"/>
          </a:solidFill>
          <a:ln w="12700">
            <a:solidFill>
              <a:schemeClr val="tx1"/>
            </a:solidFill>
            <a:prstDash val="solid"/>
          </a:ln>
        </p:spPr>
      </p:sp>
      <p:pic>
        <p:nvPicPr>
          <p:cNvPr id="22" name="icon-157" descr="preencoded.png">    </p:cNvPr>
          <p:cNvPicPr>
            <a:picLocks noChangeAspect="1"/>
          </p:cNvPicPr>
          <p:nvPr/>
        </p:nvPicPr>
        <p:blipFill>
          <a:blip r:embed="rId4"/>
          <a:stretch>
            <a:fillRect/>
          </a:stretch>
        </p:blipFill>
        <p:spPr>
          <a:xfrm>
            <a:off x="4412894" y="4220870"/>
            <a:ext cx="190195" cy="190195"/>
          </a:xfrm>
          <a:prstGeom prst="rect">
            <a:avLst/>
          </a:prstGeom>
        </p:spPr>
      </p:pic>
      <p:sp>
        <p:nvSpPr>
          <p:cNvPr id="23" name="text-158"/>
          <p:cNvSpPr txBox="1"/>
          <p:nvPr/>
        </p:nvSpPr>
        <p:spPr>
          <a:xfrm>
            <a:off x="4800600" y="4133088"/>
            <a:ext cx="2560320" cy="36576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Limitations</a:t>
            </a:r>
            <a:endParaRPr lang="en-US" sz="1500" dirty="0"/>
          </a:p>
        </p:txBody>
      </p:sp>
      <p:sp>
        <p:nvSpPr>
          <p:cNvPr id="24" name="text-159"/>
          <p:cNvSpPr txBox="1"/>
          <p:nvPr/>
        </p:nvSpPr>
        <p:spPr>
          <a:xfrm>
            <a:off x="4325112" y="4599432"/>
            <a:ext cx="3054096" cy="155448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Only 24 students; only satisfaction measured</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No test score, no delayed test; medians equal (4.0)</a:t>
            </a:r>
            <a:endParaRPr lang="en-US" sz="1300" dirty="0"/>
          </a:p>
          <a:p>
            <a:pPr marL="177800" indent="-177800">
              <a:spcAft>
                <a:spcPts val="300"/>
              </a:spcAft>
              <a:buSzPct val="100000"/>
              <a:buChar char="•"/>
            </a:pPr>
            <a:r>
              <a:rPr lang="en-US" sz="1300" dirty="0">
                <a:solidFill>
                  <a:schemeClr val="tx1"/>
                </a:solidFill>
                <a:latin typeface="Arial" pitchFamily="34" charset="0"/>
                <a:ea typeface="Arial" pitchFamily="34" charset="-122"/>
                <a:cs typeface="Arial" pitchFamily="34" charset="-120"/>
              </a:rPr>
              <a:t>2D web, no adaptivity yet</a:t>
            </a:r>
            <a:endParaRPr lang="en-US" sz="1300" dirty="0"/>
          </a:p>
        </p:txBody>
      </p:sp>
      <p:pic>
        <p:nvPicPr>
          <p:cNvPr id="25" name="chart-160" descr="/tmp/claude-0/-home-claude/8b672690-7cd0-5d59-9493-8eaa2a9a5a93/scratchpad/deck/charts/sidorov_satisfaction.png">    </p:cNvPr>
          <p:cNvPicPr>
            <a:picLocks noChangeAspect="1"/>
          </p:cNvPicPr>
          <p:nvPr/>
        </p:nvPicPr>
        <p:blipFill>
          <a:blip r:embed="rId5"/>
          <a:stretch>
            <a:fillRect/>
          </a:stretch>
        </p:blipFill>
        <p:spPr>
          <a:xfrm>
            <a:off x="7772400" y="1645920"/>
            <a:ext cx="2240280" cy="1920240"/>
          </a:xfrm>
          <a:prstGeom prst="rect">
            <a:avLst/>
          </a:prstGeom>
        </p:spPr>
      </p:pic>
      <p:sp>
        <p:nvSpPr>
          <p:cNvPr id="26" name="text-161"/>
          <p:cNvSpPr txBox="1"/>
          <p:nvPr/>
        </p:nvSpPr>
        <p:spPr>
          <a:xfrm>
            <a:off x="10149840" y="1691640"/>
            <a:ext cx="1554480" cy="457200"/>
          </a:xfrm>
          <a:prstGeom prst="rect">
            <a:avLst/>
          </a:prstGeom>
          <a:noFill/>
          <a:ln/>
        </p:spPr>
        <p:txBody>
          <a:bodyPr wrap="square" lIns="0" tIns="0" rIns="0" bIns="0" rtlCol="0" anchor="t"/>
          <a:lstStyle/>
          <a:p>
            <a:pPr indent="0" marL="0">
              <a:buNone/>
            </a:pPr>
            <a:r>
              <a:rPr lang="en-US" sz="1000" b="1" spc="100" kern="0" dirty="0">
                <a:solidFill>
                  <a:schemeClr val="tx2"/>
                </a:solidFill>
                <a:latin typeface="Arial" pitchFamily="34" charset="0"/>
                <a:ea typeface="Arial" pitchFamily="34" charset="-122"/>
                <a:cs typeface="Arial" pitchFamily="34" charset="-120"/>
              </a:rPr>
              <a:t>ONE METAPHOR PER ALGORITHM</a:t>
            </a:r>
            <a:endParaRPr lang="en-US" sz="1000" dirty="0"/>
          </a:p>
        </p:txBody>
      </p:sp>
      <p:sp>
        <p:nvSpPr>
          <p:cNvPr id="27" name="text-162"/>
          <p:cNvSpPr txBox="1"/>
          <p:nvPr/>
        </p:nvSpPr>
        <p:spPr>
          <a:xfrm>
            <a:off x="10149840" y="2194560"/>
            <a:ext cx="1554480" cy="530352"/>
          </a:xfrm>
          <a:prstGeom prst="rect">
            <a:avLst/>
          </a:prstGeom>
          <a:noFill/>
          <a:ln/>
        </p:spPr>
        <p:txBody>
          <a:bodyPr wrap="square" lIns="0" tIns="0" rIns="0" bIns="0" rtlCol="0" anchor="t"/>
          <a:lstStyle/>
          <a:p>
            <a:pPr indent="0" marL="0">
              <a:buNone/>
            </a:pPr>
            <a:r>
              <a:rPr lang="en-US" sz="1100" b="1" dirty="0">
                <a:solidFill>
                  <a:schemeClr val="accent6"/>
                </a:solidFill>
                <a:latin typeface="Arial" pitchFamily="34" charset="0"/>
                <a:ea typeface="Arial" pitchFamily="34" charset="-122"/>
                <a:cs typeface="Arial" pitchFamily="34" charset="-120"/>
              </a:rPr>
              <a:t>Bubble</a:t>
            </a:r>
            <a:endParaRPr lang="en-US" sz="1100" dirty="0"/>
          </a:p>
          <a:p>
            <a:pPr indent="0" marL="0">
              <a:buNone/>
            </a:pPr>
            <a:r>
              <a:rPr lang="en-US" sz="1100" dirty="0">
                <a:solidFill>
                  <a:schemeClr val="tx1"/>
                </a:solidFill>
                <a:latin typeface="Arial" pitchFamily="34" charset="0"/>
                <a:ea typeface="Arial" pitchFamily="34" charset="-122"/>
                <a:cs typeface="Arial" pitchFamily="34" charset="-120"/>
              </a:rPr>
              <a:t>frogs on lily pads</a:t>
            </a:r>
            <a:endParaRPr lang="en-US" sz="1100" dirty="0"/>
          </a:p>
        </p:txBody>
      </p:sp>
      <p:sp>
        <p:nvSpPr>
          <p:cNvPr id="28" name="text-163"/>
          <p:cNvSpPr txBox="1"/>
          <p:nvPr/>
        </p:nvSpPr>
        <p:spPr>
          <a:xfrm>
            <a:off x="10149840" y="2761488"/>
            <a:ext cx="1554480" cy="530352"/>
          </a:xfrm>
          <a:prstGeom prst="rect">
            <a:avLst/>
          </a:prstGeom>
          <a:noFill/>
          <a:ln/>
        </p:spPr>
        <p:txBody>
          <a:bodyPr wrap="square" lIns="0" tIns="0" rIns="0" bIns="0" rtlCol="0" anchor="t"/>
          <a:lstStyle/>
          <a:p>
            <a:pPr indent="0" marL="0">
              <a:buNone/>
            </a:pPr>
            <a:r>
              <a:rPr lang="en-US" sz="1100" b="1" dirty="0">
                <a:solidFill>
                  <a:schemeClr val="accent6"/>
                </a:solidFill>
                <a:latin typeface="Arial" pitchFamily="34" charset="0"/>
                <a:ea typeface="Arial" pitchFamily="34" charset="-122"/>
                <a:cs typeface="Arial" pitchFamily="34" charset="-120"/>
              </a:rPr>
              <a:t>Selection</a:t>
            </a:r>
            <a:endParaRPr lang="en-US" sz="1100" dirty="0"/>
          </a:p>
          <a:p>
            <a:pPr indent="0" marL="0">
              <a:buNone/>
            </a:pPr>
            <a:r>
              <a:rPr lang="en-US" sz="1100" dirty="0">
                <a:solidFill>
                  <a:schemeClr val="tx1"/>
                </a:solidFill>
                <a:latin typeface="Arial" pitchFamily="34" charset="0"/>
                <a:ea typeface="Arial" pitchFamily="34" charset="-122"/>
                <a:cs typeface="Arial" pitchFamily="34" charset="-120"/>
              </a:rPr>
              <a:t>bridge of magic blocks</a:t>
            </a:r>
            <a:endParaRPr lang="en-US" sz="1100" dirty="0"/>
          </a:p>
        </p:txBody>
      </p:sp>
      <p:sp>
        <p:nvSpPr>
          <p:cNvPr id="29" name="text-164"/>
          <p:cNvSpPr txBox="1"/>
          <p:nvPr/>
        </p:nvSpPr>
        <p:spPr>
          <a:xfrm>
            <a:off x="10149840" y="3328416"/>
            <a:ext cx="1554480" cy="530352"/>
          </a:xfrm>
          <a:prstGeom prst="rect">
            <a:avLst/>
          </a:prstGeom>
          <a:noFill/>
          <a:ln/>
        </p:spPr>
        <p:txBody>
          <a:bodyPr wrap="square" lIns="0" tIns="0" rIns="0" bIns="0" rtlCol="0" anchor="t"/>
          <a:lstStyle/>
          <a:p>
            <a:pPr indent="0" marL="0">
              <a:buNone/>
            </a:pPr>
            <a:r>
              <a:rPr lang="en-US" sz="1100" b="1" dirty="0">
                <a:solidFill>
                  <a:schemeClr val="accent6"/>
                </a:solidFill>
                <a:latin typeface="Arial" pitchFamily="34" charset="0"/>
                <a:ea typeface="Arial" pitchFamily="34" charset="-122"/>
                <a:cs typeface="Arial" pitchFamily="34" charset="-120"/>
              </a:rPr>
              <a:t>Insertion</a:t>
            </a:r>
            <a:endParaRPr lang="en-US" sz="1100" dirty="0"/>
          </a:p>
          <a:p>
            <a:pPr indent="0" marL="0">
              <a:buNone/>
            </a:pPr>
            <a:r>
              <a:rPr lang="en-US" sz="1100" dirty="0">
                <a:solidFill>
                  <a:schemeClr val="tx1"/>
                </a:solidFill>
                <a:latin typeface="Arial" pitchFamily="34" charset="0"/>
                <a:ea typeface="Arial" pitchFamily="34" charset="-122"/>
                <a:cs typeface="Arial" pitchFamily="34" charset="-120"/>
              </a:rPr>
              <a:t>crystals on an altar</a:t>
            </a:r>
            <a:endParaRPr lang="en-US" sz="1100" dirty="0"/>
          </a:p>
        </p:txBody>
      </p:sp>
      <p:sp>
        <p:nvSpPr>
          <p:cNvPr id="30" name="text-165"/>
          <p:cNvSpPr txBox="1"/>
          <p:nvPr/>
        </p:nvSpPr>
        <p:spPr>
          <a:xfrm>
            <a:off x="10149840" y="3895344"/>
            <a:ext cx="1554480" cy="530352"/>
          </a:xfrm>
          <a:prstGeom prst="rect">
            <a:avLst/>
          </a:prstGeom>
          <a:noFill/>
          <a:ln/>
        </p:spPr>
        <p:txBody>
          <a:bodyPr wrap="square" lIns="0" tIns="0" rIns="0" bIns="0" rtlCol="0" anchor="t"/>
          <a:lstStyle/>
          <a:p>
            <a:pPr indent="0" marL="0">
              <a:buNone/>
            </a:pPr>
            <a:r>
              <a:rPr lang="en-US" sz="1100" b="1" dirty="0">
                <a:solidFill>
                  <a:schemeClr val="accent6"/>
                </a:solidFill>
                <a:latin typeface="Arial" pitchFamily="34" charset="0"/>
                <a:ea typeface="Arial" pitchFamily="34" charset="-122"/>
                <a:cs typeface="Arial" pitchFamily="34" charset="-120"/>
              </a:rPr>
              <a:t>Quick</a:t>
            </a:r>
            <a:endParaRPr lang="en-US" sz="1100" dirty="0"/>
          </a:p>
          <a:p>
            <a:pPr indent="0" marL="0">
              <a:buNone/>
            </a:pPr>
            <a:r>
              <a:rPr lang="en-US" sz="1100" dirty="0">
                <a:solidFill>
                  <a:schemeClr val="tx1"/>
                </a:solidFill>
                <a:latin typeface="Arial" pitchFamily="34" charset="0"/>
                <a:ea typeface="Arial" pitchFamily="34" charset="-122"/>
                <a:cs typeface="Arial" pitchFamily="34" charset="-120"/>
              </a:rPr>
              <a:t>warriors through gates</a:t>
            </a:r>
            <a:endParaRPr lang="en-US" sz="1100" dirty="0"/>
          </a:p>
        </p:txBody>
      </p:sp>
      <p:sp>
        <p:nvSpPr>
          <p:cNvPr id="31" name="card-166"/>
          <p:cNvSpPr/>
          <p:nvPr/>
        </p:nvSpPr>
        <p:spPr>
          <a:xfrm>
            <a:off x="7772400" y="4526280"/>
            <a:ext cx="3867912" cy="1417320"/>
          </a:xfrm>
          <a:prstGeom prst="roundRect">
            <a:avLst>
              <a:gd name="adj" fmla="val 6452"/>
            </a:avLst>
          </a:prstGeom>
          <a:solidFill>
            <a:srgbClr val="E7F4F6"/>
          </a:solidFill>
          <a:ln w="12700">
            <a:solidFill>
              <a:srgbClr val="E7F4F6"/>
            </a:solidFill>
            <a:prstDash val="solid"/>
          </a:ln>
        </p:spPr>
      </p:sp>
      <p:sp>
        <p:nvSpPr>
          <p:cNvPr id="32" name="text-167"/>
          <p:cNvSpPr txBox="1"/>
          <p:nvPr/>
        </p:nvSpPr>
        <p:spPr>
          <a:xfrm>
            <a:off x="7955280" y="4645152"/>
            <a:ext cx="3520440" cy="1188720"/>
          </a:xfrm>
          <a:prstGeom prst="rect">
            <a:avLst/>
          </a:prstGeom>
          <a:noFill/>
          <a:ln/>
        </p:spPr>
        <p:txBody>
          <a:bodyPr wrap="square" lIns="0" tIns="0" rIns="0" bIns="0" rtlCol="0" anchor="ctr"/>
          <a:lstStyle/>
          <a:p>
            <a:pPr indent="0" marL="0">
              <a:buNone/>
            </a:pPr>
            <a:r>
              <a:rPr lang="en-US" sz="1300" b="1" dirty="0">
                <a:solidFill>
                  <a:schemeClr val="accent6"/>
                </a:solidFill>
                <a:latin typeface="Arial" pitchFamily="34" charset="0"/>
                <a:ea typeface="Arial" pitchFamily="34" charset="-122"/>
                <a:cs typeface="Arial" pitchFamily="34" charset="-120"/>
              </a:rPr>
              <a:t>Bridge of Selection: </a:t>
            </a:r>
            <a:pPr indent="0" marL="0">
              <a:buNone/>
            </a:pPr>
            <a:r>
              <a:rPr lang="en-US" sz="1300" dirty="0">
                <a:solidFill>
                  <a:schemeClr val="tx1"/>
                </a:solidFill>
                <a:latin typeface="Arial" pitchFamily="34" charset="0"/>
                <a:ea typeface="Arial" pitchFamily="34" charset="-122"/>
                <a:cs typeface="Arial" pitchFamily="34" charset="-120"/>
              </a:rPr>
              <a:t>pick the smallest unsorted block and place it on the bridge; a wrong pick lowers the bridge's stability.</a:t>
            </a:r>
            <a:endParaRPr lang="en-US" sz="1300" dirty="0"/>
          </a:p>
        </p:txBody>
      </p:sp>
      <p:sp>
        <p:nvSpPr>
          <p:cNvPr id="33" name="text-168"/>
          <p:cNvSpPr txBox="1"/>
          <p:nvPr/>
        </p:nvSpPr>
        <p:spPr>
          <a:xfrm>
            <a:off x="7863840" y="6053328"/>
            <a:ext cx="3749040" cy="228600"/>
          </a:xfrm>
          <a:prstGeom prst="rect">
            <a:avLst/>
          </a:prstGeom>
          <a:noFill/>
          <a:ln/>
        </p:spPr>
        <p:txBody>
          <a:bodyPr wrap="square" lIns="0" tIns="0" rIns="0" bIns="0" rtlCol="0" anchor="t"/>
          <a:lstStyle/>
          <a:p>
            <a:pPr indent="0" marL="0">
              <a:buNone/>
            </a:pPr>
            <a:r>
              <a:rPr lang="en-US" sz="1000" i="1" dirty="0">
                <a:solidFill>
                  <a:schemeClr val="tx2"/>
                </a:solidFill>
                <a:latin typeface="Arial" pitchFamily="34" charset="0"/>
                <a:ea typeface="Arial" pitchFamily="34" charset="-122"/>
                <a:cs typeface="Arial" pitchFamily="34" charset="-120"/>
              </a:rPr>
              <a:t>Chart from the paper's group statistics (EG vs CG)</a:t>
            </a:r>
            <a:endParaRPr lang="en-US" sz="10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SOTA COMPARISON</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Where each approach is strong, and where ours fits</a:t>
            </a:r>
            <a:endParaRPr lang="en-US" sz="2800" dirty="0"/>
          </a:p>
        </p:txBody>
      </p:sp>
      <p:graphicFrame>
        <p:nvGraphicFramePr>
          <p:cNvPr id="8" name="table-169"/>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600200"/>
                <a:gridCol w="2286000"/>
                <a:gridCol w="2286000"/>
                <a:gridCol w="2377440"/>
                <a:gridCol w="2542032"/>
              </a:tblGrid>
              <a:tr h="384048">
                <a:tc>
                  <a:txBody>
                    <a:bodyPr/>
                    <a:lstStyle/>
                    <a:p>
                      <a:pPr indent="0" marL="0">
                        <a:buNone/>
                      </a:pPr>
                      <a:endParaRPr lang="en-US" sz="12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Schöller 2025</a:t>
                      </a:r>
                      <a:endParaRPr lang="en-US" sz="12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B7DD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Mukasheva et al. 2023</a:t>
                      </a:r>
                      <a:endParaRPr lang="en-US" sz="12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B55C7"/>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Sidorov &amp; Cherkasova 2026</a:t>
                      </a:r>
                      <a:endParaRPr lang="en-US" sz="12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8C9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Sort or Stay (ours)</a:t>
                      </a:r>
                      <a:endParaRPr lang="en-US" sz="12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692A"/>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Technology</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Ionic / Angular app, phone + web</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Unity VR, Oculus Quest 2</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HTML5 / JavaScript web</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Unity 6 3D, desktop (Mac / Win)</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Interaction</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Tap cards: open, pin, swap, finalize</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Grab and swap cubes with VR hands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Click themed objects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Realistic avatar; point-and-click, walks to objects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Game mechanics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Hidden cards, max 2 open; free / algorithm modes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Swap cubes; an error restarts the sort</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4 themed levels; bridge 'stability'</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Escape rooms: neighbour-only keys, hidden weights, carry-and-insert books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Narrative &amp; immersion</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None; flat 2D</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High immersion, no story</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Mentor + fantasy story; 2D</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Locked building, floor by floor; bright 3D rooms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Feedback</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Alert lists allowed moves; counters</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Restart on error; steps on a board</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Wrong move blocked; theory text</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Says why a move is wrong; hints; debrief vs. optimum</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Adaptivity &amp; AI</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None (AI feedback = future)</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AI used to build it; AI inputs = future</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None yet; adaptive hints planned</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Evaluation</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None reported</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150 students, 5 tasks, χ²</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24 students, satisfaction only</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7"/>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Pilot planned: pre / post + delayed test</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r h="489204">
                <a:tc>
                  <a:txBody>
                    <a:bodyPr/>
                    <a:lstStyle/>
                    <a:p>
                      <a:pPr indent="0" marL="0">
                        <a:buNone/>
                      </a:pPr>
                      <a:r>
                        <a:rPr lang="en-US" sz="1100" b="1" dirty="0">
                          <a:solidFill>
                            <a:srgbClr val="1E2A38"/>
                          </a:solidFill>
                          <a:latin typeface="Arial" pitchFamily="34" charset="0"/>
                          <a:ea typeface="Arial" pitchFamily="34" charset="-122"/>
                          <a:cs typeface="Arial" pitchFamily="34" charset="-120"/>
                        </a:rPr>
                        <a:t>Cost to learner</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Free (phone / browser)</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Headset per learner</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E2A38"/>
                          </a:solidFill>
                          <a:latin typeface="Arial" pitchFamily="34" charset="0"/>
                          <a:ea typeface="Arial" pitchFamily="34" charset="-122"/>
                          <a:cs typeface="Arial" pitchFamily="34" charset="-120"/>
                        </a:rPr>
                        <a:t>Free (browser)</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dirty="0">
                          <a:solidFill>
                            <a:srgbClr val="1E2A38"/>
                          </a:solidFill>
                          <a:latin typeface="Arial" pitchFamily="34" charset="0"/>
                          <a:ea typeface="Arial" pitchFamily="34" charset="-122"/>
                          <a:cs typeface="Arial" pitchFamily="34" charset="-120"/>
                        </a:rPr>
                        <a:t>Free; any laptop</a:t>
                      </a:r>
                      <a:endParaRPr lang="en-US" sz="1100" dirty="0">
                        <a:latin typeface="Arial" charset="0"/>
                        <a:ea typeface="Arial" charset="0"/>
                        <a:cs typeface="Arial" charset="0"/>
                      </a:endParaRPr>
                    </a:p>
                  </a:txBody>
                  <a:tcPr marL="76200" marR="762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F0E7"/>
                    </a:solidFill>
                  </a:tcPr>
                </a:tc>
              </a:tr>
            </a:tbl>
          </a:graphicData>
        </a:graphic>
      </p:graphicFrame>
      <p:sp>
        <p:nvSpPr>
          <p:cNvPr id="5" name="text-170"/>
          <p:cNvSpPr txBox="1"/>
          <p:nvPr/>
        </p:nvSpPr>
        <p:spPr>
          <a:xfrm>
            <a:off x="548640" y="5806440"/>
            <a:ext cx="11091672" cy="502920"/>
          </a:xfrm>
          <a:prstGeom prst="rect">
            <a:avLst/>
          </a:prstGeom>
          <a:noFill/>
          <a:ln/>
        </p:spPr>
        <p:txBody>
          <a:bodyPr wrap="square" lIns="0" tIns="0" rIns="0" bIns="0" rtlCol="0" anchor="ctr"/>
          <a:lstStyle/>
          <a:p>
            <a:pPr indent="0" marL="0">
              <a:buNone/>
            </a:pPr>
            <a:r>
              <a:rPr lang="en-US" sz="1400" b="1" dirty="0">
                <a:solidFill>
                  <a:schemeClr val="accent1"/>
                </a:solidFill>
                <a:latin typeface="Arial" pitchFamily="34" charset="0"/>
                <a:ea typeface="Arial" pitchFamily="34" charset="-122"/>
                <a:cs typeface="Arial" pitchFamily="34" charset="-120"/>
              </a:rPr>
              <a:t>Takeaway: </a:t>
            </a:r>
            <a:pPr indent="0" marL="0">
              <a:buNone/>
            </a:pPr>
            <a:r>
              <a:rPr lang="en-US" sz="1400" dirty="0">
                <a:solidFill>
                  <a:schemeClr val="tx1"/>
                </a:solidFill>
                <a:latin typeface="Arial" pitchFamily="34" charset="0"/>
                <a:ea typeface="Arial" pitchFamily="34" charset="-122"/>
                <a:cs typeface="Arial" pitchFamily="34" charset="-120"/>
              </a:rPr>
              <a:t>VR gave the clearest learning gain but costs a headset; the free 2D tools add rules or story but stay flat and give little 'why'. No tool combines all three.</a:t>
            </a:r>
            <a:endParaRPr lang="en-US" sz="14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RESEARCH / DESIGN GAP</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Missing: hands-on, explained and affordable at once</a:t>
            </a:r>
            <a:endParaRPr lang="en-US" sz="2800" dirty="0"/>
          </a:p>
        </p:txBody>
      </p:sp>
      <p:sp>
        <p:nvSpPr>
          <p:cNvPr id="4" name="text-171"/>
          <p:cNvSpPr txBox="1"/>
          <p:nvPr/>
        </p:nvSpPr>
        <p:spPr>
          <a:xfrm>
            <a:off x="3657600" y="1417320"/>
            <a:ext cx="914400" cy="274320"/>
          </a:xfrm>
          <a:prstGeom prst="rect">
            <a:avLst/>
          </a:prstGeom>
          <a:noFill/>
          <a:ln/>
        </p:spPr>
        <p:txBody>
          <a:bodyPr wrap="square" lIns="0" tIns="0" rIns="0" bIns="0" rtlCol="0" anchor="t"/>
          <a:lstStyle/>
          <a:p>
            <a:pPr algn="ctr" indent="0" marL="0">
              <a:buNone/>
            </a:pPr>
            <a:r>
              <a:rPr lang="en-US" sz="1100" b="1" dirty="0">
                <a:solidFill>
                  <a:schemeClr val="accent4"/>
                </a:solidFill>
                <a:latin typeface="Arial" pitchFamily="34" charset="0"/>
                <a:ea typeface="Arial" pitchFamily="34" charset="-122"/>
                <a:cs typeface="Arial" pitchFamily="34" charset="-120"/>
              </a:rPr>
              <a:t>Schöller</a:t>
            </a:r>
            <a:endParaRPr lang="en-US" sz="1100" dirty="0"/>
          </a:p>
        </p:txBody>
      </p:sp>
      <p:sp>
        <p:nvSpPr>
          <p:cNvPr id="5" name="text-172"/>
          <p:cNvSpPr txBox="1"/>
          <p:nvPr/>
        </p:nvSpPr>
        <p:spPr>
          <a:xfrm>
            <a:off x="4480560" y="1417320"/>
            <a:ext cx="914400" cy="274320"/>
          </a:xfrm>
          <a:prstGeom prst="rect">
            <a:avLst/>
          </a:prstGeom>
          <a:noFill/>
          <a:ln/>
        </p:spPr>
        <p:txBody>
          <a:bodyPr wrap="square" lIns="0" tIns="0" rIns="0" bIns="0" rtlCol="0" anchor="t"/>
          <a:lstStyle/>
          <a:p>
            <a:pPr algn="ctr" indent="0" marL="0">
              <a:buNone/>
            </a:pPr>
            <a:r>
              <a:rPr lang="en-US" sz="1100" b="1" dirty="0">
                <a:solidFill>
                  <a:schemeClr val="accent5"/>
                </a:solidFill>
                <a:latin typeface="Arial" pitchFamily="34" charset="0"/>
                <a:ea typeface="Arial" pitchFamily="34" charset="-122"/>
                <a:cs typeface="Arial" pitchFamily="34" charset="-120"/>
              </a:rPr>
              <a:t>Mukasheva</a:t>
            </a:r>
            <a:endParaRPr lang="en-US" sz="1100" dirty="0"/>
          </a:p>
        </p:txBody>
      </p:sp>
      <p:sp>
        <p:nvSpPr>
          <p:cNvPr id="6" name="text-173"/>
          <p:cNvSpPr txBox="1"/>
          <p:nvPr/>
        </p:nvSpPr>
        <p:spPr>
          <a:xfrm>
            <a:off x="5303520" y="1417320"/>
            <a:ext cx="914400" cy="274320"/>
          </a:xfrm>
          <a:prstGeom prst="rect">
            <a:avLst/>
          </a:prstGeom>
          <a:noFill/>
          <a:ln/>
        </p:spPr>
        <p:txBody>
          <a:bodyPr wrap="square" lIns="0" tIns="0" rIns="0" bIns="0" rtlCol="0" anchor="t"/>
          <a:lstStyle/>
          <a:p>
            <a:pPr algn="ctr" indent="0" marL="0">
              <a:buNone/>
            </a:pPr>
            <a:r>
              <a:rPr lang="en-US" sz="1100" b="1" dirty="0">
                <a:solidFill>
                  <a:schemeClr val="accent6"/>
                </a:solidFill>
                <a:latin typeface="Arial" pitchFamily="34" charset="0"/>
                <a:ea typeface="Arial" pitchFamily="34" charset="-122"/>
                <a:cs typeface="Arial" pitchFamily="34" charset="-120"/>
              </a:rPr>
              <a:t>Sidorov</a:t>
            </a:r>
            <a:endParaRPr lang="en-US" sz="1100" dirty="0"/>
          </a:p>
        </p:txBody>
      </p:sp>
      <p:sp>
        <p:nvSpPr>
          <p:cNvPr id="7" name="text-174"/>
          <p:cNvSpPr txBox="1"/>
          <p:nvPr/>
        </p:nvSpPr>
        <p:spPr>
          <a:xfrm>
            <a:off x="6217920" y="1417320"/>
            <a:ext cx="914400" cy="274320"/>
          </a:xfrm>
          <a:prstGeom prst="rect">
            <a:avLst/>
          </a:prstGeom>
          <a:noFill/>
          <a:ln/>
        </p:spPr>
        <p:txBody>
          <a:bodyPr wrap="square" lIns="0" tIns="0" rIns="0" bIns="0" rtlCol="0" anchor="t"/>
          <a:lstStyle/>
          <a:p>
            <a:pPr algn="ctr" indent="0" marL="0">
              <a:buNone/>
            </a:pPr>
            <a:r>
              <a:rPr lang="en-US" sz="1100" b="1" dirty="0">
                <a:solidFill>
                  <a:schemeClr val="accent1"/>
                </a:solidFill>
                <a:latin typeface="Arial" pitchFamily="34" charset="0"/>
                <a:ea typeface="Arial" pitchFamily="34" charset="-122"/>
                <a:cs typeface="Arial" pitchFamily="34" charset="-120"/>
              </a:rPr>
              <a:t>Ours</a:t>
            </a:r>
            <a:endParaRPr lang="en-US" sz="1100" dirty="0"/>
          </a:p>
        </p:txBody>
      </p:sp>
      <p:sp>
        <p:nvSpPr>
          <p:cNvPr id="8" name="card-175"/>
          <p:cNvSpPr/>
          <p:nvPr/>
        </p:nvSpPr>
        <p:spPr>
          <a:xfrm>
            <a:off x="548640" y="1709928"/>
            <a:ext cx="6629400" cy="548640"/>
          </a:xfrm>
          <a:prstGeom prst="roundRect">
            <a:avLst>
              <a:gd name="adj" fmla="val 16667"/>
            </a:avLst>
          </a:prstGeom>
          <a:solidFill>
            <a:srgbClr val="F8F9FA"/>
          </a:solidFill>
          <a:ln w="12700">
            <a:solidFill>
              <a:srgbClr val="F8F9FA"/>
            </a:solidFill>
            <a:prstDash val="solid"/>
          </a:ln>
        </p:spPr>
      </p:sp>
      <p:sp>
        <p:nvSpPr>
          <p:cNvPr id="9" name="text-176"/>
          <p:cNvSpPr txBox="1"/>
          <p:nvPr/>
        </p:nvSpPr>
        <p:spPr>
          <a:xfrm>
            <a:off x="685800" y="1783080"/>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Learner performs every operation</a:t>
            </a:r>
            <a:endParaRPr lang="en-US" sz="1300" dirty="0"/>
          </a:p>
        </p:txBody>
      </p:sp>
      <p:sp>
        <p:nvSpPr>
          <p:cNvPr id="10" name="pill-177"/>
          <p:cNvSpPr txBox="1"/>
          <p:nvPr/>
        </p:nvSpPr>
        <p:spPr>
          <a:xfrm>
            <a:off x="3794760" y="1828800"/>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11" name="pill-178"/>
          <p:cNvSpPr txBox="1"/>
          <p:nvPr/>
        </p:nvSpPr>
        <p:spPr>
          <a:xfrm>
            <a:off x="4617720" y="1828800"/>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12" name="pill-179"/>
          <p:cNvSpPr txBox="1"/>
          <p:nvPr/>
        </p:nvSpPr>
        <p:spPr>
          <a:xfrm>
            <a:off x="5440680" y="1828800"/>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13" name="pill-180"/>
          <p:cNvSpPr txBox="1"/>
          <p:nvPr/>
        </p:nvSpPr>
        <p:spPr>
          <a:xfrm>
            <a:off x="6355080" y="1828800"/>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14" name="text-181"/>
          <p:cNvSpPr txBox="1"/>
          <p:nvPr/>
        </p:nvSpPr>
        <p:spPr>
          <a:xfrm>
            <a:off x="685800" y="2386584"/>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3D world without special hardware</a:t>
            </a:r>
            <a:endParaRPr lang="en-US" sz="1300" dirty="0"/>
          </a:p>
        </p:txBody>
      </p:sp>
      <p:sp>
        <p:nvSpPr>
          <p:cNvPr id="15" name="pill-182"/>
          <p:cNvSpPr txBox="1"/>
          <p:nvPr/>
        </p:nvSpPr>
        <p:spPr>
          <a:xfrm>
            <a:off x="3794760" y="2432304"/>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16" name="pill-183"/>
          <p:cNvSpPr txBox="1"/>
          <p:nvPr/>
        </p:nvSpPr>
        <p:spPr>
          <a:xfrm>
            <a:off x="4617720" y="2432304"/>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17" name="pill-184"/>
          <p:cNvSpPr txBox="1"/>
          <p:nvPr/>
        </p:nvSpPr>
        <p:spPr>
          <a:xfrm>
            <a:off x="5440680" y="2432304"/>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18" name="pill-185"/>
          <p:cNvSpPr txBox="1"/>
          <p:nvPr/>
        </p:nvSpPr>
        <p:spPr>
          <a:xfrm>
            <a:off x="6355080" y="2432304"/>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19" name="card-186"/>
          <p:cNvSpPr/>
          <p:nvPr/>
        </p:nvSpPr>
        <p:spPr>
          <a:xfrm>
            <a:off x="548640" y="2916936"/>
            <a:ext cx="6629400" cy="548640"/>
          </a:xfrm>
          <a:prstGeom prst="roundRect">
            <a:avLst>
              <a:gd name="adj" fmla="val 16667"/>
            </a:avLst>
          </a:prstGeom>
          <a:solidFill>
            <a:srgbClr val="F8F9FA"/>
          </a:solidFill>
          <a:ln w="12700">
            <a:solidFill>
              <a:srgbClr val="F8F9FA"/>
            </a:solidFill>
            <a:prstDash val="solid"/>
          </a:ln>
        </p:spPr>
      </p:sp>
      <p:sp>
        <p:nvSpPr>
          <p:cNvPr id="20" name="text-187"/>
          <p:cNvSpPr txBox="1"/>
          <p:nvPr/>
        </p:nvSpPr>
        <p:spPr>
          <a:xfrm>
            <a:off x="685800" y="2990088"/>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Story that gives the sort a purpose</a:t>
            </a:r>
            <a:endParaRPr lang="en-US" sz="1300" dirty="0"/>
          </a:p>
        </p:txBody>
      </p:sp>
      <p:sp>
        <p:nvSpPr>
          <p:cNvPr id="21" name="pill-188"/>
          <p:cNvSpPr txBox="1"/>
          <p:nvPr/>
        </p:nvSpPr>
        <p:spPr>
          <a:xfrm>
            <a:off x="3794760" y="3035808"/>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22" name="pill-189"/>
          <p:cNvSpPr txBox="1"/>
          <p:nvPr/>
        </p:nvSpPr>
        <p:spPr>
          <a:xfrm>
            <a:off x="4617720" y="3035808"/>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23" name="pill-190"/>
          <p:cNvSpPr txBox="1"/>
          <p:nvPr/>
        </p:nvSpPr>
        <p:spPr>
          <a:xfrm>
            <a:off x="5440680" y="3035808"/>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24" name="pill-191"/>
          <p:cNvSpPr txBox="1"/>
          <p:nvPr/>
        </p:nvSpPr>
        <p:spPr>
          <a:xfrm>
            <a:off x="6355080" y="3035808"/>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25" name="text-192"/>
          <p:cNvSpPr txBox="1"/>
          <p:nvPr/>
        </p:nvSpPr>
        <p:spPr>
          <a:xfrm>
            <a:off x="685800" y="3593592"/>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Algorithm's limits felt (hidden values)</a:t>
            </a:r>
            <a:endParaRPr lang="en-US" sz="1300" dirty="0"/>
          </a:p>
        </p:txBody>
      </p:sp>
      <p:sp>
        <p:nvSpPr>
          <p:cNvPr id="26" name="pill-193"/>
          <p:cNvSpPr txBox="1"/>
          <p:nvPr/>
        </p:nvSpPr>
        <p:spPr>
          <a:xfrm>
            <a:off x="3794760" y="3639312"/>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27" name="pill-194"/>
          <p:cNvSpPr txBox="1"/>
          <p:nvPr/>
        </p:nvSpPr>
        <p:spPr>
          <a:xfrm>
            <a:off x="4617720" y="3639312"/>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28" name="pill-195"/>
          <p:cNvSpPr txBox="1"/>
          <p:nvPr/>
        </p:nvSpPr>
        <p:spPr>
          <a:xfrm>
            <a:off x="5440680" y="3639312"/>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29" name="pill-196"/>
          <p:cNvSpPr txBox="1"/>
          <p:nvPr/>
        </p:nvSpPr>
        <p:spPr>
          <a:xfrm>
            <a:off x="6355080" y="3639312"/>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30" name="card-197"/>
          <p:cNvSpPr/>
          <p:nvPr/>
        </p:nvSpPr>
        <p:spPr>
          <a:xfrm>
            <a:off x="548640" y="4123944"/>
            <a:ext cx="6629400" cy="548640"/>
          </a:xfrm>
          <a:prstGeom prst="roundRect">
            <a:avLst>
              <a:gd name="adj" fmla="val 16667"/>
            </a:avLst>
          </a:prstGeom>
          <a:solidFill>
            <a:srgbClr val="F8F9FA"/>
          </a:solidFill>
          <a:ln w="12700">
            <a:solidFill>
              <a:srgbClr val="F8F9FA"/>
            </a:solidFill>
            <a:prstDash val="solid"/>
          </a:ln>
        </p:spPr>
      </p:sp>
      <p:sp>
        <p:nvSpPr>
          <p:cNvPr id="31" name="text-198"/>
          <p:cNvSpPr txBox="1"/>
          <p:nvPr/>
        </p:nvSpPr>
        <p:spPr>
          <a:xfrm>
            <a:off x="685800" y="4197096"/>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Explains why a move is wrong</a:t>
            </a:r>
            <a:endParaRPr lang="en-US" sz="1300" dirty="0"/>
          </a:p>
        </p:txBody>
      </p:sp>
      <p:sp>
        <p:nvSpPr>
          <p:cNvPr id="32" name="pill-199"/>
          <p:cNvSpPr txBox="1"/>
          <p:nvPr/>
        </p:nvSpPr>
        <p:spPr>
          <a:xfrm>
            <a:off x="3794760" y="4242816"/>
            <a:ext cx="658368" cy="31089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Partly</a:t>
            </a:r>
            <a:endParaRPr lang="en-US" sz="1000" dirty="0"/>
          </a:p>
        </p:txBody>
      </p:sp>
      <p:sp>
        <p:nvSpPr>
          <p:cNvPr id="33" name="pill-200"/>
          <p:cNvSpPr txBox="1"/>
          <p:nvPr/>
        </p:nvSpPr>
        <p:spPr>
          <a:xfrm>
            <a:off x="4617720" y="4242816"/>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34" name="pill-201"/>
          <p:cNvSpPr txBox="1"/>
          <p:nvPr/>
        </p:nvSpPr>
        <p:spPr>
          <a:xfrm>
            <a:off x="5440680" y="4242816"/>
            <a:ext cx="658368" cy="31089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Partly</a:t>
            </a:r>
            <a:endParaRPr lang="en-US" sz="1000" dirty="0"/>
          </a:p>
        </p:txBody>
      </p:sp>
      <p:sp>
        <p:nvSpPr>
          <p:cNvPr id="35" name="pill-202"/>
          <p:cNvSpPr txBox="1"/>
          <p:nvPr/>
        </p:nvSpPr>
        <p:spPr>
          <a:xfrm>
            <a:off x="6355080" y="4242816"/>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36" name="text-203"/>
          <p:cNvSpPr txBox="1"/>
          <p:nvPr/>
        </p:nvSpPr>
        <p:spPr>
          <a:xfrm>
            <a:off x="685800" y="4800600"/>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Cost vs. optimum, across algorithms</a:t>
            </a:r>
            <a:endParaRPr lang="en-US" sz="1300" dirty="0"/>
          </a:p>
        </p:txBody>
      </p:sp>
      <p:sp>
        <p:nvSpPr>
          <p:cNvPr id="37" name="pill-204"/>
          <p:cNvSpPr txBox="1"/>
          <p:nvPr/>
        </p:nvSpPr>
        <p:spPr>
          <a:xfrm>
            <a:off x="3794760" y="4846320"/>
            <a:ext cx="658368" cy="31089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Partly</a:t>
            </a:r>
            <a:endParaRPr lang="en-US" sz="1000" dirty="0"/>
          </a:p>
        </p:txBody>
      </p:sp>
      <p:sp>
        <p:nvSpPr>
          <p:cNvPr id="38" name="pill-205"/>
          <p:cNvSpPr txBox="1"/>
          <p:nvPr/>
        </p:nvSpPr>
        <p:spPr>
          <a:xfrm>
            <a:off x="4617720" y="4846320"/>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39" name="pill-206"/>
          <p:cNvSpPr txBox="1"/>
          <p:nvPr/>
        </p:nvSpPr>
        <p:spPr>
          <a:xfrm>
            <a:off x="5440680" y="4846320"/>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40" name="pill-207"/>
          <p:cNvSpPr txBox="1"/>
          <p:nvPr/>
        </p:nvSpPr>
        <p:spPr>
          <a:xfrm>
            <a:off x="6355080" y="4846320"/>
            <a:ext cx="65836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Yes</a:t>
            </a:r>
            <a:endParaRPr lang="en-US" sz="1000" dirty="0"/>
          </a:p>
        </p:txBody>
      </p:sp>
      <p:sp>
        <p:nvSpPr>
          <p:cNvPr id="41" name="card-208"/>
          <p:cNvSpPr/>
          <p:nvPr/>
        </p:nvSpPr>
        <p:spPr>
          <a:xfrm>
            <a:off x="548640" y="5330952"/>
            <a:ext cx="6629400" cy="548640"/>
          </a:xfrm>
          <a:prstGeom prst="roundRect">
            <a:avLst>
              <a:gd name="adj" fmla="val 16667"/>
            </a:avLst>
          </a:prstGeom>
          <a:solidFill>
            <a:srgbClr val="F8F9FA"/>
          </a:solidFill>
          <a:ln w="12700">
            <a:solidFill>
              <a:srgbClr val="F8F9FA"/>
            </a:solidFill>
            <a:prstDash val="solid"/>
          </a:ln>
        </p:spPr>
      </p:sp>
      <p:sp>
        <p:nvSpPr>
          <p:cNvPr id="42" name="text-209"/>
          <p:cNvSpPr txBox="1"/>
          <p:nvPr/>
        </p:nvSpPr>
        <p:spPr>
          <a:xfrm>
            <a:off x="685800" y="5404104"/>
            <a:ext cx="2880360" cy="402336"/>
          </a:xfrm>
          <a:prstGeom prst="rect">
            <a:avLst/>
          </a:prstGeom>
          <a:noFill/>
          <a:ln/>
        </p:spPr>
        <p:txBody>
          <a:bodyPr wrap="square" lIns="0" tIns="0" rIns="0" bIns="0" rtlCol="0" anchor="ctr"/>
          <a:lstStyle/>
          <a:p>
            <a:pPr indent="0" marL="0">
              <a:buNone/>
            </a:pPr>
            <a:r>
              <a:rPr lang="en-US" sz="1300" dirty="0">
                <a:solidFill>
                  <a:schemeClr val="tx1"/>
                </a:solidFill>
                <a:latin typeface="Arial" pitchFamily="34" charset="0"/>
                <a:ea typeface="Arial" pitchFamily="34" charset="-122"/>
                <a:cs typeface="Arial" pitchFamily="34" charset="-120"/>
              </a:rPr>
              <a:t>Learning measured, incl. delayed test</a:t>
            </a:r>
            <a:endParaRPr lang="en-US" sz="1300" dirty="0"/>
          </a:p>
        </p:txBody>
      </p:sp>
      <p:sp>
        <p:nvSpPr>
          <p:cNvPr id="43" name="pill-210"/>
          <p:cNvSpPr txBox="1"/>
          <p:nvPr/>
        </p:nvSpPr>
        <p:spPr>
          <a:xfrm>
            <a:off x="3794760" y="5449824"/>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44" name="pill-211"/>
          <p:cNvSpPr txBox="1"/>
          <p:nvPr/>
        </p:nvSpPr>
        <p:spPr>
          <a:xfrm>
            <a:off x="4617720" y="5449824"/>
            <a:ext cx="658368" cy="31089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Partly</a:t>
            </a:r>
            <a:endParaRPr lang="en-US" sz="1000" dirty="0"/>
          </a:p>
        </p:txBody>
      </p:sp>
      <p:sp>
        <p:nvSpPr>
          <p:cNvPr id="45" name="pill-212"/>
          <p:cNvSpPr txBox="1"/>
          <p:nvPr/>
        </p:nvSpPr>
        <p:spPr>
          <a:xfrm>
            <a:off x="5440680" y="5449824"/>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tx2"/>
                </a:solidFill>
                <a:latin typeface="Arial" pitchFamily="34" charset="0"/>
                <a:ea typeface="Arial" pitchFamily="34" charset="-122"/>
                <a:cs typeface="Arial" pitchFamily="34" charset="-120"/>
              </a:rPr>
              <a:t>No</a:t>
            </a:r>
            <a:endParaRPr lang="en-US" sz="1000" dirty="0"/>
          </a:p>
        </p:txBody>
      </p:sp>
      <p:sp>
        <p:nvSpPr>
          <p:cNvPr id="46" name="pill-213"/>
          <p:cNvSpPr txBox="1"/>
          <p:nvPr/>
        </p:nvSpPr>
        <p:spPr>
          <a:xfrm>
            <a:off x="6355080" y="5449824"/>
            <a:ext cx="658368" cy="310896"/>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000" b="1" dirty="0">
                <a:solidFill>
                  <a:schemeClr val="accent1"/>
                </a:solidFill>
                <a:latin typeface="Arial" pitchFamily="34" charset="0"/>
                <a:ea typeface="Arial" pitchFamily="34" charset="-122"/>
                <a:cs typeface="Arial" pitchFamily="34" charset="-120"/>
              </a:rPr>
              <a:t>Planned</a:t>
            </a:r>
            <a:endParaRPr lang="en-US" sz="1000" dirty="0"/>
          </a:p>
        </p:txBody>
      </p:sp>
      <p:sp>
        <p:nvSpPr>
          <p:cNvPr id="47" name="text-214"/>
          <p:cNvSpPr txBox="1"/>
          <p:nvPr/>
        </p:nvSpPr>
        <p:spPr>
          <a:xfrm>
            <a:off x="7498080" y="1417320"/>
            <a:ext cx="4142232"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Arial" pitchFamily="34" charset="0"/>
                <a:ea typeface="Arial" pitchFamily="34" charset="-122"/>
                <a:cs typeface="Arial" pitchFamily="34" charset="-120"/>
              </a:rPr>
              <a:t>WHAT THE PAPERS SAY IS STILL MISSING</a:t>
            </a:r>
            <a:endParaRPr lang="en-US" sz="1100" dirty="0"/>
          </a:p>
        </p:txBody>
      </p:sp>
      <p:sp>
        <p:nvSpPr>
          <p:cNvPr id="48" name="card-215"/>
          <p:cNvSpPr/>
          <p:nvPr/>
        </p:nvSpPr>
        <p:spPr>
          <a:xfrm>
            <a:off x="7498080" y="1783080"/>
            <a:ext cx="4142232" cy="987552"/>
          </a:xfrm>
          <a:prstGeom prst="roundRect">
            <a:avLst>
              <a:gd name="adj" fmla="val 9259"/>
            </a:avLst>
          </a:prstGeom>
          <a:solidFill>
            <a:schemeClr val="bg2"/>
          </a:solidFill>
          <a:ln w="12700">
            <a:solidFill>
              <a:schemeClr val="bg2"/>
            </a:solidFill>
            <a:prstDash val="solid"/>
          </a:ln>
        </p:spPr>
      </p:sp>
      <p:sp>
        <p:nvSpPr>
          <p:cNvPr id="49" name="text-216"/>
          <p:cNvSpPr txBox="1"/>
          <p:nvPr/>
        </p:nvSpPr>
        <p:spPr>
          <a:xfrm>
            <a:off x="7680960" y="1874520"/>
            <a:ext cx="3776472" cy="256032"/>
          </a:xfrm>
          <a:prstGeom prst="rect">
            <a:avLst/>
          </a:prstGeom>
          <a:noFill/>
          <a:ln/>
        </p:spPr>
        <p:txBody>
          <a:bodyPr wrap="square" lIns="0" tIns="0" rIns="0" bIns="0" rtlCol="0" anchor="t"/>
          <a:lstStyle/>
          <a:p>
            <a:pPr indent="0" marL="0">
              <a:buNone/>
            </a:pPr>
            <a:r>
              <a:rPr lang="en-US" sz="1200" b="1" dirty="0">
                <a:solidFill>
                  <a:schemeClr val="accent4"/>
                </a:solidFill>
                <a:latin typeface="Arial" pitchFamily="34" charset="0"/>
                <a:ea typeface="Arial" pitchFamily="34" charset="-122"/>
                <a:cs typeface="Arial" pitchFamily="34" charset="-120"/>
              </a:rPr>
              <a:t>Schöller 2025, §7</a:t>
            </a:r>
            <a:endParaRPr lang="en-US" sz="1200" dirty="0"/>
          </a:p>
        </p:txBody>
      </p:sp>
      <p:sp>
        <p:nvSpPr>
          <p:cNvPr id="50" name="text-217"/>
          <p:cNvSpPr txBox="1"/>
          <p:nvPr/>
        </p:nvSpPr>
        <p:spPr>
          <a:xfrm>
            <a:off x="7680960" y="2148840"/>
            <a:ext cx="3776472" cy="566928"/>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Feedback on how efficient the player's own sorting was, compared with the known algorithms; quick and merge sort as next levels.</a:t>
            </a:r>
            <a:endParaRPr lang="en-US" sz="1200" dirty="0"/>
          </a:p>
        </p:txBody>
      </p:sp>
      <p:sp>
        <p:nvSpPr>
          <p:cNvPr id="51" name="card-218"/>
          <p:cNvSpPr/>
          <p:nvPr/>
        </p:nvSpPr>
        <p:spPr>
          <a:xfrm>
            <a:off x="7498080" y="2898648"/>
            <a:ext cx="4142232" cy="987552"/>
          </a:xfrm>
          <a:prstGeom prst="roundRect">
            <a:avLst>
              <a:gd name="adj" fmla="val 9259"/>
            </a:avLst>
          </a:prstGeom>
          <a:solidFill>
            <a:schemeClr val="bg2"/>
          </a:solidFill>
          <a:ln w="12700">
            <a:solidFill>
              <a:schemeClr val="bg2"/>
            </a:solidFill>
            <a:prstDash val="solid"/>
          </a:ln>
        </p:spPr>
      </p:sp>
      <p:sp>
        <p:nvSpPr>
          <p:cNvPr id="52" name="text-219"/>
          <p:cNvSpPr txBox="1"/>
          <p:nvPr/>
        </p:nvSpPr>
        <p:spPr>
          <a:xfrm>
            <a:off x="7680960" y="2990088"/>
            <a:ext cx="3776472" cy="256032"/>
          </a:xfrm>
          <a:prstGeom prst="rect">
            <a:avLst/>
          </a:prstGeom>
          <a:noFill/>
          <a:ln/>
        </p:spPr>
        <p:txBody>
          <a:bodyPr wrap="square" lIns="0" tIns="0" rIns="0" bIns="0" rtlCol="0" anchor="t"/>
          <a:lstStyle/>
          <a:p>
            <a:pPr indent="0" marL="0">
              <a:buNone/>
            </a:pPr>
            <a:r>
              <a:rPr lang="en-US" sz="1200" b="1" dirty="0">
                <a:solidFill>
                  <a:schemeClr val="accent5"/>
                </a:solidFill>
                <a:latin typeface="Arial" pitchFamily="34" charset="0"/>
                <a:ea typeface="Arial" pitchFamily="34" charset="-122"/>
                <a:cs typeface="Arial" pitchFamily="34" charset="-120"/>
              </a:rPr>
              <a:t>Mukasheva et al. 2023, §5</a:t>
            </a:r>
            <a:endParaRPr lang="en-US" sz="1200" dirty="0"/>
          </a:p>
        </p:txBody>
      </p:sp>
      <p:sp>
        <p:nvSpPr>
          <p:cNvPr id="53" name="text-220"/>
          <p:cNvSpPr txBox="1"/>
          <p:nvPr/>
        </p:nvSpPr>
        <p:spPr>
          <a:xfrm>
            <a:off x="7680960" y="3264408"/>
            <a:ext cx="3776472" cy="566928"/>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Tasks applying sorting to new problems stayed low; a wider range of tasks is needed. One university only.</a:t>
            </a:r>
            <a:endParaRPr lang="en-US" sz="1200" dirty="0"/>
          </a:p>
        </p:txBody>
      </p:sp>
      <p:sp>
        <p:nvSpPr>
          <p:cNvPr id="54" name="card-221"/>
          <p:cNvSpPr/>
          <p:nvPr/>
        </p:nvSpPr>
        <p:spPr>
          <a:xfrm>
            <a:off x="7498080" y="4014216"/>
            <a:ext cx="4142232" cy="987552"/>
          </a:xfrm>
          <a:prstGeom prst="roundRect">
            <a:avLst>
              <a:gd name="adj" fmla="val 9259"/>
            </a:avLst>
          </a:prstGeom>
          <a:solidFill>
            <a:schemeClr val="bg2"/>
          </a:solidFill>
          <a:ln w="12700">
            <a:solidFill>
              <a:schemeClr val="bg2"/>
            </a:solidFill>
            <a:prstDash val="solid"/>
          </a:ln>
        </p:spPr>
      </p:sp>
      <p:sp>
        <p:nvSpPr>
          <p:cNvPr id="55" name="text-222"/>
          <p:cNvSpPr txBox="1"/>
          <p:nvPr/>
        </p:nvSpPr>
        <p:spPr>
          <a:xfrm>
            <a:off x="7680960" y="4105656"/>
            <a:ext cx="3776472" cy="256032"/>
          </a:xfrm>
          <a:prstGeom prst="rect">
            <a:avLst/>
          </a:prstGeom>
          <a:noFill/>
          <a:ln/>
        </p:spPr>
        <p:txBody>
          <a:bodyPr wrap="square" lIns="0" tIns="0" rIns="0" bIns="0" rtlCol="0" anchor="t"/>
          <a:lstStyle/>
          <a:p>
            <a:pPr indent="0" marL="0">
              <a:buNone/>
            </a:pPr>
            <a:r>
              <a:rPr lang="en-US" sz="1200" b="1" dirty="0">
                <a:solidFill>
                  <a:schemeClr val="accent6"/>
                </a:solidFill>
                <a:latin typeface="Arial" pitchFamily="34" charset="0"/>
                <a:ea typeface="Arial" pitchFamily="34" charset="-122"/>
                <a:cs typeface="Arial" pitchFamily="34" charset="-120"/>
              </a:rPr>
              <a:t>Sidorov &amp; Cherkasova 2026</a:t>
            </a:r>
            <a:endParaRPr lang="en-US" sz="1200" dirty="0"/>
          </a:p>
        </p:txBody>
      </p:sp>
      <p:sp>
        <p:nvSpPr>
          <p:cNvPr id="56" name="text-223"/>
          <p:cNvSpPr txBox="1"/>
          <p:nvPr/>
        </p:nvSpPr>
        <p:spPr>
          <a:xfrm>
            <a:off x="7680960" y="4379976"/>
            <a:ext cx="3776472" cy="566928"/>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Objective scores and delayed tests with 100+ learners; merge sort; comparing algorithms on the same input.</a:t>
            </a:r>
            <a:endParaRPr lang="en-US" sz="1200" dirty="0"/>
          </a:p>
        </p:txBody>
      </p:sp>
      <p:sp>
        <p:nvSpPr>
          <p:cNvPr id="57" name="card-224"/>
          <p:cNvSpPr/>
          <p:nvPr/>
        </p:nvSpPr>
        <p:spPr>
          <a:xfrm>
            <a:off x="7498080" y="5166360"/>
            <a:ext cx="4142232" cy="1051560"/>
          </a:xfrm>
          <a:prstGeom prst="roundRect">
            <a:avLst>
              <a:gd name="adj" fmla="val 8696"/>
            </a:avLst>
          </a:prstGeom>
          <a:solidFill>
            <a:srgbClr val="FDF0E7"/>
          </a:solidFill>
          <a:ln w="12700">
            <a:solidFill>
              <a:srgbClr val="FDF0E7"/>
            </a:solidFill>
            <a:prstDash val="solid"/>
          </a:ln>
        </p:spPr>
      </p:sp>
      <p:sp>
        <p:nvSpPr>
          <p:cNvPr id="58" name="text-225"/>
          <p:cNvSpPr txBox="1"/>
          <p:nvPr/>
        </p:nvSpPr>
        <p:spPr>
          <a:xfrm>
            <a:off x="7680960" y="5230368"/>
            <a:ext cx="3776472" cy="914400"/>
          </a:xfrm>
          <a:prstGeom prst="rect">
            <a:avLst/>
          </a:prstGeom>
          <a:noFill/>
          <a:ln/>
        </p:spPr>
        <p:txBody>
          <a:bodyPr wrap="square" lIns="0" tIns="0" rIns="0" bIns="0" rtlCol="0" anchor="ctr"/>
          <a:lstStyle/>
          <a:p>
            <a:pPr indent="0" marL="0">
              <a:buNone/>
            </a:pPr>
            <a:r>
              <a:rPr lang="en-US" sz="1300" b="1" dirty="0">
                <a:solidFill>
                  <a:schemeClr val="accent1"/>
                </a:solidFill>
                <a:latin typeface="Arial" pitchFamily="34" charset="0"/>
                <a:ea typeface="Arial" pitchFamily="34" charset="-122"/>
                <a:cs typeface="Arial" pitchFamily="34" charset="-120"/>
              </a:rPr>
              <a:t>Gap: </a:t>
            </a:r>
            <a:pPr indent="0" marL="0">
              <a:buNone/>
            </a:pPr>
            <a:r>
              <a:rPr lang="en-US" sz="1300" dirty="0">
                <a:solidFill>
                  <a:schemeClr val="tx1"/>
                </a:solidFill>
                <a:latin typeface="Arial" pitchFamily="34" charset="0"/>
                <a:ea typeface="Arial" pitchFamily="34" charset="-122"/>
                <a:cs typeface="Arial" pitchFamily="34" charset="-120"/>
              </a:rPr>
              <a:t>a free, hands-on 3D game that makes each rule physical, explains mistakes, compares costs — and is tested on learning, not only liking.</a:t>
            </a:r>
            <a:endParaRPr lang="en-US" sz="13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PROPOSED SOLUTION</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Sort or Stay: sort the room, or stay locked in</a:t>
            </a:r>
            <a:endParaRPr lang="en-US" sz="2800" dirty="0"/>
          </a:p>
        </p:txBody>
      </p:sp>
      <p:sp>
        <p:nvSpPr>
          <p:cNvPr id="4" name="text-226"/>
          <p:cNvSpPr txBox="1"/>
          <p:nvPr/>
        </p:nvSpPr>
        <p:spPr>
          <a:xfrm>
            <a:off x="548640" y="1280160"/>
            <a:ext cx="11091672" cy="502920"/>
          </a:xfrm>
          <a:prstGeom prst="rect">
            <a:avLst/>
          </a:prstGeom>
          <a:noFill/>
          <a:ln/>
        </p:spPr>
        <p:txBody>
          <a:bodyPr wrap="square" lIns="0" tIns="0" rIns="0" bIns="0" rtlCol="0" anchor="t"/>
          <a:lstStyle/>
          <a:p>
            <a:pPr indent="0" marL="0">
              <a:buNone/>
            </a:pPr>
            <a:r>
              <a:rPr lang="en-US" sz="1500" dirty="0">
                <a:solidFill>
                  <a:schemeClr val="tx2"/>
                </a:solidFill>
                <a:latin typeface="Arial" pitchFamily="34" charset="0"/>
                <a:ea typeface="Arial" pitchFamily="34" charset="-122"/>
                <a:cs typeface="Arial" pitchFamily="34" charset="-120"/>
              </a:rPr>
              <a:t>A single-player 3D escape game in Unity 6. You play a realistic human locked in a five-floor building; each floor's exit opens only when its objects are sorted with that floor's algorithm.</a:t>
            </a:r>
            <a:endParaRPr lang="en-US" sz="1500" dirty="0"/>
          </a:p>
        </p:txBody>
      </p:sp>
      <p:sp>
        <p:nvSpPr>
          <p:cNvPr id="5" name="shot-frame-227"/>
          <p:cNvSpPr/>
          <p:nvPr/>
        </p:nvSpPr>
        <p:spPr>
          <a:xfrm>
            <a:off x="530352" y="1856232"/>
            <a:ext cx="2093976" cy="1193864"/>
          </a:xfrm>
          <a:prstGeom prst="rect">
            <a:avLst/>
          </a:prstGeom>
          <a:solidFill>
            <a:srgbClr val="FFFFFF"/>
          </a:solidFill>
          <a:ln w="9525">
            <a:solidFill>
              <a:srgbClr val="C9D0D7"/>
            </a:solidFill>
            <a:prstDash val="solid"/>
          </a:ln>
        </p:spPr>
      </p:sp>
      <p:pic>
        <p:nvPicPr>
          <p:cNvPr id="6" name="shot-228" descr="/tmp/claude-0/-home-claude/8b672690-7cd0-5d59-9493-8eaa2a9a5a93/scratchpad/deck/shots/01_Level1_Bubble_015912_812.jpg">    </p:cNvPr>
          <p:cNvPicPr>
            <a:picLocks noChangeAspect="1"/>
          </p:cNvPicPr>
          <p:nvPr/>
        </p:nvPicPr>
        <p:blipFill>
          <a:blip r:embed="rId1"/>
          <a:stretch>
            <a:fillRect/>
          </a:stretch>
        </p:blipFill>
        <p:spPr>
          <a:xfrm>
            <a:off x="548640" y="1874520"/>
            <a:ext cx="2057400" cy="1157288"/>
          </a:xfrm>
          <a:prstGeom prst="rect">
            <a:avLst/>
          </a:prstGeom>
        </p:spPr>
      </p:pic>
      <p:sp>
        <p:nvSpPr>
          <p:cNvPr id="7" name="pill-229"/>
          <p:cNvSpPr txBox="1"/>
          <p:nvPr/>
        </p:nvSpPr>
        <p:spPr>
          <a:xfrm>
            <a:off x="621792" y="1947672"/>
            <a:ext cx="685800"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Built</a:t>
            </a:r>
            <a:endParaRPr lang="en-US" sz="900" dirty="0"/>
          </a:p>
        </p:txBody>
      </p:sp>
      <p:sp>
        <p:nvSpPr>
          <p:cNvPr id="8" name="pill-230"/>
          <p:cNvSpPr txBox="1"/>
          <p:nvPr/>
        </p:nvSpPr>
        <p:spPr>
          <a:xfrm>
            <a:off x="1664208" y="1947672"/>
            <a:ext cx="868680" cy="237744"/>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900" b="1" dirty="0">
                <a:solidFill>
                  <a:schemeClr val="tx1"/>
                </a:solidFill>
                <a:latin typeface="Arial" pitchFamily="34" charset="0"/>
                <a:ea typeface="Arial" pitchFamily="34" charset="-122"/>
                <a:cs typeface="Arial" pitchFamily="34" charset="-120"/>
              </a:rPr>
              <a:t>Premkumar</a:t>
            </a:r>
            <a:endParaRPr lang="en-US" sz="900" dirty="0"/>
          </a:p>
        </p:txBody>
      </p:sp>
      <p:sp>
        <p:nvSpPr>
          <p:cNvPr id="9" name="text-231"/>
          <p:cNvSpPr txBox="1"/>
          <p:nvPr/>
        </p:nvSpPr>
        <p:spPr>
          <a:xfrm>
            <a:off x="548640" y="3108960"/>
            <a:ext cx="2057400" cy="27432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Floor 1 · Locked Room</a:t>
            </a:r>
            <a:endParaRPr lang="en-US" sz="1300" dirty="0"/>
          </a:p>
        </p:txBody>
      </p:sp>
      <p:sp>
        <p:nvSpPr>
          <p:cNvPr id="10" name="text-232"/>
          <p:cNvSpPr txBox="1"/>
          <p:nvPr/>
        </p:nvSpPr>
        <p:spPr>
          <a:xfrm>
            <a:off x="548640" y="3364992"/>
            <a:ext cx="2057400" cy="256032"/>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Bubble sort</a:t>
            </a:r>
            <a:endParaRPr lang="en-US" sz="1200" dirty="0"/>
          </a:p>
        </p:txBody>
      </p:sp>
      <p:sp>
        <p:nvSpPr>
          <p:cNvPr id="11" name="text-233"/>
          <p:cNvSpPr txBox="1"/>
          <p:nvPr/>
        </p:nvSpPr>
        <p:spPr>
          <a:xfrm>
            <a:off x="548640" y="3611880"/>
            <a:ext cx="2057400" cy="50292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6 keys on hooks; only neighbours may swap</a:t>
            </a:r>
            <a:endParaRPr lang="en-US" sz="1100" dirty="0"/>
          </a:p>
        </p:txBody>
      </p:sp>
      <p:sp>
        <p:nvSpPr>
          <p:cNvPr id="12" name="shot-frame-234"/>
          <p:cNvSpPr/>
          <p:nvPr/>
        </p:nvSpPr>
        <p:spPr>
          <a:xfrm>
            <a:off x="2788920" y="1856232"/>
            <a:ext cx="2093976" cy="1193864"/>
          </a:xfrm>
          <a:prstGeom prst="rect">
            <a:avLst/>
          </a:prstGeom>
          <a:solidFill>
            <a:srgbClr val="FFFFFF"/>
          </a:solidFill>
          <a:ln w="9525">
            <a:solidFill>
              <a:srgbClr val="C9D0D7"/>
            </a:solidFill>
            <a:prstDash val="solid"/>
          </a:ln>
        </p:spPr>
      </p:sp>
      <p:pic>
        <p:nvPicPr>
          <p:cNvPr id="13" name="shot-235" descr="/tmp/claude-0/-home-claude/8b672690-7cd0-5d59-9493-8eaa2a9a5a93/scratchpad/deck/shots/10_Level2_Selection_020206_616.jpg">    </p:cNvPr>
          <p:cNvPicPr>
            <a:picLocks noChangeAspect="1"/>
          </p:cNvPicPr>
          <p:nvPr/>
        </p:nvPicPr>
        <p:blipFill>
          <a:blip r:embed="rId2"/>
          <a:stretch>
            <a:fillRect/>
          </a:stretch>
        </p:blipFill>
        <p:spPr>
          <a:xfrm>
            <a:off x="2807208" y="1874520"/>
            <a:ext cx="2057400" cy="1157288"/>
          </a:xfrm>
          <a:prstGeom prst="rect">
            <a:avLst/>
          </a:prstGeom>
        </p:spPr>
      </p:pic>
      <p:sp>
        <p:nvSpPr>
          <p:cNvPr id="14" name="pill-236"/>
          <p:cNvSpPr txBox="1"/>
          <p:nvPr/>
        </p:nvSpPr>
        <p:spPr>
          <a:xfrm>
            <a:off x="2880360" y="1947672"/>
            <a:ext cx="685800"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Built</a:t>
            </a:r>
            <a:endParaRPr lang="en-US" sz="900" dirty="0"/>
          </a:p>
        </p:txBody>
      </p:sp>
      <p:sp>
        <p:nvSpPr>
          <p:cNvPr id="15" name="pill-237"/>
          <p:cNvSpPr txBox="1"/>
          <p:nvPr/>
        </p:nvSpPr>
        <p:spPr>
          <a:xfrm>
            <a:off x="3922776" y="1947672"/>
            <a:ext cx="868680" cy="237744"/>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900" b="1" dirty="0">
                <a:solidFill>
                  <a:schemeClr val="tx1"/>
                </a:solidFill>
                <a:latin typeface="Arial" pitchFamily="34" charset="0"/>
                <a:ea typeface="Arial" pitchFamily="34" charset="-122"/>
                <a:cs typeface="Arial" pitchFamily="34" charset="-120"/>
              </a:rPr>
              <a:t>Vijaya Teja</a:t>
            </a:r>
            <a:endParaRPr lang="en-US" sz="900" dirty="0"/>
          </a:p>
        </p:txBody>
      </p:sp>
      <p:sp>
        <p:nvSpPr>
          <p:cNvPr id="16" name="text-238"/>
          <p:cNvSpPr txBox="1"/>
          <p:nvPr/>
        </p:nvSpPr>
        <p:spPr>
          <a:xfrm>
            <a:off x="2807208" y="3108960"/>
            <a:ext cx="2057400" cy="27432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Floor 2 · Storage Room</a:t>
            </a:r>
            <a:endParaRPr lang="en-US" sz="1300" dirty="0"/>
          </a:p>
        </p:txBody>
      </p:sp>
      <p:sp>
        <p:nvSpPr>
          <p:cNvPr id="17" name="text-239"/>
          <p:cNvSpPr txBox="1"/>
          <p:nvPr/>
        </p:nvSpPr>
        <p:spPr>
          <a:xfrm>
            <a:off x="2807208" y="3364992"/>
            <a:ext cx="2057400" cy="256032"/>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Selection sort</a:t>
            </a:r>
            <a:endParaRPr lang="en-US" sz="1200" dirty="0"/>
          </a:p>
        </p:txBody>
      </p:sp>
      <p:sp>
        <p:nvSpPr>
          <p:cNvPr id="18" name="text-240"/>
          <p:cNvSpPr txBox="1"/>
          <p:nvPr/>
        </p:nvSpPr>
        <p:spPr>
          <a:xfrm>
            <a:off x="2807208" y="3611880"/>
            <a:ext cx="2057400" cy="50292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7 crates with hidden weights; a crane moves the lightest</a:t>
            </a:r>
            <a:endParaRPr lang="en-US" sz="1100" dirty="0"/>
          </a:p>
        </p:txBody>
      </p:sp>
      <p:sp>
        <p:nvSpPr>
          <p:cNvPr id="19" name="shot-frame-241"/>
          <p:cNvSpPr/>
          <p:nvPr/>
        </p:nvSpPr>
        <p:spPr>
          <a:xfrm>
            <a:off x="5047488" y="1856232"/>
            <a:ext cx="2093976" cy="1193864"/>
          </a:xfrm>
          <a:prstGeom prst="rect">
            <a:avLst/>
          </a:prstGeom>
          <a:solidFill>
            <a:srgbClr val="FFFFFF"/>
          </a:solidFill>
          <a:ln w="9525">
            <a:solidFill>
              <a:srgbClr val="C9D0D7"/>
            </a:solidFill>
            <a:prstDash val="solid"/>
          </a:ln>
        </p:spPr>
      </p:sp>
      <p:pic>
        <p:nvPicPr>
          <p:cNvPr id="20" name="shot-242" descr="/tmp/claude-0/-home-claude/8b672690-7cd0-5d59-9493-8eaa2a9a5a93/scratchpad/deck/shots/19_Level3_Insertion_020629_838.jpg">    </p:cNvPr>
          <p:cNvPicPr>
            <a:picLocks noChangeAspect="1"/>
          </p:cNvPicPr>
          <p:nvPr/>
        </p:nvPicPr>
        <p:blipFill>
          <a:blip r:embed="rId3"/>
          <a:stretch>
            <a:fillRect/>
          </a:stretch>
        </p:blipFill>
        <p:spPr>
          <a:xfrm>
            <a:off x="5065776" y="1874520"/>
            <a:ext cx="2057400" cy="1157288"/>
          </a:xfrm>
          <a:prstGeom prst="rect">
            <a:avLst/>
          </a:prstGeom>
        </p:spPr>
      </p:pic>
      <p:sp>
        <p:nvSpPr>
          <p:cNvPr id="21" name="pill-243"/>
          <p:cNvSpPr txBox="1"/>
          <p:nvPr/>
        </p:nvSpPr>
        <p:spPr>
          <a:xfrm>
            <a:off x="5138928" y="1947672"/>
            <a:ext cx="685800" cy="23774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900" b="1" dirty="0">
                <a:solidFill>
                  <a:schemeClr val="bg1"/>
                </a:solidFill>
                <a:latin typeface="Arial" pitchFamily="34" charset="0"/>
                <a:ea typeface="Arial" pitchFamily="34" charset="-122"/>
                <a:cs typeface="Arial" pitchFamily="34" charset="-120"/>
              </a:rPr>
              <a:t>Built</a:t>
            </a:r>
            <a:endParaRPr lang="en-US" sz="900" dirty="0"/>
          </a:p>
        </p:txBody>
      </p:sp>
      <p:sp>
        <p:nvSpPr>
          <p:cNvPr id="22" name="pill-244"/>
          <p:cNvSpPr txBox="1"/>
          <p:nvPr/>
        </p:nvSpPr>
        <p:spPr>
          <a:xfrm>
            <a:off x="6181344" y="1947672"/>
            <a:ext cx="868680" cy="237744"/>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900" b="1" dirty="0">
                <a:solidFill>
                  <a:schemeClr val="tx1"/>
                </a:solidFill>
                <a:latin typeface="Arial" pitchFamily="34" charset="0"/>
                <a:ea typeface="Arial" pitchFamily="34" charset="-122"/>
                <a:cs typeface="Arial" pitchFamily="34" charset="-120"/>
              </a:rPr>
              <a:t>Uday</a:t>
            </a:r>
            <a:endParaRPr lang="en-US" sz="900" dirty="0"/>
          </a:p>
        </p:txBody>
      </p:sp>
      <p:sp>
        <p:nvSpPr>
          <p:cNvPr id="23" name="text-245"/>
          <p:cNvSpPr txBox="1"/>
          <p:nvPr/>
        </p:nvSpPr>
        <p:spPr>
          <a:xfrm>
            <a:off x="5065776" y="3108960"/>
            <a:ext cx="2057400" cy="27432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Floor 3 · Library</a:t>
            </a:r>
            <a:endParaRPr lang="en-US" sz="1300" dirty="0"/>
          </a:p>
        </p:txBody>
      </p:sp>
      <p:sp>
        <p:nvSpPr>
          <p:cNvPr id="24" name="text-246"/>
          <p:cNvSpPr txBox="1"/>
          <p:nvPr/>
        </p:nvSpPr>
        <p:spPr>
          <a:xfrm>
            <a:off x="5065776" y="3364992"/>
            <a:ext cx="2057400" cy="256032"/>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Insertion sort</a:t>
            </a:r>
            <a:endParaRPr lang="en-US" sz="1200" dirty="0"/>
          </a:p>
        </p:txBody>
      </p:sp>
      <p:sp>
        <p:nvSpPr>
          <p:cNvPr id="25" name="text-247"/>
          <p:cNvSpPr txBox="1"/>
          <p:nvPr/>
        </p:nvSpPr>
        <p:spPr>
          <a:xfrm>
            <a:off x="5065776" y="3611880"/>
            <a:ext cx="2057400" cy="50292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8 books taken in order and slid into shelf gaps</a:t>
            </a:r>
            <a:endParaRPr lang="en-US" sz="1100" dirty="0"/>
          </a:p>
        </p:txBody>
      </p:sp>
      <p:sp>
        <p:nvSpPr>
          <p:cNvPr id="26" name="card-248"/>
          <p:cNvSpPr/>
          <p:nvPr/>
        </p:nvSpPr>
        <p:spPr>
          <a:xfrm>
            <a:off x="7324344" y="1874520"/>
            <a:ext cx="2057400" cy="1157288"/>
          </a:xfrm>
          <a:prstGeom prst="roundRect">
            <a:avLst>
              <a:gd name="adj" fmla="val 7901"/>
            </a:avLst>
          </a:prstGeom>
          <a:solidFill>
            <a:schemeClr val="bg2"/>
          </a:solidFill>
          <a:ln w="12700">
            <a:solidFill>
              <a:schemeClr val="bg2"/>
            </a:solidFill>
            <a:prstDash val="solid"/>
          </a:ln>
        </p:spPr>
      </p:sp>
      <p:sp>
        <p:nvSpPr>
          <p:cNvPr id="27" name="icon-bg-249"/>
          <p:cNvSpPr/>
          <p:nvPr/>
        </p:nvSpPr>
        <p:spPr>
          <a:xfrm>
            <a:off x="8078724" y="2178844"/>
            <a:ext cx="548640" cy="548640"/>
          </a:xfrm>
          <a:prstGeom prst="ellipse">
            <a:avLst/>
          </a:prstGeom>
          <a:solidFill>
            <a:schemeClr val="tx2"/>
          </a:solidFill>
          <a:ln w="12700">
            <a:solidFill>
              <a:schemeClr val="tx2"/>
            </a:solidFill>
            <a:prstDash val="solid"/>
          </a:ln>
        </p:spPr>
      </p:sp>
      <p:pic>
        <p:nvPicPr>
          <p:cNvPr id="28" name="icon-250" descr="preencoded.png">    </p:cNvPr>
          <p:cNvPicPr>
            <a:picLocks noChangeAspect="1"/>
          </p:cNvPicPr>
          <p:nvPr/>
        </p:nvPicPr>
        <p:blipFill>
          <a:blip r:embed="rId4"/>
          <a:stretch>
            <a:fillRect/>
          </a:stretch>
        </p:blipFill>
        <p:spPr>
          <a:xfrm>
            <a:off x="8210398" y="2310517"/>
            <a:ext cx="285293" cy="285293"/>
          </a:xfrm>
          <a:prstGeom prst="rect">
            <a:avLst/>
          </a:prstGeom>
        </p:spPr>
      </p:pic>
      <p:sp>
        <p:nvSpPr>
          <p:cNvPr id="29" name="pill-251"/>
          <p:cNvSpPr txBox="1"/>
          <p:nvPr/>
        </p:nvSpPr>
        <p:spPr>
          <a:xfrm>
            <a:off x="7397496" y="1947672"/>
            <a:ext cx="685800" cy="237744"/>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900" b="1" dirty="0">
                <a:solidFill>
                  <a:schemeClr val="tx1"/>
                </a:solidFill>
                <a:latin typeface="Arial" pitchFamily="34" charset="0"/>
                <a:ea typeface="Arial" pitchFamily="34" charset="-122"/>
                <a:cs typeface="Arial" pitchFamily="34" charset="-120"/>
              </a:rPr>
              <a:t>Next</a:t>
            </a:r>
            <a:endParaRPr lang="en-US" sz="900" dirty="0"/>
          </a:p>
        </p:txBody>
      </p:sp>
      <p:sp>
        <p:nvSpPr>
          <p:cNvPr id="30" name="pill-252"/>
          <p:cNvSpPr txBox="1"/>
          <p:nvPr/>
        </p:nvSpPr>
        <p:spPr>
          <a:xfrm>
            <a:off x="8439912" y="1947672"/>
            <a:ext cx="868680" cy="237744"/>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900" b="1" dirty="0">
                <a:solidFill>
                  <a:schemeClr val="tx1"/>
                </a:solidFill>
                <a:latin typeface="Arial" pitchFamily="34" charset="0"/>
                <a:ea typeface="Arial" pitchFamily="34" charset="-122"/>
                <a:cs typeface="Arial" pitchFamily="34" charset="-120"/>
              </a:rPr>
              <a:t>Premkumar</a:t>
            </a:r>
            <a:endParaRPr lang="en-US" sz="900" dirty="0"/>
          </a:p>
        </p:txBody>
      </p:sp>
      <p:sp>
        <p:nvSpPr>
          <p:cNvPr id="31" name="text-253"/>
          <p:cNvSpPr txBox="1"/>
          <p:nvPr/>
        </p:nvSpPr>
        <p:spPr>
          <a:xfrm>
            <a:off x="7324344" y="3108960"/>
            <a:ext cx="2057400" cy="27432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Floor 4 · Control Room</a:t>
            </a:r>
            <a:endParaRPr lang="en-US" sz="1300" dirty="0"/>
          </a:p>
        </p:txBody>
      </p:sp>
      <p:sp>
        <p:nvSpPr>
          <p:cNvPr id="32" name="text-254"/>
          <p:cNvSpPr txBox="1"/>
          <p:nvPr/>
        </p:nvSpPr>
        <p:spPr>
          <a:xfrm>
            <a:off x="7324344" y="3364992"/>
            <a:ext cx="2057400" cy="256032"/>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Merge sort</a:t>
            </a:r>
            <a:endParaRPr lang="en-US" sz="1200" dirty="0"/>
          </a:p>
        </p:txBody>
      </p:sp>
      <p:sp>
        <p:nvSpPr>
          <p:cNvPr id="33" name="text-255"/>
          <p:cNvSpPr txBox="1"/>
          <p:nvPr/>
        </p:nvSpPr>
        <p:spPr>
          <a:xfrm>
            <a:off x="7324344" y="3611880"/>
            <a:ext cx="2057400" cy="50292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Split, sort halves, merge two queues</a:t>
            </a:r>
            <a:endParaRPr lang="en-US" sz="1100" dirty="0"/>
          </a:p>
        </p:txBody>
      </p:sp>
      <p:sp>
        <p:nvSpPr>
          <p:cNvPr id="34" name="card-256"/>
          <p:cNvSpPr/>
          <p:nvPr/>
        </p:nvSpPr>
        <p:spPr>
          <a:xfrm>
            <a:off x="9582912" y="1874520"/>
            <a:ext cx="2057400" cy="1157288"/>
          </a:xfrm>
          <a:prstGeom prst="roundRect">
            <a:avLst>
              <a:gd name="adj" fmla="val 7901"/>
            </a:avLst>
          </a:prstGeom>
          <a:solidFill>
            <a:schemeClr val="bg2"/>
          </a:solidFill>
          <a:ln w="12700">
            <a:solidFill>
              <a:schemeClr val="bg2"/>
            </a:solidFill>
            <a:prstDash val="solid"/>
          </a:ln>
        </p:spPr>
      </p:sp>
      <p:sp>
        <p:nvSpPr>
          <p:cNvPr id="35" name="icon-bg-257"/>
          <p:cNvSpPr/>
          <p:nvPr/>
        </p:nvSpPr>
        <p:spPr>
          <a:xfrm>
            <a:off x="10337292" y="2178844"/>
            <a:ext cx="548640" cy="548640"/>
          </a:xfrm>
          <a:prstGeom prst="ellipse">
            <a:avLst/>
          </a:prstGeom>
          <a:solidFill>
            <a:schemeClr val="tx2"/>
          </a:solidFill>
          <a:ln w="12700">
            <a:solidFill>
              <a:schemeClr val="tx2"/>
            </a:solidFill>
            <a:prstDash val="solid"/>
          </a:ln>
        </p:spPr>
      </p:sp>
      <p:pic>
        <p:nvPicPr>
          <p:cNvPr id="36" name="icon-258" descr="preencoded.png">    </p:cNvPr>
          <p:cNvPicPr>
            <a:picLocks noChangeAspect="1"/>
          </p:cNvPicPr>
          <p:nvPr/>
        </p:nvPicPr>
        <p:blipFill>
          <a:blip r:embed="rId5"/>
          <a:stretch>
            <a:fillRect/>
          </a:stretch>
        </p:blipFill>
        <p:spPr>
          <a:xfrm>
            <a:off x="10468966" y="2310517"/>
            <a:ext cx="285293" cy="285293"/>
          </a:xfrm>
          <a:prstGeom prst="rect">
            <a:avLst/>
          </a:prstGeom>
        </p:spPr>
      </p:pic>
      <p:sp>
        <p:nvSpPr>
          <p:cNvPr id="37" name="pill-259"/>
          <p:cNvSpPr txBox="1"/>
          <p:nvPr/>
        </p:nvSpPr>
        <p:spPr>
          <a:xfrm>
            <a:off x="9656064" y="1947672"/>
            <a:ext cx="685800" cy="237744"/>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900" b="1" dirty="0">
                <a:solidFill>
                  <a:schemeClr val="tx2"/>
                </a:solidFill>
                <a:latin typeface="Arial" pitchFamily="34" charset="0"/>
                <a:ea typeface="Arial" pitchFamily="34" charset="-122"/>
                <a:cs typeface="Arial" pitchFamily="34" charset="-120"/>
              </a:rPr>
              <a:t>Planned</a:t>
            </a:r>
            <a:endParaRPr lang="en-US" sz="900" dirty="0"/>
          </a:p>
        </p:txBody>
      </p:sp>
      <p:sp>
        <p:nvSpPr>
          <p:cNvPr id="38" name="pill-260"/>
          <p:cNvSpPr txBox="1"/>
          <p:nvPr/>
        </p:nvSpPr>
        <p:spPr>
          <a:xfrm>
            <a:off x="10698480" y="1947672"/>
            <a:ext cx="868680" cy="237744"/>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900" b="1" dirty="0">
                <a:solidFill>
                  <a:schemeClr val="tx1"/>
                </a:solidFill>
                <a:latin typeface="Arial" pitchFamily="34" charset="0"/>
                <a:ea typeface="Arial" pitchFamily="34" charset="-122"/>
                <a:cs typeface="Arial" pitchFamily="34" charset="-120"/>
              </a:rPr>
              <a:t>Vijaya Teja</a:t>
            </a:r>
            <a:endParaRPr lang="en-US" sz="900" dirty="0"/>
          </a:p>
        </p:txBody>
      </p:sp>
      <p:sp>
        <p:nvSpPr>
          <p:cNvPr id="39" name="text-261"/>
          <p:cNvSpPr txBox="1"/>
          <p:nvPr/>
        </p:nvSpPr>
        <p:spPr>
          <a:xfrm>
            <a:off x="9582912" y="3108960"/>
            <a:ext cx="2057400" cy="27432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Floor 5 · Vault</a:t>
            </a:r>
            <a:endParaRPr lang="en-US" sz="1300" dirty="0"/>
          </a:p>
        </p:txBody>
      </p:sp>
      <p:sp>
        <p:nvSpPr>
          <p:cNvPr id="40" name="text-262"/>
          <p:cNvSpPr txBox="1"/>
          <p:nvPr/>
        </p:nvSpPr>
        <p:spPr>
          <a:xfrm>
            <a:off x="9582912" y="3364992"/>
            <a:ext cx="2057400" cy="256032"/>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Quick sort</a:t>
            </a:r>
            <a:endParaRPr lang="en-US" sz="1200" dirty="0"/>
          </a:p>
        </p:txBody>
      </p:sp>
      <p:sp>
        <p:nvSpPr>
          <p:cNvPr id="41" name="text-263"/>
          <p:cNvSpPr txBox="1"/>
          <p:nvPr/>
        </p:nvSpPr>
        <p:spPr>
          <a:xfrm>
            <a:off x="9582912" y="3611880"/>
            <a:ext cx="2057400" cy="502920"/>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Choose a pivot, partition left / right</a:t>
            </a:r>
            <a:endParaRPr lang="en-US" sz="1100" dirty="0"/>
          </a:p>
        </p:txBody>
      </p:sp>
      <p:sp>
        <p:nvSpPr>
          <p:cNvPr id="42" name="text-264"/>
          <p:cNvSpPr txBox="1"/>
          <p:nvPr/>
        </p:nvSpPr>
        <p:spPr>
          <a:xfrm>
            <a:off x="548640" y="4251960"/>
            <a:ext cx="539496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Arial" pitchFamily="34" charset="0"/>
                <a:ea typeface="Arial" pitchFamily="34" charset="-122"/>
                <a:cs typeface="Arial" pitchFamily="34" charset="-120"/>
              </a:rPr>
              <a:t>MAJOR COMPONENTS</a:t>
            </a:r>
            <a:endParaRPr lang="en-US" sz="1100" dirty="0"/>
          </a:p>
        </p:txBody>
      </p:sp>
      <p:sp>
        <p:nvSpPr>
          <p:cNvPr id="43" name="icon-bg-265"/>
          <p:cNvSpPr/>
          <p:nvPr/>
        </p:nvSpPr>
        <p:spPr>
          <a:xfrm>
            <a:off x="548640" y="4599432"/>
            <a:ext cx="384048" cy="384048"/>
          </a:xfrm>
          <a:prstGeom prst="ellipse">
            <a:avLst/>
          </a:prstGeom>
          <a:solidFill>
            <a:schemeClr val="accent1"/>
          </a:solidFill>
          <a:ln w="12700">
            <a:solidFill>
              <a:schemeClr val="accent1"/>
            </a:solidFill>
            <a:prstDash val="solid"/>
          </a:ln>
        </p:spPr>
      </p:sp>
      <p:pic>
        <p:nvPicPr>
          <p:cNvPr id="44" name="icon-266" descr="preencoded.png">    </p:cNvPr>
          <p:cNvPicPr>
            <a:picLocks noChangeAspect="1"/>
          </p:cNvPicPr>
          <p:nvPr/>
        </p:nvPicPr>
        <p:blipFill>
          <a:blip r:embed="rId6"/>
          <a:stretch>
            <a:fillRect/>
          </a:stretch>
        </p:blipFill>
        <p:spPr>
          <a:xfrm>
            <a:off x="640812" y="4691604"/>
            <a:ext cx="199705" cy="199705"/>
          </a:xfrm>
          <a:prstGeom prst="rect">
            <a:avLst/>
          </a:prstGeom>
        </p:spPr>
      </p:pic>
      <p:sp>
        <p:nvSpPr>
          <p:cNvPr id="45" name="text-267"/>
          <p:cNvSpPr txBox="1"/>
          <p:nvPr/>
        </p:nvSpPr>
        <p:spPr>
          <a:xfrm>
            <a:off x="1024128" y="4572000"/>
            <a:ext cx="2148840" cy="777240"/>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Player &amp; controls</a:t>
            </a:r>
            <a:endParaRPr lang="en-US" sz="1100" dirty="0"/>
          </a:p>
          <a:p>
            <a:pPr indent="0" marL="0">
              <a:buNone/>
            </a:pPr>
            <a:r>
              <a:rPr lang="en-US" sz="1100" dirty="0">
                <a:solidFill>
                  <a:schemeClr val="tx2"/>
                </a:solidFill>
                <a:latin typeface="Arial" pitchFamily="34" charset="0"/>
                <a:ea typeface="Arial" pitchFamily="34" charset="-122"/>
                <a:cs typeface="Arial" pitchFamily="34" charset="-120"/>
              </a:rPr>
              <a:t>realistic avatars, click-to-walk, 1st/3rd person</a:t>
            </a:r>
            <a:endParaRPr lang="en-US" sz="1100" dirty="0"/>
          </a:p>
        </p:txBody>
      </p:sp>
      <p:sp>
        <p:nvSpPr>
          <p:cNvPr id="46" name="icon-bg-268"/>
          <p:cNvSpPr/>
          <p:nvPr/>
        </p:nvSpPr>
        <p:spPr>
          <a:xfrm>
            <a:off x="3291840" y="4599432"/>
            <a:ext cx="384048" cy="384048"/>
          </a:xfrm>
          <a:prstGeom prst="ellipse">
            <a:avLst/>
          </a:prstGeom>
          <a:solidFill>
            <a:schemeClr val="accent1"/>
          </a:solidFill>
          <a:ln w="12700">
            <a:solidFill>
              <a:schemeClr val="accent1"/>
            </a:solidFill>
            <a:prstDash val="solid"/>
          </a:ln>
        </p:spPr>
      </p:sp>
      <p:pic>
        <p:nvPicPr>
          <p:cNvPr id="47" name="icon-269" descr="preencoded.png">    </p:cNvPr>
          <p:cNvPicPr>
            <a:picLocks noChangeAspect="1"/>
          </p:cNvPicPr>
          <p:nvPr/>
        </p:nvPicPr>
        <p:blipFill>
          <a:blip r:embed="rId7"/>
          <a:stretch>
            <a:fillRect/>
          </a:stretch>
        </p:blipFill>
        <p:spPr>
          <a:xfrm>
            <a:off x="3384012" y="4691604"/>
            <a:ext cx="199705" cy="199705"/>
          </a:xfrm>
          <a:prstGeom prst="rect">
            <a:avLst/>
          </a:prstGeom>
        </p:spPr>
      </p:pic>
      <p:sp>
        <p:nvSpPr>
          <p:cNvPr id="48" name="text-270"/>
          <p:cNvSpPr txBox="1"/>
          <p:nvPr/>
        </p:nvSpPr>
        <p:spPr>
          <a:xfrm>
            <a:off x="3767328" y="4572000"/>
            <a:ext cx="2148840" cy="777240"/>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Rule checker</a:t>
            </a:r>
            <a:endParaRPr lang="en-US" sz="1100" dirty="0"/>
          </a:p>
          <a:p>
            <a:pPr indent="0" marL="0">
              <a:buNone/>
            </a:pPr>
            <a:r>
              <a:rPr lang="en-US" sz="1100" dirty="0">
                <a:solidFill>
                  <a:schemeClr val="tx2"/>
                </a:solidFill>
                <a:latin typeface="Arial" pitchFamily="34" charset="0"/>
                <a:ea typeface="Arial" pitchFamily="34" charset="-122"/>
                <a:cs typeface="Arial" pitchFamily="34" charset="-120"/>
              </a:rPr>
              <a:t>one puzzle script per algorithm validates each move</a:t>
            </a:r>
            <a:endParaRPr lang="en-US" sz="1100" dirty="0"/>
          </a:p>
        </p:txBody>
      </p:sp>
      <p:sp>
        <p:nvSpPr>
          <p:cNvPr id="49" name="icon-bg-271"/>
          <p:cNvSpPr/>
          <p:nvPr/>
        </p:nvSpPr>
        <p:spPr>
          <a:xfrm>
            <a:off x="548640" y="5440680"/>
            <a:ext cx="384048" cy="384048"/>
          </a:xfrm>
          <a:prstGeom prst="ellipse">
            <a:avLst/>
          </a:prstGeom>
          <a:solidFill>
            <a:schemeClr val="accent1"/>
          </a:solidFill>
          <a:ln w="12700">
            <a:solidFill>
              <a:schemeClr val="accent1"/>
            </a:solidFill>
            <a:prstDash val="solid"/>
          </a:ln>
        </p:spPr>
      </p:sp>
      <p:pic>
        <p:nvPicPr>
          <p:cNvPr id="50" name="icon-272" descr="preencoded.png">    </p:cNvPr>
          <p:cNvPicPr>
            <a:picLocks noChangeAspect="1"/>
          </p:cNvPicPr>
          <p:nvPr/>
        </p:nvPicPr>
        <p:blipFill>
          <a:blip r:embed="rId8"/>
          <a:stretch>
            <a:fillRect/>
          </a:stretch>
        </p:blipFill>
        <p:spPr>
          <a:xfrm>
            <a:off x="640812" y="5532852"/>
            <a:ext cx="199705" cy="199705"/>
          </a:xfrm>
          <a:prstGeom prst="rect">
            <a:avLst/>
          </a:prstGeom>
        </p:spPr>
      </p:pic>
      <p:sp>
        <p:nvSpPr>
          <p:cNvPr id="51" name="text-273"/>
          <p:cNvSpPr txBox="1"/>
          <p:nvPr/>
        </p:nvSpPr>
        <p:spPr>
          <a:xfrm>
            <a:off x="1024128" y="5413248"/>
            <a:ext cx="2148840" cy="777240"/>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Feedback layer</a:t>
            </a:r>
            <a:endParaRPr lang="en-US" sz="1100" dirty="0"/>
          </a:p>
          <a:p>
            <a:pPr indent="0" marL="0">
              <a:buNone/>
            </a:pPr>
            <a:r>
              <a:rPr lang="en-US" sz="1100" dirty="0">
                <a:solidFill>
                  <a:schemeClr val="tx2"/>
                </a:solidFill>
                <a:latin typeface="Arial" pitchFamily="34" charset="0"/>
                <a:ea typeface="Arial" pitchFamily="34" charset="-122"/>
                <a:cs typeface="Arial" pitchFamily="34" charset="-120"/>
              </a:rPr>
              <a:t>why-messages, hints, gestures, debrief cards</a:t>
            </a:r>
            <a:endParaRPr lang="en-US" sz="1100" dirty="0"/>
          </a:p>
        </p:txBody>
      </p:sp>
      <p:sp>
        <p:nvSpPr>
          <p:cNvPr id="52" name="icon-bg-274"/>
          <p:cNvSpPr/>
          <p:nvPr/>
        </p:nvSpPr>
        <p:spPr>
          <a:xfrm>
            <a:off x="3291840" y="5440680"/>
            <a:ext cx="384048" cy="384048"/>
          </a:xfrm>
          <a:prstGeom prst="ellipse">
            <a:avLst/>
          </a:prstGeom>
          <a:solidFill>
            <a:schemeClr val="accent1"/>
          </a:solidFill>
          <a:ln w="12700">
            <a:solidFill>
              <a:schemeClr val="accent1"/>
            </a:solidFill>
            <a:prstDash val="solid"/>
          </a:ln>
        </p:spPr>
      </p:sp>
      <p:pic>
        <p:nvPicPr>
          <p:cNvPr id="53" name="icon-275" descr="preencoded.png">    </p:cNvPr>
          <p:cNvPicPr>
            <a:picLocks noChangeAspect="1"/>
          </p:cNvPicPr>
          <p:nvPr/>
        </p:nvPicPr>
        <p:blipFill>
          <a:blip r:embed="rId9"/>
          <a:stretch>
            <a:fillRect/>
          </a:stretch>
        </p:blipFill>
        <p:spPr>
          <a:xfrm>
            <a:off x="3384012" y="5532852"/>
            <a:ext cx="199705" cy="199705"/>
          </a:xfrm>
          <a:prstGeom prst="rect">
            <a:avLst/>
          </a:prstGeom>
        </p:spPr>
      </p:pic>
      <p:sp>
        <p:nvSpPr>
          <p:cNvPr id="54" name="text-276"/>
          <p:cNvSpPr txBox="1"/>
          <p:nvPr/>
        </p:nvSpPr>
        <p:spPr>
          <a:xfrm>
            <a:off x="3767328" y="5413248"/>
            <a:ext cx="2148840" cy="777240"/>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Progress</a:t>
            </a:r>
            <a:endParaRPr lang="en-US" sz="1100" dirty="0"/>
          </a:p>
          <a:p>
            <a:pPr indent="0" marL="0">
              <a:buNone/>
            </a:pPr>
            <a:r>
              <a:rPr lang="en-US" sz="1100" dirty="0">
                <a:solidFill>
                  <a:schemeClr val="tx2"/>
                </a:solidFill>
                <a:latin typeface="Arial" pitchFamily="34" charset="0"/>
                <a:ea typeface="Arial" pitchFamily="34" charset="-122"/>
                <a:cs typeface="Arial" pitchFamily="34" charset="-120"/>
              </a:rPr>
              <a:t>level manager, game state, cross-floor scoreboard</a:t>
            </a:r>
            <a:endParaRPr lang="en-US" sz="1100" dirty="0"/>
          </a:p>
        </p:txBody>
      </p:sp>
      <p:sp>
        <p:nvSpPr>
          <p:cNvPr id="55" name="text-277"/>
          <p:cNvSpPr txBox="1"/>
          <p:nvPr/>
        </p:nvSpPr>
        <p:spPr>
          <a:xfrm>
            <a:off x="6263640" y="4251960"/>
            <a:ext cx="539496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Arial" pitchFamily="34" charset="0"/>
                <a:ea typeface="Arial" pitchFamily="34" charset="-122"/>
                <a:cs typeface="Arial" pitchFamily="34" charset="-120"/>
              </a:rPr>
              <a:t>HOW IT ADDRESSES THE PROBLEM AND GAP</a:t>
            </a:r>
            <a:endParaRPr lang="en-US" sz="1100" dirty="0"/>
          </a:p>
        </p:txBody>
      </p:sp>
      <p:sp>
        <p:nvSpPr>
          <p:cNvPr id="56" name="text-278"/>
          <p:cNvSpPr txBox="1"/>
          <p:nvPr/>
        </p:nvSpPr>
        <p:spPr>
          <a:xfrm>
            <a:off x="6263640" y="4572000"/>
            <a:ext cx="5394960" cy="384048"/>
          </a:xfrm>
          <a:prstGeom prst="rect">
            <a:avLst/>
          </a:prstGeom>
          <a:noFill/>
          <a:ln/>
        </p:spPr>
        <p:txBody>
          <a:bodyPr wrap="square" lIns="0" tIns="0" rIns="0" bIns="0" rtlCol="0" anchor="ctr"/>
          <a:lstStyle/>
          <a:p>
            <a:pPr indent="0" marL="0">
              <a:buNone/>
            </a:pPr>
            <a:r>
              <a:rPr lang="en-US" sz="1300" b="1" dirty="0">
                <a:solidFill>
                  <a:schemeClr val="accent1"/>
                </a:solidFill>
                <a:latin typeface="Arial" pitchFamily="34" charset="0"/>
                <a:ea typeface="Arial" pitchFamily="34" charset="-122"/>
                <a:cs typeface="Arial" pitchFamily="34" charset="-120"/>
              </a:rPr>
              <a:t>Passive learning  →  </a:t>
            </a:r>
            <a:pPr indent="0" marL="0">
              <a:buNone/>
            </a:pPr>
            <a:r>
              <a:rPr lang="en-US" sz="1300" dirty="0">
                <a:solidFill>
                  <a:schemeClr val="tx1"/>
                </a:solidFill>
                <a:latin typeface="Arial" pitchFamily="34" charset="0"/>
                <a:ea typeface="Arial" pitchFamily="34" charset="-122"/>
                <a:cs typeface="Arial" pitchFamily="34" charset="-120"/>
              </a:rPr>
              <a:t>you perform every swap, weigh and insert yourself</a:t>
            </a:r>
            <a:endParaRPr lang="en-US" sz="1300" dirty="0"/>
          </a:p>
        </p:txBody>
      </p:sp>
      <p:sp>
        <p:nvSpPr>
          <p:cNvPr id="57" name="text-279"/>
          <p:cNvSpPr txBox="1"/>
          <p:nvPr/>
        </p:nvSpPr>
        <p:spPr>
          <a:xfrm>
            <a:off x="6263640" y="4983480"/>
            <a:ext cx="5394960" cy="384048"/>
          </a:xfrm>
          <a:prstGeom prst="rect">
            <a:avLst/>
          </a:prstGeom>
          <a:noFill/>
          <a:ln/>
        </p:spPr>
        <p:txBody>
          <a:bodyPr wrap="square" lIns="0" tIns="0" rIns="0" bIns="0" rtlCol="0" anchor="ctr"/>
          <a:lstStyle/>
          <a:p>
            <a:pPr indent="0" marL="0">
              <a:buNone/>
            </a:pPr>
            <a:r>
              <a:rPr lang="en-US" sz="1300" b="1" dirty="0">
                <a:solidFill>
                  <a:schemeClr val="accent1"/>
                </a:solidFill>
                <a:latin typeface="Arial" pitchFamily="34" charset="0"/>
                <a:ea typeface="Arial" pitchFamily="34" charset="-122"/>
                <a:cs typeface="Arial" pitchFamily="34" charset="-120"/>
              </a:rPr>
              <a:t>Abstract or costly  →  </a:t>
            </a:r>
            <a:pPr indent="0" marL="0">
              <a:buNone/>
            </a:pPr>
            <a:r>
              <a:rPr lang="en-US" sz="1300" dirty="0">
                <a:solidFill>
                  <a:schemeClr val="tx1"/>
                </a:solidFill>
                <a:latin typeface="Arial" pitchFamily="34" charset="0"/>
                <a:ea typeface="Arial" pitchFamily="34" charset="-122"/>
                <a:cs typeface="Arial" pitchFamily="34" charset="-120"/>
              </a:rPr>
              <a:t>a 3D world on an ordinary laptop, no headset</a:t>
            </a:r>
            <a:endParaRPr lang="en-US" sz="1300" dirty="0"/>
          </a:p>
        </p:txBody>
      </p:sp>
      <p:sp>
        <p:nvSpPr>
          <p:cNvPr id="58" name="text-280"/>
          <p:cNvSpPr txBox="1"/>
          <p:nvPr/>
        </p:nvSpPr>
        <p:spPr>
          <a:xfrm>
            <a:off x="6263640" y="5394960"/>
            <a:ext cx="5394960" cy="384048"/>
          </a:xfrm>
          <a:prstGeom prst="rect">
            <a:avLst/>
          </a:prstGeom>
          <a:noFill/>
          <a:ln/>
        </p:spPr>
        <p:txBody>
          <a:bodyPr wrap="square" lIns="0" tIns="0" rIns="0" bIns="0" rtlCol="0" anchor="ctr"/>
          <a:lstStyle/>
          <a:p>
            <a:pPr indent="0" marL="0">
              <a:buNone/>
            </a:pPr>
            <a:r>
              <a:rPr lang="en-US" sz="1300" b="1" dirty="0">
                <a:solidFill>
                  <a:schemeClr val="accent1"/>
                </a:solidFill>
                <a:latin typeface="Arial" pitchFamily="34" charset="0"/>
                <a:ea typeface="Arial" pitchFamily="34" charset="-122"/>
                <a:cs typeface="Arial" pitchFamily="34" charset="-120"/>
              </a:rPr>
              <a:t>No 'why'  →  </a:t>
            </a:r>
            <a:pPr indent="0" marL="0">
              <a:buNone/>
            </a:pPr>
            <a:r>
              <a:rPr lang="en-US" sz="1300" dirty="0">
                <a:solidFill>
                  <a:schemeClr val="tx1"/>
                </a:solidFill>
                <a:latin typeface="Arial" pitchFamily="34" charset="0"/>
                <a:ea typeface="Arial" pitchFamily="34" charset="-122"/>
                <a:cs typeface="Arial" pitchFamily="34" charset="-120"/>
              </a:rPr>
              <a:t>each wrong move gets a reason; hints explain the next step</a:t>
            </a:r>
            <a:endParaRPr lang="en-US" sz="1300" dirty="0"/>
          </a:p>
        </p:txBody>
      </p:sp>
      <p:sp>
        <p:nvSpPr>
          <p:cNvPr id="59" name="text-281"/>
          <p:cNvSpPr txBox="1"/>
          <p:nvPr/>
        </p:nvSpPr>
        <p:spPr>
          <a:xfrm>
            <a:off x="6263640" y="5806440"/>
            <a:ext cx="5394960" cy="384048"/>
          </a:xfrm>
          <a:prstGeom prst="rect">
            <a:avLst/>
          </a:prstGeom>
          <a:noFill/>
          <a:ln/>
        </p:spPr>
        <p:txBody>
          <a:bodyPr wrap="square" lIns="0" tIns="0" rIns="0" bIns="0" rtlCol="0" anchor="ctr"/>
          <a:lstStyle/>
          <a:p>
            <a:pPr indent="0" marL="0">
              <a:buNone/>
            </a:pPr>
            <a:r>
              <a:rPr lang="en-US" sz="1300" b="1" dirty="0">
                <a:solidFill>
                  <a:schemeClr val="accent1"/>
                </a:solidFill>
                <a:latin typeface="Arial" pitchFamily="34" charset="0"/>
                <a:ea typeface="Arial" pitchFamily="34" charset="-122"/>
                <a:cs typeface="Arial" pitchFamily="34" charset="-120"/>
              </a:rPr>
              <a:t>Cost unseen  →  </a:t>
            </a:r>
            <a:pPr indent="0" marL="0">
              <a:buNone/>
            </a:pPr>
            <a:r>
              <a:rPr lang="en-US" sz="1300" dirty="0">
                <a:solidFill>
                  <a:schemeClr val="tx1"/>
                </a:solidFill>
                <a:latin typeface="Arial" pitchFamily="34" charset="0"/>
                <a:ea typeface="Arial" pitchFamily="34" charset="-122"/>
                <a:cs typeface="Arial" pitchFamily="34" charset="-120"/>
              </a:rPr>
              <a:t>debrief compares your moves with the fewest possible</a:t>
            </a:r>
            <a:endParaRPr lang="en-US" sz="13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GAME DESIGN</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Each room's rule is the algorithm</a:t>
            </a:r>
            <a:endParaRPr lang="en-US" sz="2800" dirty="0"/>
          </a:p>
        </p:txBody>
      </p:sp>
      <p:sp>
        <p:nvSpPr>
          <p:cNvPr id="4" name="card-282"/>
          <p:cNvSpPr/>
          <p:nvPr/>
        </p:nvSpPr>
        <p:spPr>
          <a:xfrm>
            <a:off x="548640" y="1463040"/>
            <a:ext cx="2615184" cy="2240280"/>
          </a:xfrm>
          <a:prstGeom prst="roundRect">
            <a:avLst>
              <a:gd name="adj" fmla="val 4082"/>
            </a:avLst>
          </a:prstGeom>
          <a:solidFill>
            <a:schemeClr val="bg2"/>
          </a:solidFill>
          <a:ln w="12700">
            <a:solidFill>
              <a:schemeClr val="bg2"/>
            </a:solidFill>
            <a:prstDash val="solid"/>
          </a:ln>
        </p:spPr>
      </p:sp>
      <p:sp>
        <p:nvSpPr>
          <p:cNvPr id="5" name="icon-bg-283"/>
          <p:cNvSpPr/>
          <p:nvPr/>
        </p:nvSpPr>
        <p:spPr>
          <a:xfrm>
            <a:off x="731520" y="1645920"/>
            <a:ext cx="420624" cy="420624"/>
          </a:xfrm>
          <a:prstGeom prst="ellipse">
            <a:avLst/>
          </a:prstGeom>
          <a:solidFill>
            <a:schemeClr val="accent1"/>
          </a:solidFill>
          <a:ln w="12700">
            <a:solidFill>
              <a:schemeClr val="accent1"/>
            </a:solidFill>
            <a:prstDash val="solid"/>
          </a:ln>
        </p:spPr>
      </p:sp>
      <p:pic>
        <p:nvPicPr>
          <p:cNvPr id="6" name="icon-284" descr="preencoded.png">    </p:cNvPr>
          <p:cNvPicPr>
            <a:picLocks noChangeAspect="1"/>
          </p:cNvPicPr>
          <p:nvPr/>
        </p:nvPicPr>
        <p:blipFill>
          <a:blip r:embed="rId1"/>
          <a:stretch>
            <a:fillRect/>
          </a:stretch>
        </p:blipFill>
        <p:spPr>
          <a:xfrm>
            <a:off x="832470" y="1746870"/>
            <a:ext cx="218724" cy="218724"/>
          </a:xfrm>
          <a:prstGeom prst="rect">
            <a:avLst/>
          </a:prstGeom>
        </p:spPr>
      </p:pic>
      <p:sp>
        <p:nvSpPr>
          <p:cNvPr id="7" name="text-285"/>
          <p:cNvSpPr txBox="1"/>
          <p:nvPr/>
        </p:nvSpPr>
        <p:spPr>
          <a:xfrm>
            <a:off x="1261872" y="164592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Mechanics</a:t>
            </a:r>
            <a:endParaRPr lang="en-US" sz="1600" dirty="0"/>
          </a:p>
        </p:txBody>
      </p:sp>
      <p:sp>
        <p:nvSpPr>
          <p:cNvPr id="8" name="text-286"/>
          <p:cNvSpPr txBox="1"/>
          <p:nvPr/>
        </p:nvSpPr>
        <p:spPr>
          <a:xfrm>
            <a:off x="731520" y="221284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Pick, swap neighbours, weigh (Q), crane move, fetch (F), insert into a gap, hint (H). Every move is checked.</a:t>
            </a:r>
            <a:endParaRPr lang="en-US" sz="1400" dirty="0"/>
          </a:p>
        </p:txBody>
      </p:sp>
      <p:sp>
        <p:nvSpPr>
          <p:cNvPr id="9" name="card-287"/>
          <p:cNvSpPr/>
          <p:nvPr/>
        </p:nvSpPr>
        <p:spPr>
          <a:xfrm>
            <a:off x="3374136" y="1463040"/>
            <a:ext cx="2615184" cy="2240280"/>
          </a:xfrm>
          <a:prstGeom prst="roundRect">
            <a:avLst>
              <a:gd name="adj" fmla="val 4082"/>
            </a:avLst>
          </a:prstGeom>
          <a:solidFill>
            <a:schemeClr val="bg2"/>
          </a:solidFill>
          <a:ln w="12700">
            <a:solidFill>
              <a:schemeClr val="bg2"/>
            </a:solidFill>
            <a:prstDash val="solid"/>
          </a:ln>
        </p:spPr>
      </p:sp>
      <p:sp>
        <p:nvSpPr>
          <p:cNvPr id="10" name="icon-bg-288"/>
          <p:cNvSpPr/>
          <p:nvPr/>
        </p:nvSpPr>
        <p:spPr>
          <a:xfrm>
            <a:off x="3557016" y="1645920"/>
            <a:ext cx="420624" cy="420624"/>
          </a:xfrm>
          <a:prstGeom prst="ellipse">
            <a:avLst/>
          </a:prstGeom>
          <a:solidFill>
            <a:schemeClr val="accent1"/>
          </a:solidFill>
          <a:ln w="12700">
            <a:solidFill>
              <a:schemeClr val="accent1"/>
            </a:solidFill>
            <a:prstDash val="solid"/>
          </a:ln>
        </p:spPr>
      </p:sp>
      <p:pic>
        <p:nvPicPr>
          <p:cNvPr id="11" name="icon-289" descr="preencoded.png">    </p:cNvPr>
          <p:cNvPicPr>
            <a:picLocks noChangeAspect="1"/>
          </p:cNvPicPr>
          <p:nvPr/>
        </p:nvPicPr>
        <p:blipFill>
          <a:blip r:embed="rId2"/>
          <a:stretch>
            <a:fillRect/>
          </a:stretch>
        </p:blipFill>
        <p:spPr>
          <a:xfrm>
            <a:off x="3657966" y="1746870"/>
            <a:ext cx="218724" cy="218724"/>
          </a:xfrm>
          <a:prstGeom prst="rect">
            <a:avLst/>
          </a:prstGeom>
        </p:spPr>
      </p:pic>
      <p:sp>
        <p:nvSpPr>
          <p:cNvPr id="12" name="text-290"/>
          <p:cNvSpPr txBox="1"/>
          <p:nvPr/>
        </p:nvSpPr>
        <p:spPr>
          <a:xfrm>
            <a:off x="4087368" y="164592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Dynamics</a:t>
            </a:r>
            <a:endParaRPr lang="en-US" sz="1600" dirty="0"/>
          </a:p>
        </p:txBody>
      </p:sp>
      <p:sp>
        <p:nvSpPr>
          <p:cNvPr id="13" name="text-291"/>
          <p:cNvSpPr txBox="1"/>
          <p:nvPr/>
        </p:nvSpPr>
        <p:spPr>
          <a:xfrm>
            <a:off x="3557016" y="221284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Players plan passes, re-weigh every crate because selection sort forgets, and watch books shift right.</a:t>
            </a:r>
            <a:endParaRPr lang="en-US" sz="1400" dirty="0"/>
          </a:p>
        </p:txBody>
      </p:sp>
      <p:sp>
        <p:nvSpPr>
          <p:cNvPr id="14" name="card-292"/>
          <p:cNvSpPr/>
          <p:nvPr/>
        </p:nvSpPr>
        <p:spPr>
          <a:xfrm>
            <a:off x="6199632" y="1463040"/>
            <a:ext cx="2615184" cy="2240280"/>
          </a:xfrm>
          <a:prstGeom prst="roundRect">
            <a:avLst>
              <a:gd name="adj" fmla="val 4082"/>
            </a:avLst>
          </a:prstGeom>
          <a:solidFill>
            <a:schemeClr val="bg2"/>
          </a:solidFill>
          <a:ln w="12700">
            <a:solidFill>
              <a:schemeClr val="bg2"/>
            </a:solidFill>
            <a:prstDash val="solid"/>
          </a:ln>
        </p:spPr>
      </p:sp>
      <p:sp>
        <p:nvSpPr>
          <p:cNvPr id="15" name="icon-bg-293"/>
          <p:cNvSpPr/>
          <p:nvPr/>
        </p:nvSpPr>
        <p:spPr>
          <a:xfrm>
            <a:off x="6382512" y="1645920"/>
            <a:ext cx="420624" cy="420624"/>
          </a:xfrm>
          <a:prstGeom prst="ellipse">
            <a:avLst/>
          </a:prstGeom>
          <a:solidFill>
            <a:schemeClr val="accent1"/>
          </a:solidFill>
          <a:ln w="12700">
            <a:solidFill>
              <a:schemeClr val="accent1"/>
            </a:solidFill>
            <a:prstDash val="solid"/>
          </a:ln>
        </p:spPr>
      </p:sp>
      <p:pic>
        <p:nvPicPr>
          <p:cNvPr id="16" name="icon-294" descr="preencoded.png">    </p:cNvPr>
          <p:cNvPicPr>
            <a:picLocks noChangeAspect="1"/>
          </p:cNvPicPr>
          <p:nvPr/>
        </p:nvPicPr>
        <p:blipFill>
          <a:blip r:embed="rId3"/>
          <a:stretch>
            <a:fillRect/>
          </a:stretch>
        </p:blipFill>
        <p:spPr>
          <a:xfrm>
            <a:off x="6483462" y="1746870"/>
            <a:ext cx="218724" cy="218724"/>
          </a:xfrm>
          <a:prstGeom prst="rect">
            <a:avLst/>
          </a:prstGeom>
        </p:spPr>
      </p:pic>
      <p:sp>
        <p:nvSpPr>
          <p:cNvPr id="17" name="text-295"/>
          <p:cNvSpPr txBox="1"/>
          <p:nvPr/>
        </p:nvSpPr>
        <p:spPr>
          <a:xfrm>
            <a:off x="6912864" y="164592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Aesthetics</a:t>
            </a:r>
            <a:endParaRPr lang="en-US" sz="1600" dirty="0"/>
          </a:p>
        </p:txBody>
      </p:sp>
      <p:sp>
        <p:nvSpPr>
          <p:cNvPr id="18" name="text-296"/>
          <p:cNvSpPr txBox="1"/>
          <p:nvPr/>
        </p:nvSpPr>
        <p:spPr>
          <a:xfrm>
            <a:off x="6382512" y="221284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Bright, realistic rooms, a realistic human avatar, sound for every thud, scan and page.</a:t>
            </a:r>
            <a:endParaRPr lang="en-US" sz="1400" dirty="0"/>
          </a:p>
        </p:txBody>
      </p:sp>
      <p:sp>
        <p:nvSpPr>
          <p:cNvPr id="19" name="card-297"/>
          <p:cNvSpPr/>
          <p:nvPr/>
        </p:nvSpPr>
        <p:spPr>
          <a:xfrm>
            <a:off x="9025128" y="1463040"/>
            <a:ext cx="2615184" cy="2240280"/>
          </a:xfrm>
          <a:prstGeom prst="roundRect">
            <a:avLst>
              <a:gd name="adj" fmla="val 4082"/>
            </a:avLst>
          </a:prstGeom>
          <a:solidFill>
            <a:schemeClr val="bg2"/>
          </a:solidFill>
          <a:ln w="12700">
            <a:solidFill>
              <a:schemeClr val="bg2"/>
            </a:solidFill>
            <a:prstDash val="solid"/>
          </a:ln>
        </p:spPr>
      </p:sp>
      <p:sp>
        <p:nvSpPr>
          <p:cNvPr id="20" name="icon-bg-298"/>
          <p:cNvSpPr/>
          <p:nvPr/>
        </p:nvSpPr>
        <p:spPr>
          <a:xfrm>
            <a:off x="9208008" y="1645920"/>
            <a:ext cx="420624" cy="420624"/>
          </a:xfrm>
          <a:prstGeom prst="ellipse">
            <a:avLst/>
          </a:prstGeom>
          <a:solidFill>
            <a:schemeClr val="accent1"/>
          </a:solidFill>
          <a:ln w="12700">
            <a:solidFill>
              <a:schemeClr val="accent1"/>
            </a:solidFill>
            <a:prstDash val="solid"/>
          </a:ln>
        </p:spPr>
      </p:sp>
      <p:pic>
        <p:nvPicPr>
          <p:cNvPr id="21" name="icon-299" descr="preencoded.png">    </p:cNvPr>
          <p:cNvPicPr>
            <a:picLocks noChangeAspect="1"/>
          </p:cNvPicPr>
          <p:nvPr/>
        </p:nvPicPr>
        <p:blipFill>
          <a:blip r:embed="rId4"/>
          <a:stretch>
            <a:fillRect/>
          </a:stretch>
        </p:blipFill>
        <p:spPr>
          <a:xfrm>
            <a:off x="9308958" y="1746870"/>
            <a:ext cx="218724" cy="218724"/>
          </a:xfrm>
          <a:prstGeom prst="rect">
            <a:avLst/>
          </a:prstGeom>
        </p:spPr>
      </p:pic>
      <p:sp>
        <p:nvSpPr>
          <p:cNvPr id="22" name="text-300"/>
          <p:cNvSpPr txBox="1"/>
          <p:nvPr/>
        </p:nvSpPr>
        <p:spPr>
          <a:xfrm>
            <a:off x="9738360" y="164592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Narrative</a:t>
            </a:r>
            <a:endParaRPr lang="en-US" sz="1600" dirty="0"/>
          </a:p>
        </p:txBody>
      </p:sp>
      <p:sp>
        <p:nvSpPr>
          <p:cNvPr id="23" name="text-301"/>
          <p:cNvSpPr txBox="1"/>
          <p:nvPr/>
        </p:nvSpPr>
        <p:spPr>
          <a:xfrm>
            <a:off x="9208008" y="221284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You wake up locked in. Each floor's door opens only when its objects are in order: sort, or stay.</a:t>
            </a:r>
            <a:endParaRPr lang="en-US" sz="1400" dirty="0"/>
          </a:p>
        </p:txBody>
      </p:sp>
      <p:sp>
        <p:nvSpPr>
          <p:cNvPr id="24" name="card-302"/>
          <p:cNvSpPr/>
          <p:nvPr/>
        </p:nvSpPr>
        <p:spPr>
          <a:xfrm>
            <a:off x="548640" y="3931920"/>
            <a:ext cx="2615184" cy="2240280"/>
          </a:xfrm>
          <a:prstGeom prst="roundRect">
            <a:avLst>
              <a:gd name="adj" fmla="val 4082"/>
            </a:avLst>
          </a:prstGeom>
          <a:solidFill>
            <a:schemeClr val="bg2"/>
          </a:solidFill>
          <a:ln w="12700">
            <a:solidFill>
              <a:schemeClr val="bg2"/>
            </a:solidFill>
            <a:prstDash val="solid"/>
          </a:ln>
        </p:spPr>
      </p:sp>
      <p:sp>
        <p:nvSpPr>
          <p:cNvPr id="25" name="icon-bg-303"/>
          <p:cNvSpPr/>
          <p:nvPr/>
        </p:nvSpPr>
        <p:spPr>
          <a:xfrm>
            <a:off x="731520" y="4114800"/>
            <a:ext cx="420624" cy="420624"/>
          </a:xfrm>
          <a:prstGeom prst="ellipse">
            <a:avLst/>
          </a:prstGeom>
          <a:solidFill>
            <a:schemeClr val="accent1"/>
          </a:solidFill>
          <a:ln w="12700">
            <a:solidFill>
              <a:schemeClr val="accent1"/>
            </a:solidFill>
            <a:prstDash val="solid"/>
          </a:ln>
        </p:spPr>
      </p:sp>
      <p:pic>
        <p:nvPicPr>
          <p:cNvPr id="26" name="icon-304" descr="preencoded.png">    </p:cNvPr>
          <p:cNvPicPr>
            <a:picLocks noChangeAspect="1"/>
          </p:cNvPicPr>
          <p:nvPr/>
        </p:nvPicPr>
        <p:blipFill>
          <a:blip r:embed="rId5"/>
          <a:stretch>
            <a:fillRect/>
          </a:stretch>
        </p:blipFill>
        <p:spPr>
          <a:xfrm>
            <a:off x="832470" y="4215750"/>
            <a:ext cx="218724" cy="218724"/>
          </a:xfrm>
          <a:prstGeom prst="rect">
            <a:avLst/>
          </a:prstGeom>
        </p:spPr>
      </p:pic>
      <p:sp>
        <p:nvSpPr>
          <p:cNvPr id="27" name="text-305"/>
          <p:cNvSpPr txBox="1"/>
          <p:nvPr/>
        </p:nvSpPr>
        <p:spPr>
          <a:xfrm>
            <a:off x="1261872" y="411480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Interaction</a:t>
            </a:r>
            <a:endParaRPr lang="en-US" sz="1600" dirty="0"/>
          </a:p>
        </p:txBody>
      </p:sp>
      <p:sp>
        <p:nvSpPr>
          <p:cNvPr id="28" name="text-306"/>
          <p:cNvSpPr txBox="1"/>
          <p:nvPr/>
        </p:nvSpPr>
        <p:spPr>
          <a:xfrm>
            <a:off x="731520" y="468172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Point and click — the avatar walks over. Number keys, 1st/3rd-person camera, two characters.</a:t>
            </a:r>
            <a:endParaRPr lang="en-US" sz="1400" dirty="0"/>
          </a:p>
        </p:txBody>
      </p:sp>
      <p:sp>
        <p:nvSpPr>
          <p:cNvPr id="29" name="card-307"/>
          <p:cNvSpPr/>
          <p:nvPr/>
        </p:nvSpPr>
        <p:spPr>
          <a:xfrm>
            <a:off x="3374136" y="3931920"/>
            <a:ext cx="2615184" cy="2240280"/>
          </a:xfrm>
          <a:prstGeom prst="roundRect">
            <a:avLst>
              <a:gd name="adj" fmla="val 4082"/>
            </a:avLst>
          </a:prstGeom>
          <a:solidFill>
            <a:schemeClr val="bg2"/>
          </a:solidFill>
          <a:ln w="12700">
            <a:solidFill>
              <a:schemeClr val="bg2"/>
            </a:solidFill>
            <a:prstDash val="solid"/>
          </a:ln>
        </p:spPr>
      </p:sp>
      <p:sp>
        <p:nvSpPr>
          <p:cNvPr id="30" name="icon-bg-308"/>
          <p:cNvSpPr/>
          <p:nvPr/>
        </p:nvSpPr>
        <p:spPr>
          <a:xfrm>
            <a:off x="3557016" y="4114800"/>
            <a:ext cx="420624" cy="420624"/>
          </a:xfrm>
          <a:prstGeom prst="ellipse">
            <a:avLst/>
          </a:prstGeom>
          <a:solidFill>
            <a:schemeClr val="accent1"/>
          </a:solidFill>
          <a:ln w="12700">
            <a:solidFill>
              <a:schemeClr val="accent1"/>
            </a:solidFill>
            <a:prstDash val="solid"/>
          </a:ln>
        </p:spPr>
      </p:sp>
      <p:pic>
        <p:nvPicPr>
          <p:cNvPr id="31" name="icon-309" descr="preencoded.png">    </p:cNvPr>
          <p:cNvPicPr>
            <a:picLocks noChangeAspect="1"/>
          </p:cNvPicPr>
          <p:nvPr/>
        </p:nvPicPr>
        <p:blipFill>
          <a:blip r:embed="rId6"/>
          <a:stretch>
            <a:fillRect/>
          </a:stretch>
        </p:blipFill>
        <p:spPr>
          <a:xfrm>
            <a:off x="3657966" y="4215750"/>
            <a:ext cx="218724" cy="218724"/>
          </a:xfrm>
          <a:prstGeom prst="rect">
            <a:avLst/>
          </a:prstGeom>
        </p:spPr>
      </p:pic>
      <p:sp>
        <p:nvSpPr>
          <p:cNvPr id="32" name="text-310"/>
          <p:cNvSpPr txBox="1"/>
          <p:nvPr/>
        </p:nvSpPr>
        <p:spPr>
          <a:xfrm>
            <a:off x="4087368" y="411480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Challenges</a:t>
            </a:r>
            <a:endParaRPr lang="en-US" sz="1600" dirty="0"/>
          </a:p>
        </p:txBody>
      </p:sp>
      <p:sp>
        <p:nvSpPr>
          <p:cNvPr id="33" name="text-311"/>
          <p:cNvSpPr txBox="1"/>
          <p:nvPr/>
        </p:nvSpPr>
        <p:spPr>
          <a:xfrm>
            <a:off x="3557016" y="468172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Only neighbours swap; weights stay hidden until weighed; books come in table order. Wrong moves are slips.</a:t>
            </a:r>
            <a:endParaRPr lang="en-US" sz="1400" dirty="0"/>
          </a:p>
        </p:txBody>
      </p:sp>
      <p:sp>
        <p:nvSpPr>
          <p:cNvPr id="34" name="card-312"/>
          <p:cNvSpPr/>
          <p:nvPr/>
        </p:nvSpPr>
        <p:spPr>
          <a:xfrm>
            <a:off x="6199632" y="3931920"/>
            <a:ext cx="2615184" cy="2240280"/>
          </a:xfrm>
          <a:prstGeom prst="roundRect">
            <a:avLst>
              <a:gd name="adj" fmla="val 4082"/>
            </a:avLst>
          </a:prstGeom>
          <a:solidFill>
            <a:schemeClr val="bg2"/>
          </a:solidFill>
          <a:ln w="12700">
            <a:solidFill>
              <a:schemeClr val="bg2"/>
            </a:solidFill>
            <a:prstDash val="solid"/>
          </a:ln>
        </p:spPr>
      </p:sp>
      <p:sp>
        <p:nvSpPr>
          <p:cNvPr id="35" name="icon-bg-313"/>
          <p:cNvSpPr/>
          <p:nvPr/>
        </p:nvSpPr>
        <p:spPr>
          <a:xfrm>
            <a:off x="6382512" y="4114800"/>
            <a:ext cx="420624" cy="420624"/>
          </a:xfrm>
          <a:prstGeom prst="ellipse">
            <a:avLst/>
          </a:prstGeom>
          <a:solidFill>
            <a:schemeClr val="accent1"/>
          </a:solidFill>
          <a:ln w="12700">
            <a:solidFill>
              <a:schemeClr val="accent1"/>
            </a:solidFill>
            <a:prstDash val="solid"/>
          </a:ln>
        </p:spPr>
      </p:sp>
      <p:pic>
        <p:nvPicPr>
          <p:cNvPr id="36" name="icon-314" descr="preencoded.png">    </p:cNvPr>
          <p:cNvPicPr>
            <a:picLocks noChangeAspect="1"/>
          </p:cNvPicPr>
          <p:nvPr/>
        </p:nvPicPr>
        <p:blipFill>
          <a:blip r:embed="rId7"/>
          <a:stretch>
            <a:fillRect/>
          </a:stretch>
        </p:blipFill>
        <p:spPr>
          <a:xfrm>
            <a:off x="6483462" y="4215750"/>
            <a:ext cx="218724" cy="218724"/>
          </a:xfrm>
          <a:prstGeom prst="rect">
            <a:avLst/>
          </a:prstGeom>
        </p:spPr>
      </p:pic>
      <p:sp>
        <p:nvSpPr>
          <p:cNvPr id="37" name="text-315"/>
          <p:cNvSpPr txBox="1"/>
          <p:nvPr/>
        </p:nvSpPr>
        <p:spPr>
          <a:xfrm>
            <a:off x="6912864" y="411480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Rewards</a:t>
            </a:r>
            <a:endParaRPr lang="en-US" sz="1600" dirty="0"/>
          </a:p>
        </p:txBody>
      </p:sp>
      <p:sp>
        <p:nvSpPr>
          <p:cNvPr id="38" name="text-316"/>
          <p:cNvSpPr txBox="1"/>
          <p:nvPr/>
        </p:nvSpPr>
        <p:spPr>
          <a:xfrm>
            <a:off x="6382512" y="468172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Items glow green, the door unlocks, the avatar cheers; a debrief shows your moves vs. the fewest possible.</a:t>
            </a:r>
            <a:endParaRPr lang="en-US" sz="1400" dirty="0"/>
          </a:p>
        </p:txBody>
      </p:sp>
      <p:sp>
        <p:nvSpPr>
          <p:cNvPr id="39" name="card-317"/>
          <p:cNvSpPr/>
          <p:nvPr/>
        </p:nvSpPr>
        <p:spPr>
          <a:xfrm>
            <a:off x="9025128" y="3931920"/>
            <a:ext cx="2615184" cy="2240280"/>
          </a:xfrm>
          <a:prstGeom prst="roundRect">
            <a:avLst>
              <a:gd name="adj" fmla="val 4082"/>
            </a:avLst>
          </a:prstGeom>
          <a:solidFill>
            <a:schemeClr val="bg2"/>
          </a:solidFill>
          <a:ln w="12700">
            <a:solidFill>
              <a:schemeClr val="bg2"/>
            </a:solidFill>
            <a:prstDash val="solid"/>
          </a:ln>
        </p:spPr>
      </p:sp>
      <p:sp>
        <p:nvSpPr>
          <p:cNvPr id="40" name="icon-bg-318"/>
          <p:cNvSpPr/>
          <p:nvPr/>
        </p:nvSpPr>
        <p:spPr>
          <a:xfrm>
            <a:off x="9208008" y="4114800"/>
            <a:ext cx="420624" cy="420624"/>
          </a:xfrm>
          <a:prstGeom prst="ellipse">
            <a:avLst/>
          </a:prstGeom>
          <a:solidFill>
            <a:schemeClr val="accent1"/>
          </a:solidFill>
          <a:ln w="12700">
            <a:solidFill>
              <a:schemeClr val="accent1"/>
            </a:solidFill>
            <a:prstDash val="solid"/>
          </a:ln>
        </p:spPr>
      </p:sp>
      <p:pic>
        <p:nvPicPr>
          <p:cNvPr id="41" name="icon-319" descr="preencoded.png">    </p:cNvPr>
          <p:cNvPicPr>
            <a:picLocks noChangeAspect="1"/>
          </p:cNvPicPr>
          <p:nvPr/>
        </p:nvPicPr>
        <p:blipFill>
          <a:blip r:embed="rId8"/>
          <a:stretch>
            <a:fillRect/>
          </a:stretch>
        </p:blipFill>
        <p:spPr>
          <a:xfrm>
            <a:off x="9308958" y="4215750"/>
            <a:ext cx="218724" cy="218724"/>
          </a:xfrm>
          <a:prstGeom prst="rect">
            <a:avLst/>
          </a:prstGeom>
        </p:spPr>
      </p:pic>
      <p:sp>
        <p:nvSpPr>
          <p:cNvPr id="42" name="text-320"/>
          <p:cNvSpPr txBox="1"/>
          <p:nvPr/>
        </p:nvSpPr>
        <p:spPr>
          <a:xfrm>
            <a:off x="9738360" y="4114800"/>
            <a:ext cx="1746504" cy="420624"/>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Progression</a:t>
            </a:r>
            <a:endParaRPr lang="en-US" sz="1600" dirty="0"/>
          </a:p>
        </p:txBody>
      </p:sp>
      <p:sp>
        <p:nvSpPr>
          <p:cNvPr id="43" name="text-321"/>
          <p:cNvSpPr txBox="1"/>
          <p:nvPr/>
        </p:nvSpPr>
        <p:spPr>
          <a:xfrm>
            <a:off x="9208008" y="4681728"/>
            <a:ext cx="2249424" cy="137160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6 keys → 7 crates → 8 books → merge → quick: simple O(n²) first, then divide and conquer.</a:t>
            </a:r>
            <a:endParaRPr lang="en-US" sz="14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GAMEPLAY LOOP</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Act, see the result, learn why, face the next pass</a:t>
            </a:r>
            <a:endParaRPr lang="en-US" sz="2800" dirty="0"/>
          </a:p>
        </p:txBody>
      </p:sp>
      <p:sp>
        <p:nvSpPr>
          <p:cNvPr id="4" name="loop-arrow-322"/>
          <p:cNvSpPr/>
          <p:nvPr/>
        </p:nvSpPr>
        <p:spPr>
          <a:xfrm>
            <a:off x="2157984" y="2308860"/>
            <a:ext cx="301752" cy="914"/>
          </a:xfrm>
          <a:prstGeom prst="line">
            <a:avLst/>
          </a:prstGeom>
          <a:noFill/>
          <a:ln w="31750">
            <a:solidFill>
              <a:schemeClr val="accent1"/>
            </a:solidFill>
            <a:prstDash val="solid"/>
            <a:tailEnd type="triangle"/>
          </a:ln>
        </p:spPr>
      </p:sp>
      <p:sp>
        <p:nvSpPr>
          <p:cNvPr id="5" name="loop-arrow-323"/>
          <p:cNvSpPr/>
          <p:nvPr/>
        </p:nvSpPr>
        <p:spPr>
          <a:xfrm>
            <a:off x="4123944" y="2308860"/>
            <a:ext cx="301752" cy="914"/>
          </a:xfrm>
          <a:prstGeom prst="line">
            <a:avLst/>
          </a:prstGeom>
          <a:noFill/>
          <a:ln w="31750">
            <a:solidFill>
              <a:schemeClr val="accent1"/>
            </a:solidFill>
            <a:prstDash val="solid"/>
            <a:tailEnd type="triangle"/>
          </a:ln>
        </p:spPr>
      </p:sp>
      <p:sp>
        <p:nvSpPr>
          <p:cNvPr id="6" name="loop-arrow-324"/>
          <p:cNvSpPr/>
          <p:nvPr/>
        </p:nvSpPr>
        <p:spPr>
          <a:xfrm>
            <a:off x="5257800" y="3072384"/>
            <a:ext cx="914" cy="1124712"/>
          </a:xfrm>
          <a:prstGeom prst="line">
            <a:avLst/>
          </a:prstGeom>
          <a:noFill/>
          <a:ln w="31750">
            <a:solidFill>
              <a:schemeClr val="accent1"/>
            </a:solidFill>
            <a:prstDash val="solid"/>
            <a:tailEnd type="triangle"/>
          </a:ln>
        </p:spPr>
      </p:sp>
      <p:sp>
        <p:nvSpPr>
          <p:cNvPr id="7" name="loop-arrow-325"/>
          <p:cNvSpPr/>
          <p:nvPr/>
        </p:nvSpPr>
        <p:spPr>
          <a:xfrm flipH="1">
            <a:off x="2157984" y="4960620"/>
            <a:ext cx="2267712" cy="914"/>
          </a:xfrm>
          <a:prstGeom prst="line">
            <a:avLst/>
          </a:prstGeom>
          <a:noFill/>
          <a:ln w="31750">
            <a:solidFill>
              <a:schemeClr val="accent1"/>
            </a:solidFill>
            <a:prstDash val="solid"/>
            <a:tailEnd type="triangle"/>
          </a:ln>
        </p:spPr>
      </p:sp>
      <p:sp>
        <p:nvSpPr>
          <p:cNvPr id="8" name="loop-arrow-326"/>
          <p:cNvSpPr/>
          <p:nvPr/>
        </p:nvSpPr>
        <p:spPr>
          <a:xfrm flipV="1">
            <a:off x="1325880" y="3072384"/>
            <a:ext cx="914" cy="1124712"/>
          </a:xfrm>
          <a:prstGeom prst="line">
            <a:avLst/>
          </a:prstGeom>
          <a:noFill/>
          <a:ln w="31750">
            <a:solidFill>
              <a:schemeClr val="accent1"/>
            </a:solidFill>
            <a:prstDash val="solid"/>
            <a:tailEnd type="triangle"/>
          </a:ln>
        </p:spPr>
      </p:sp>
      <p:sp>
        <p:nvSpPr>
          <p:cNvPr id="9" name="text-327"/>
          <p:cNvSpPr txBox="1"/>
          <p:nvPr/>
        </p:nvSpPr>
        <p:spPr>
          <a:xfrm>
            <a:off x="2331720" y="4549140"/>
            <a:ext cx="1920240" cy="320040"/>
          </a:xfrm>
          <a:prstGeom prst="rect">
            <a:avLst/>
          </a:prstGeom>
          <a:noFill/>
          <a:ln/>
        </p:spPr>
        <p:txBody>
          <a:bodyPr wrap="square" lIns="0" tIns="0" rIns="0" bIns="0" rtlCol="0" anchor="t"/>
          <a:lstStyle/>
          <a:p>
            <a:pPr algn="ctr" indent="0" marL="0">
              <a:buNone/>
            </a:pPr>
            <a:r>
              <a:rPr lang="en-US" sz="1200" i="1" dirty="0">
                <a:solidFill>
                  <a:schemeClr val="tx2"/>
                </a:solidFill>
                <a:latin typeface="Arial" pitchFamily="34" charset="0"/>
                <a:ea typeface="Arial" pitchFamily="34" charset="-122"/>
                <a:cs typeface="Arial" pitchFamily="34" charset="-120"/>
              </a:rPr>
              <a:t>next pass, then next floor</a:t>
            </a:r>
            <a:endParaRPr lang="en-US" sz="1200" dirty="0"/>
          </a:p>
        </p:txBody>
      </p:sp>
      <p:sp>
        <p:nvSpPr>
          <p:cNvPr id="10" name="card-328"/>
          <p:cNvSpPr/>
          <p:nvPr/>
        </p:nvSpPr>
        <p:spPr>
          <a:xfrm>
            <a:off x="548640" y="1600200"/>
            <a:ext cx="1554480" cy="1417320"/>
          </a:xfrm>
          <a:prstGeom prst="roundRect">
            <a:avLst>
              <a:gd name="adj" fmla="val 6452"/>
            </a:avLst>
          </a:prstGeom>
          <a:solidFill>
            <a:schemeClr val="bg2"/>
          </a:solidFill>
          <a:ln w="12700">
            <a:solidFill>
              <a:schemeClr val="bg2"/>
            </a:solidFill>
            <a:prstDash val="solid"/>
          </a:ln>
        </p:spPr>
      </p:sp>
      <p:sp>
        <p:nvSpPr>
          <p:cNvPr id="11" name="icon-bg-329"/>
          <p:cNvSpPr/>
          <p:nvPr/>
        </p:nvSpPr>
        <p:spPr>
          <a:xfrm>
            <a:off x="1033272" y="1764792"/>
            <a:ext cx="585216" cy="585216"/>
          </a:xfrm>
          <a:prstGeom prst="ellipse">
            <a:avLst/>
          </a:prstGeom>
          <a:solidFill>
            <a:schemeClr val="accent1"/>
          </a:solidFill>
          <a:ln w="12700">
            <a:solidFill>
              <a:schemeClr val="accent1"/>
            </a:solidFill>
            <a:prstDash val="solid"/>
          </a:ln>
        </p:spPr>
      </p:sp>
      <p:pic>
        <p:nvPicPr>
          <p:cNvPr id="12" name="icon-330" descr="preencoded.png">    </p:cNvPr>
          <p:cNvPicPr>
            <a:picLocks noChangeAspect="1"/>
          </p:cNvPicPr>
          <p:nvPr/>
        </p:nvPicPr>
        <p:blipFill>
          <a:blip r:embed="rId1"/>
          <a:stretch>
            <a:fillRect/>
          </a:stretch>
        </p:blipFill>
        <p:spPr>
          <a:xfrm>
            <a:off x="1173724" y="1905244"/>
            <a:ext cx="304312" cy="304312"/>
          </a:xfrm>
          <a:prstGeom prst="rect">
            <a:avLst/>
          </a:prstGeom>
        </p:spPr>
      </p:pic>
      <p:sp>
        <p:nvSpPr>
          <p:cNvPr id="13" name="text-331"/>
          <p:cNvSpPr txBox="1"/>
          <p:nvPr/>
        </p:nvSpPr>
        <p:spPr>
          <a:xfrm>
            <a:off x="621792" y="2423160"/>
            <a:ext cx="1408176"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1. Player action</a:t>
            </a:r>
            <a:endParaRPr lang="en-US" sz="1300" dirty="0"/>
          </a:p>
        </p:txBody>
      </p:sp>
      <p:sp>
        <p:nvSpPr>
          <p:cNvPr id="14" name="card-332"/>
          <p:cNvSpPr/>
          <p:nvPr/>
        </p:nvSpPr>
        <p:spPr>
          <a:xfrm>
            <a:off x="2514600" y="1600200"/>
            <a:ext cx="1554480" cy="1417320"/>
          </a:xfrm>
          <a:prstGeom prst="roundRect">
            <a:avLst>
              <a:gd name="adj" fmla="val 6452"/>
            </a:avLst>
          </a:prstGeom>
          <a:solidFill>
            <a:schemeClr val="bg2"/>
          </a:solidFill>
          <a:ln w="12700">
            <a:solidFill>
              <a:schemeClr val="bg2"/>
            </a:solidFill>
            <a:prstDash val="solid"/>
          </a:ln>
        </p:spPr>
      </p:sp>
      <p:sp>
        <p:nvSpPr>
          <p:cNvPr id="15" name="icon-bg-333"/>
          <p:cNvSpPr/>
          <p:nvPr/>
        </p:nvSpPr>
        <p:spPr>
          <a:xfrm>
            <a:off x="2999232" y="1764792"/>
            <a:ext cx="585216" cy="585216"/>
          </a:xfrm>
          <a:prstGeom prst="ellipse">
            <a:avLst/>
          </a:prstGeom>
          <a:solidFill>
            <a:schemeClr val="accent1"/>
          </a:solidFill>
          <a:ln w="12700">
            <a:solidFill>
              <a:schemeClr val="accent1"/>
            </a:solidFill>
            <a:prstDash val="solid"/>
          </a:ln>
        </p:spPr>
      </p:sp>
      <p:pic>
        <p:nvPicPr>
          <p:cNvPr id="16" name="icon-334" descr="preencoded.png">    </p:cNvPr>
          <p:cNvPicPr>
            <a:picLocks noChangeAspect="1"/>
          </p:cNvPicPr>
          <p:nvPr/>
        </p:nvPicPr>
        <p:blipFill>
          <a:blip r:embed="rId2"/>
          <a:stretch>
            <a:fillRect/>
          </a:stretch>
        </p:blipFill>
        <p:spPr>
          <a:xfrm>
            <a:off x="3139684" y="1905244"/>
            <a:ext cx="304312" cy="304312"/>
          </a:xfrm>
          <a:prstGeom prst="rect">
            <a:avLst/>
          </a:prstGeom>
        </p:spPr>
      </p:pic>
      <p:sp>
        <p:nvSpPr>
          <p:cNvPr id="17" name="text-335"/>
          <p:cNvSpPr txBox="1"/>
          <p:nvPr/>
        </p:nvSpPr>
        <p:spPr>
          <a:xfrm>
            <a:off x="2587752" y="2423160"/>
            <a:ext cx="1408176"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2. Game response</a:t>
            </a:r>
            <a:endParaRPr lang="en-US" sz="1300" dirty="0"/>
          </a:p>
        </p:txBody>
      </p:sp>
      <p:sp>
        <p:nvSpPr>
          <p:cNvPr id="18" name="card-336"/>
          <p:cNvSpPr/>
          <p:nvPr/>
        </p:nvSpPr>
        <p:spPr>
          <a:xfrm>
            <a:off x="4480560" y="1600200"/>
            <a:ext cx="1554480" cy="1417320"/>
          </a:xfrm>
          <a:prstGeom prst="roundRect">
            <a:avLst>
              <a:gd name="adj" fmla="val 6452"/>
            </a:avLst>
          </a:prstGeom>
          <a:solidFill>
            <a:schemeClr val="bg2"/>
          </a:solidFill>
          <a:ln w="12700">
            <a:solidFill>
              <a:schemeClr val="bg2"/>
            </a:solidFill>
            <a:prstDash val="solid"/>
          </a:ln>
        </p:spPr>
      </p:sp>
      <p:sp>
        <p:nvSpPr>
          <p:cNvPr id="19" name="icon-bg-337"/>
          <p:cNvSpPr/>
          <p:nvPr/>
        </p:nvSpPr>
        <p:spPr>
          <a:xfrm>
            <a:off x="4965192" y="1764792"/>
            <a:ext cx="585216" cy="585216"/>
          </a:xfrm>
          <a:prstGeom prst="ellipse">
            <a:avLst/>
          </a:prstGeom>
          <a:solidFill>
            <a:schemeClr val="accent1"/>
          </a:solidFill>
          <a:ln w="12700">
            <a:solidFill>
              <a:schemeClr val="accent1"/>
            </a:solidFill>
            <a:prstDash val="solid"/>
          </a:ln>
        </p:spPr>
      </p:sp>
      <p:pic>
        <p:nvPicPr>
          <p:cNvPr id="20" name="icon-338" descr="preencoded.png">    </p:cNvPr>
          <p:cNvPicPr>
            <a:picLocks noChangeAspect="1"/>
          </p:cNvPicPr>
          <p:nvPr/>
        </p:nvPicPr>
        <p:blipFill>
          <a:blip r:embed="rId3"/>
          <a:stretch>
            <a:fillRect/>
          </a:stretch>
        </p:blipFill>
        <p:spPr>
          <a:xfrm>
            <a:off x="5105644" y="1905244"/>
            <a:ext cx="304312" cy="304312"/>
          </a:xfrm>
          <a:prstGeom prst="rect">
            <a:avLst/>
          </a:prstGeom>
        </p:spPr>
      </p:pic>
      <p:sp>
        <p:nvSpPr>
          <p:cNvPr id="21" name="text-339"/>
          <p:cNvSpPr txBox="1"/>
          <p:nvPr/>
        </p:nvSpPr>
        <p:spPr>
          <a:xfrm>
            <a:off x="4553712" y="2423160"/>
            <a:ext cx="1408176"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3. Feedback</a:t>
            </a:r>
            <a:endParaRPr lang="en-US" sz="1300" dirty="0"/>
          </a:p>
        </p:txBody>
      </p:sp>
      <p:sp>
        <p:nvSpPr>
          <p:cNvPr id="22" name="card-340"/>
          <p:cNvSpPr/>
          <p:nvPr/>
        </p:nvSpPr>
        <p:spPr>
          <a:xfrm>
            <a:off x="4480560" y="4251960"/>
            <a:ext cx="1554480" cy="1417320"/>
          </a:xfrm>
          <a:prstGeom prst="roundRect">
            <a:avLst>
              <a:gd name="adj" fmla="val 6452"/>
            </a:avLst>
          </a:prstGeom>
          <a:solidFill>
            <a:srgbClr val="EAF6F0"/>
          </a:solidFill>
          <a:ln w="12700">
            <a:solidFill>
              <a:srgbClr val="EAF6F0"/>
            </a:solidFill>
            <a:prstDash val="solid"/>
          </a:ln>
        </p:spPr>
      </p:sp>
      <p:sp>
        <p:nvSpPr>
          <p:cNvPr id="23" name="icon-bg-341"/>
          <p:cNvSpPr/>
          <p:nvPr/>
        </p:nvSpPr>
        <p:spPr>
          <a:xfrm>
            <a:off x="4965192" y="4416552"/>
            <a:ext cx="585216" cy="585216"/>
          </a:xfrm>
          <a:prstGeom prst="ellipse">
            <a:avLst/>
          </a:prstGeom>
          <a:solidFill>
            <a:schemeClr val="accent2"/>
          </a:solidFill>
          <a:ln w="12700">
            <a:solidFill>
              <a:schemeClr val="accent2"/>
            </a:solidFill>
            <a:prstDash val="solid"/>
          </a:ln>
        </p:spPr>
      </p:sp>
      <p:pic>
        <p:nvPicPr>
          <p:cNvPr id="24" name="icon-342" descr="preencoded.png">    </p:cNvPr>
          <p:cNvPicPr>
            <a:picLocks noChangeAspect="1"/>
          </p:cNvPicPr>
          <p:nvPr/>
        </p:nvPicPr>
        <p:blipFill>
          <a:blip r:embed="rId4"/>
          <a:stretch>
            <a:fillRect/>
          </a:stretch>
        </p:blipFill>
        <p:spPr>
          <a:xfrm>
            <a:off x="5105644" y="4557004"/>
            <a:ext cx="304312" cy="304312"/>
          </a:xfrm>
          <a:prstGeom prst="rect">
            <a:avLst/>
          </a:prstGeom>
        </p:spPr>
      </p:pic>
      <p:sp>
        <p:nvSpPr>
          <p:cNvPr id="25" name="text-343"/>
          <p:cNvSpPr txBox="1"/>
          <p:nvPr/>
        </p:nvSpPr>
        <p:spPr>
          <a:xfrm>
            <a:off x="4553712" y="5074920"/>
            <a:ext cx="1408176"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4. Reward / consequence</a:t>
            </a:r>
            <a:endParaRPr lang="en-US" sz="1300" dirty="0"/>
          </a:p>
        </p:txBody>
      </p:sp>
      <p:sp>
        <p:nvSpPr>
          <p:cNvPr id="26" name="card-344"/>
          <p:cNvSpPr/>
          <p:nvPr/>
        </p:nvSpPr>
        <p:spPr>
          <a:xfrm>
            <a:off x="548640" y="4251960"/>
            <a:ext cx="1554480" cy="1417320"/>
          </a:xfrm>
          <a:prstGeom prst="roundRect">
            <a:avLst>
              <a:gd name="adj" fmla="val 6452"/>
            </a:avLst>
          </a:prstGeom>
          <a:solidFill>
            <a:schemeClr val="bg2"/>
          </a:solidFill>
          <a:ln w="12700">
            <a:solidFill>
              <a:schemeClr val="bg2"/>
            </a:solidFill>
            <a:prstDash val="solid"/>
          </a:ln>
        </p:spPr>
      </p:sp>
      <p:sp>
        <p:nvSpPr>
          <p:cNvPr id="27" name="icon-bg-345"/>
          <p:cNvSpPr/>
          <p:nvPr/>
        </p:nvSpPr>
        <p:spPr>
          <a:xfrm>
            <a:off x="1033272" y="4416552"/>
            <a:ext cx="585216" cy="585216"/>
          </a:xfrm>
          <a:prstGeom prst="ellipse">
            <a:avLst/>
          </a:prstGeom>
          <a:solidFill>
            <a:schemeClr val="accent1"/>
          </a:solidFill>
          <a:ln w="12700">
            <a:solidFill>
              <a:schemeClr val="accent1"/>
            </a:solidFill>
            <a:prstDash val="solid"/>
          </a:ln>
        </p:spPr>
      </p:sp>
      <p:pic>
        <p:nvPicPr>
          <p:cNvPr id="28" name="icon-346" descr="preencoded.png">    </p:cNvPr>
          <p:cNvPicPr>
            <a:picLocks noChangeAspect="1"/>
          </p:cNvPicPr>
          <p:nvPr/>
        </p:nvPicPr>
        <p:blipFill>
          <a:blip r:embed="rId5"/>
          <a:stretch>
            <a:fillRect/>
          </a:stretch>
        </p:blipFill>
        <p:spPr>
          <a:xfrm>
            <a:off x="1173724" y="4557004"/>
            <a:ext cx="304312" cy="304312"/>
          </a:xfrm>
          <a:prstGeom prst="rect">
            <a:avLst/>
          </a:prstGeom>
        </p:spPr>
      </p:pic>
      <p:sp>
        <p:nvSpPr>
          <p:cNvPr id="29" name="text-347"/>
          <p:cNvSpPr txBox="1"/>
          <p:nvPr/>
        </p:nvSpPr>
        <p:spPr>
          <a:xfrm>
            <a:off x="621792" y="5074920"/>
            <a:ext cx="1408176"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Arial" pitchFamily="34" charset="0"/>
                <a:ea typeface="Arial" pitchFamily="34" charset="-122"/>
                <a:cs typeface="Arial" pitchFamily="34" charset="-120"/>
              </a:rPr>
              <a:t>5. New challenge</a:t>
            </a:r>
            <a:endParaRPr lang="en-US" sz="1300" dirty="0"/>
          </a:p>
        </p:txBody>
      </p:sp>
      <p:sp>
        <p:nvSpPr>
          <p:cNvPr id="30" name="text-348"/>
          <p:cNvSpPr txBox="1"/>
          <p:nvPr/>
        </p:nvSpPr>
        <p:spPr>
          <a:xfrm>
            <a:off x="6355080" y="1417320"/>
            <a:ext cx="5285232"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Arial" pitchFamily="34" charset="0"/>
                <a:ea typeface="Arial" pitchFamily="34" charset="-122"/>
                <a:cs typeface="Arial" pitchFamily="34" charset="-120"/>
              </a:rPr>
              <a:t>EXAMPLE · FLOOR 2, THE STORAGE ROOM (SELECTION SORT)</a:t>
            </a:r>
            <a:endParaRPr lang="en-US" sz="1100" dirty="0"/>
          </a:p>
        </p:txBody>
      </p:sp>
      <p:sp>
        <p:nvSpPr>
          <p:cNvPr id="31" name="card-349"/>
          <p:cNvSpPr/>
          <p:nvPr/>
        </p:nvSpPr>
        <p:spPr>
          <a:xfrm>
            <a:off x="6355080" y="1783080"/>
            <a:ext cx="5285232" cy="777240"/>
          </a:xfrm>
          <a:prstGeom prst="roundRect">
            <a:avLst>
              <a:gd name="adj" fmla="val 11765"/>
            </a:avLst>
          </a:prstGeom>
          <a:solidFill>
            <a:schemeClr val="bg2"/>
          </a:solidFill>
          <a:ln w="12700">
            <a:solidFill>
              <a:schemeClr val="bg2"/>
            </a:solidFill>
            <a:prstDash val="solid"/>
          </a:ln>
        </p:spPr>
      </p:sp>
      <p:sp>
        <p:nvSpPr>
          <p:cNvPr id="32" name="text-350"/>
          <p:cNvSpPr txBox="1"/>
          <p:nvPr/>
        </p:nvSpPr>
        <p:spPr>
          <a:xfrm>
            <a:off x="6492240" y="1938528"/>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1</a:t>
            </a:r>
            <a:endParaRPr lang="en-US" sz="2200" dirty="0"/>
          </a:p>
        </p:txBody>
      </p:sp>
      <p:sp>
        <p:nvSpPr>
          <p:cNvPr id="33" name="text-351"/>
          <p:cNvSpPr txBox="1"/>
          <p:nvPr/>
        </p:nvSpPr>
        <p:spPr>
          <a:xfrm>
            <a:off x="7040880" y="1847088"/>
            <a:ext cx="4416552" cy="6858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Player action</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Press Q to weigh every crate left, then click the lightest one (12 kg).</a:t>
            </a:r>
            <a:endParaRPr lang="en-US" sz="1200" dirty="0"/>
          </a:p>
        </p:txBody>
      </p:sp>
      <p:sp>
        <p:nvSpPr>
          <p:cNvPr id="34" name="card-352"/>
          <p:cNvSpPr/>
          <p:nvPr/>
        </p:nvSpPr>
        <p:spPr>
          <a:xfrm>
            <a:off x="6355080" y="2670048"/>
            <a:ext cx="5285232" cy="777240"/>
          </a:xfrm>
          <a:prstGeom prst="roundRect">
            <a:avLst>
              <a:gd name="adj" fmla="val 11765"/>
            </a:avLst>
          </a:prstGeom>
          <a:solidFill>
            <a:schemeClr val="bg2"/>
          </a:solidFill>
          <a:ln w="12700">
            <a:solidFill>
              <a:schemeClr val="bg2"/>
            </a:solidFill>
            <a:prstDash val="solid"/>
          </a:ln>
        </p:spPr>
      </p:sp>
      <p:sp>
        <p:nvSpPr>
          <p:cNvPr id="35" name="text-353"/>
          <p:cNvSpPr txBox="1"/>
          <p:nvPr/>
        </p:nvSpPr>
        <p:spPr>
          <a:xfrm>
            <a:off x="6492240" y="2825496"/>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2</a:t>
            </a:r>
            <a:endParaRPr lang="en-US" sz="2200" dirty="0"/>
          </a:p>
        </p:txBody>
      </p:sp>
      <p:sp>
        <p:nvSpPr>
          <p:cNvPr id="36" name="text-354"/>
          <p:cNvSpPr txBox="1"/>
          <p:nvPr/>
        </p:nvSpPr>
        <p:spPr>
          <a:xfrm>
            <a:off x="7040880" y="2734056"/>
            <a:ext cx="4416552" cy="6858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Game response</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Scales show readings; the crane lifts the crate into the next bay; weighings and swaps go up.</a:t>
            </a:r>
            <a:endParaRPr lang="en-US" sz="1200" dirty="0"/>
          </a:p>
        </p:txBody>
      </p:sp>
      <p:sp>
        <p:nvSpPr>
          <p:cNvPr id="37" name="card-355"/>
          <p:cNvSpPr/>
          <p:nvPr/>
        </p:nvSpPr>
        <p:spPr>
          <a:xfrm>
            <a:off x="6355080" y="3557016"/>
            <a:ext cx="5285232" cy="777240"/>
          </a:xfrm>
          <a:prstGeom prst="roundRect">
            <a:avLst>
              <a:gd name="adj" fmla="val 11765"/>
            </a:avLst>
          </a:prstGeom>
          <a:solidFill>
            <a:schemeClr val="bg2"/>
          </a:solidFill>
          <a:ln w="12700">
            <a:solidFill>
              <a:schemeClr val="bg2"/>
            </a:solidFill>
            <a:prstDash val="solid"/>
          </a:ln>
        </p:spPr>
      </p:sp>
      <p:sp>
        <p:nvSpPr>
          <p:cNvPr id="38" name="text-356"/>
          <p:cNvSpPr txBox="1"/>
          <p:nvPr/>
        </p:nvSpPr>
        <p:spPr>
          <a:xfrm>
            <a:off x="6492240" y="3712464"/>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3</a:t>
            </a:r>
            <a:endParaRPr lang="en-US" sz="2200" dirty="0"/>
          </a:p>
        </p:txBody>
      </p:sp>
      <p:sp>
        <p:nvSpPr>
          <p:cNvPr id="39" name="text-357"/>
          <p:cNvSpPr txBox="1"/>
          <p:nvPr/>
        </p:nvSpPr>
        <p:spPr>
          <a:xfrm>
            <a:off x="7040880" y="3621024"/>
            <a:ext cx="4416552" cy="6858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Feedback</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A wrong pick: "17 kg is not the lightest crate left" — the avatar scratches his head. H explains the next step.</a:t>
            </a:r>
            <a:endParaRPr lang="en-US" sz="1200" dirty="0"/>
          </a:p>
        </p:txBody>
      </p:sp>
      <p:sp>
        <p:nvSpPr>
          <p:cNvPr id="40" name="card-358"/>
          <p:cNvSpPr/>
          <p:nvPr/>
        </p:nvSpPr>
        <p:spPr>
          <a:xfrm>
            <a:off x="6355080" y="4443984"/>
            <a:ext cx="5285232" cy="777240"/>
          </a:xfrm>
          <a:prstGeom prst="roundRect">
            <a:avLst>
              <a:gd name="adj" fmla="val 11765"/>
            </a:avLst>
          </a:prstGeom>
          <a:solidFill>
            <a:srgbClr val="EAF6F0"/>
          </a:solidFill>
          <a:ln w="12700">
            <a:solidFill>
              <a:srgbClr val="EAF6F0"/>
            </a:solidFill>
            <a:prstDash val="solid"/>
          </a:ln>
        </p:spPr>
      </p:sp>
      <p:sp>
        <p:nvSpPr>
          <p:cNvPr id="41" name="text-359"/>
          <p:cNvSpPr txBox="1"/>
          <p:nvPr/>
        </p:nvSpPr>
        <p:spPr>
          <a:xfrm>
            <a:off x="6492240" y="4599432"/>
            <a:ext cx="457200" cy="457200"/>
          </a:xfrm>
          <a:prstGeom prst="rect">
            <a:avLst/>
          </a:prstGeom>
          <a:noFill/>
          <a:ln/>
        </p:spPr>
        <p:txBody>
          <a:bodyPr wrap="square" lIns="0" tIns="0" rIns="0" bIns="0" rtlCol="0" anchor="ctr"/>
          <a:lstStyle/>
          <a:p>
            <a:pPr algn="ctr" indent="0" marL="0">
              <a:buNone/>
            </a:pPr>
            <a:r>
              <a:rPr lang="en-US" sz="2200" b="1" dirty="0">
                <a:solidFill>
                  <a:schemeClr val="accent2"/>
                </a:solidFill>
                <a:latin typeface="Arial" pitchFamily="34" charset="0"/>
                <a:ea typeface="Arial" pitchFamily="34" charset="-122"/>
                <a:cs typeface="Arial" pitchFamily="34" charset="-120"/>
              </a:rPr>
              <a:t>4</a:t>
            </a:r>
            <a:endParaRPr lang="en-US" sz="2200" dirty="0"/>
          </a:p>
        </p:txBody>
      </p:sp>
      <p:sp>
        <p:nvSpPr>
          <p:cNvPr id="42" name="text-360"/>
          <p:cNvSpPr txBox="1"/>
          <p:nvPr/>
        </p:nvSpPr>
        <p:spPr>
          <a:xfrm>
            <a:off x="7040880" y="4507992"/>
            <a:ext cx="4416552" cy="6858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Reward / consequence</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Right: the bay glows green and stays locked in. Wrong: a slip is counted and nothing moves.</a:t>
            </a:r>
            <a:endParaRPr lang="en-US" sz="1200" dirty="0"/>
          </a:p>
        </p:txBody>
      </p:sp>
      <p:sp>
        <p:nvSpPr>
          <p:cNvPr id="43" name="card-361"/>
          <p:cNvSpPr/>
          <p:nvPr/>
        </p:nvSpPr>
        <p:spPr>
          <a:xfrm>
            <a:off x="6355080" y="5330952"/>
            <a:ext cx="5285232" cy="777240"/>
          </a:xfrm>
          <a:prstGeom prst="roundRect">
            <a:avLst>
              <a:gd name="adj" fmla="val 11765"/>
            </a:avLst>
          </a:prstGeom>
          <a:solidFill>
            <a:schemeClr val="bg2"/>
          </a:solidFill>
          <a:ln w="12700">
            <a:solidFill>
              <a:schemeClr val="bg2"/>
            </a:solidFill>
            <a:prstDash val="solid"/>
          </a:ln>
        </p:spPr>
      </p:sp>
      <p:sp>
        <p:nvSpPr>
          <p:cNvPr id="44" name="text-362"/>
          <p:cNvSpPr txBox="1"/>
          <p:nvPr/>
        </p:nvSpPr>
        <p:spPr>
          <a:xfrm>
            <a:off x="6492240" y="5486400"/>
            <a:ext cx="457200" cy="45720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5</a:t>
            </a:r>
            <a:endParaRPr lang="en-US" sz="2200" dirty="0"/>
          </a:p>
        </p:txBody>
      </p:sp>
      <p:sp>
        <p:nvSpPr>
          <p:cNvPr id="45" name="text-363"/>
          <p:cNvSpPr txBox="1"/>
          <p:nvPr/>
        </p:nvSpPr>
        <p:spPr>
          <a:xfrm>
            <a:off x="7040880" y="5394960"/>
            <a:ext cx="4416552" cy="6858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New challenge</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Readings reset — the next pass has one crate fewer. After the last pass the doors open to Floor 3.</a:t>
            </a:r>
            <a:endParaRPr lang="en-US" sz="12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CURRENT PROGRESS · COMPLETED</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Floors 1–3 are built and playable end to end</a:t>
            </a:r>
            <a:endParaRPr lang="en-US" sz="2800" dirty="0"/>
          </a:p>
        </p:txBody>
      </p:sp>
      <p:sp>
        <p:nvSpPr>
          <p:cNvPr id="4" name="shot-frame-364"/>
          <p:cNvSpPr/>
          <p:nvPr/>
        </p:nvSpPr>
        <p:spPr>
          <a:xfrm>
            <a:off x="530352" y="1444752"/>
            <a:ext cx="3584448" cy="2032254"/>
          </a:xfrm>
          <a:prstGeom prst="rect">
            <a:avLst/>
          </a:prstGeom>
          <a:solidFill>
            <a:srgbClr val="FFFFFF"/>
          </a:solidFill>
          <a:ln w="9525">
            <a:solidFill>
              <a:srgbClr val="C9D0D7"/>
            </a:solidFill>
            <a:prstDash val="solid"/>
          </a:ln>
        </p:spPr>
      </p:sp>
      <p:pic>
        <p:nvPicPr>
          <p:cNvPr id="5" name="shot-365" descr="/tmp/claude-0/-home-claude/8b672690-7cd0-5d59-9493-8eaa2a9a5a93/scratchpad/deck/shots/06_Level1_Bubble_020048_981.jpg">    </p:cNvPr>
          <p:cNvPicPr>
            <a:picLocks noChangeAspect="1"/>
          </p:cNvPicPr>
          <p:nvPr/>
        </p:nvPicPr>
        <p:blipFill>
          <a:blip r:embed="rId1"/>
          <a:stretch>
            <a:fillRect/>
          </a:stretch>
        </p:blipFill>
        <p:spPr>
          <a:xfrm>
            <a:off x="548640" y="1463040"/>
            <a:ext cx="3547872" cy="1995678"/>
          </a:xfrm>
          <a:prstGeom prst="rect">
            <a:avLst/>
          </a:prstGeom>
        </p:spPr>
      </p:pic>
      <p:sp>
        <p:nvSpPr>
          <p:cNvPr id="6" name="pill-366"/>
          <p:cNvSpPr txBox="1"/>
          <p:nvPr/>
        </p:nvSpPr>
        <p:spPr>
          <a:xfrm>
            <a:off x="640080" y="1554480"/>
            <a:ext cx="640080" cy="256032"/>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Done</a:t>
            </a:r>
            <a:endParaRPr lang="en-US" sz="1000" dirty="0"/>
          </a:p>
        </p:txBody>
      </p:sp>
      <p:sp>
        <p:nvSpPr>
          <p:cNvPr id="7" name="pill-367"/>
          <p:cNvSpPr txBox="1"/>
          <p:nvPr/>
        </p:nvSpPr>
        <p:spPr>
          <a:xfrm>
            <a:off x="2404872" y="1554480"/>
            <a:ext cx="1600200" cy="256032"/>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Built by Premkumar</a:t>
            </a:r>
            <a:endParaRPr lang="en-US" sz="1000" dirty="0"/>
          </a:p>
        </p:txBody>
      </p:sp>
      <p:sp>
        <p:nvSpPr>
          <p:cNvPr id="8" name="text-368"/>
          <p:cNvSpPr txBox="1"/>
          <p:nvPr/>
        </p:nvSpPr>
        <p:spPr>
          <a:xfrm>
            <a:off x="548640" y="3568446"/>
            <a:ext cx="3547872"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Floor 1 · Locked Room</a:t>
            </a:r>
            <a:endParaRPr lang="en-US" sz="1400" dirty="0"/>
          </a:p>
        </p:txBody>
      </p:sp>
      <p:sp>
        <p:nvSpPr>
          <p:cNvPr id="9" name="text-369"/>
          <p:cNvSpPr txBox="1"/>
          <p:nvPr/>
        </p:nvSpPr>
        <p:spPr>
          <a:xfrm>
            <a:off x="548640" y="3842766"/>
            <a:ext cx="3547872" cy="457200"/>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Bubble sort: all six keys sorted, keys glow green, door open</a:t>
            </a:r>
            <a:endParaRPr lang="en-US" sz="1200" dirty="0"/>
          </a:p>
        </p:txBody>
      </p:sp>
      <p:sp>
        <p:nvSpPr>
          <p:cNvPr id="10" name="shot-frame-370"/>
          <p:cNvSpPr/>
          <p:nvPr/>
        </p:nvSpPr>
        <p:spPr>
          <a:xfrm>
            <a:off x="4302252" y="1444752"/>
            <a:ext cx="3584448" cy="2032254"/>
          </a:xfrm>
          <a:prstGeom prst="rect">
            <a:avLst/>
          </a:prstGeom>
          <a:solidFill>
            <a:srgbClr val="FFFFFF"/>
          </a:solidFill>
          <a:ln w="9525">
            <a:solidFill>
              <a:srgbClr val="C9D0D7"/>
            </a:solidFill>
            <a:prstDash val="solid"/>
          </a:ln>
        </p:spPr>
      </p:sp>
      <p:pic>
        <p:nvPicPr>
          <p:cNvPr id="11" name="shot-371" descr="/tmp/claude-0/-home-claude/8b672690-7cd0-5d59-9493-8eaa2a9a5a93/scratchpad/deck/shots/11_Level2_Selection_020239_611.jpg">    </p:cNvPr>
          <p:cNvPicPr>
            <a:picLocks noChangeAspect="1"/>
          </p:cNvPicPr>
          <p:nvPr/>
        </p:nvPicPr>
        <p:blipFill>
          <a:blip r:embed="rId2"/>
          <a:stretch>
            <a:fillRect/>
          </a:stretch>
        </p:blipFill>
        <p:spPr>
          <a:xfrm>
            <a:off x="4320540" y="1463040"/>
            <a:ext cx="3547872" cy="1995678"/>
          </a:xfrm>
          <a:prstGeom prst="rect">
            <a:avLst/>
          </a:prstGeom>
        </p:spPr>
      </p:pic>
      <p:sp>
        <p:nvSpPr>
          <p:cNvPr id="12" name="pill-372"/>
          <p:cNvSpPr txBox="1"/>
          <p:nvPr/>
        </p:nvSpPr>
        <p:spPr>
          <a:xfrm>
            <a:off x="4411980" y="1554480"/>
            <a:ext cx="640080" cy="256032"/>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Done</a:t>
            </a:r>
            <a:endParaRPr lang="en-US" sz="1000" dirty="0"/>
          </a:p>
        </p:txBody>
      </p:sp>
      <p:sp>
        <p:nvSpPr>
          <p:cNvPr id="13" name="pill-373"/>
          <p:cNvSpPr txBox="1"/>
          <p:nvPr/>
        </p:nvSpPr>
        <p:spPr>
          <a:xfrm>
            <a:off x="6176772" y="1554480"/>
            <a:ext cx="1600200" cy="256032"/>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Built by Vijaya Teja</a:t>
            </a:r>
            <a:endParaRPr lang="en-US" sz="1000" dirty="0"/>
          </a:p>
        </p:txBody>
      </p:sp>
      <p:sp>
        <p:nvSpPr>
          <p:cNvPr id="14" name="text-374"/>
          <p:cNvSpPr txBox="1"/>
          <p:nvPr/>
        </p:nvSpPr>
        <p:spPr>
          <a:xfrm>
            <a:off x="4320540" y="3568446"/>
            <a:ext cx="3547872"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Floor 2 · Storage Room</a:t>
            </a:r>
            <a:endParaRPr lang="en-US" sz="1400" dirty="0"/>
          </a:p>
        </p:txBody>
      </p:sp>
      <p:sp>
        <p:nvSpPr>
          <p:cNvPr id="15" name="text-375"/>
          <p:cNvSpPr txBox="1"/>
          <p:nvPr/>
        </p:nvSpPr>
        <p:spPr>
          <a:xfrm>
            <a:off x="4320540" y="3842766"/>
            <a:ext cx="3547872" cy="457200"/>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Selection sort: bay 1 locked in green; readings reset for pass 2</a:t>
            </a:r>
            <a:endParaRPr lang="en-US" sz="1200" dirty="0"/>
          </a:p>
        </p:txBody>
      </p:sp>
      <p:sp>
        <p:nvSpPr>
          <p:cNvPr id="16" name="shot-frame-376"/>
          <p:cNvSpPr/>
          <p:nvPr/>
        </p:nvSpPr>
        <p:spPr>
          <a:xfrm>
            <a:off x="8074152" y="1444752"/>
            <a:ext cx="3584448" cy="2032254"/>
          </a:xfrm>
          <a:prstGeom prst="rect">
            <a:avLst/>
          </a:prstGeom>
          <a:solidFill>
            <a:srgbClr val="FFFFFF"/>
          </a:solidFill>
          <a:ln w="9525">
            <a:solidFill>
              <a:srgbClr val="C9D0D7"/>
            </a:solidFill>
            <a:prstDash val="solid"/>
          </a:ln>
        </p:spPr>
      </p:sp>
      <p:pic>
        <p:nvPicPr>
          <p:cNvPr id="17" name="shot-377" descr="/tmp/claude-0/-home-claude/8b672690-7cd0-5d59-9493-8eaa2a9a5a93/scratchpad/deck/shots/22_Level3_Insertion_021148_911.jpg">    </p:cNvPr>
          <p:cNvPicPr>
            <a:picLocks noChangeAspect="1"/>
          </p:cNvPicPr>
          <p:nvPr/>
        </p:nvPicPr>
        <p:blipFill>
          <a:blip r:embed="rId3"/>
          <a:stretch>
            <a:fillRect/>
          </a:stretch>
        </p:blipFill>
        <p:spPr>
          <a:xfrm>
            <a:off x="8092440" y="1463040"/>
            <a:ext cx="3547872" cy="1995678"/>
          </a:xfrm>
          <a:prstGeom prst="rect">
            <a:avLst/>
          </a:prstGeom>
        </p:spPr>
      </p:pic>
      <p:sp>
        <p:nvSpPr>
          <p:cNvPr id="18" name="pill-378"/>
          <p:cNvSpPr txBox="1"/>
          <p:nvPr/>
        </p:nvSpPr>
        <p:spPr>
          <a:xfrm>
            <a:off x="8183880" y="1554480"/>
            <a:ext cx="640080" cy="256032"/>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dirty="0">
                <a:solidFill>
                  <a:schemeClr val="bg1"/>
                </a:solidFill>
                <a:latin typeface="Arial" pitchFamily="34" charset="0"/>
                <a:ea typeface="Arial" pitchFamily="34" charset="-122"/>
                <a:cs typeface="Arial" pitchFamily="34" charset="-120"/>
              </a:rPr>
              <a:t>Done</a:t>
            </a:r>
            <a:endParaRPr lang="en-US" sz="1000" dirty="0"/>
          </a:p>
        </p:txBody>
      </p:sp>
      <p:sp>
        <p:nvSpPr>
          <p:cNvPr id="19" name="pill-379"/>
          <p:cNvSpPr txBox="1"/>
          <p:nvPr/>
        </p:nvSpPr>
        <p:spPr>
          <a:xfrm>
            <a:off x="9948672" y="1554480"/>
            <a:ext cx="1600200" cy="256032"/>
          </a:xfrm>
          <a:prstGeom prst="roundRect">
            <a:avLst>
              <a:gd name="adj" fmla="val 50000"/>
            </a:avLst>
          </a:prstGeom>
          <a:solidFill>
            <a:schemeClr val="bg1"/>
          </a:solidFill>
          <a:ln>
            <a:solidFill>
              <a:schemeClr val="bg1"/>
            </a:solidFill>
          </a:ln>
        </p:spPr>
        <p:txBody>
          <a:bodyPr wrap="square" lIns="0" tIns="0" rIns="0" bIns="0" rtlCol="0" anchor="ctr"/>
          <a:lstStyle/>
          <a:p>
            <a:pPr algn="ctr" indent="0" marL="0">
              <a:buNone/>
            </a:pPr>
            <a:r>
              <a:rPr lang="en-US" sz="1000" b="1" dirty="0">
                <a:solidFill>
                  <a:schemeClr val="tx1"/>
                </a:solidFill>
                <a:latin typeface="Arial" pitchFamily="34" charset="0"/>
                <a:ea typeface="Arial" pitchFamily="34" charset="-122"/>
                <a:cs typeface="Arial" pitchFamily="34" charset="-120"/>
              </a:rPr>
              <a:t>Built by Uday</a:t>
            </a:r>
            <a:endParaRPr lang="en-US" sz="1000" dirty="0"/>
          </a:p>
        </p:txBody>
      </p:sp>
      <p:sp>
        <p:nvSpPr>
          <p:cNvPr id="20" name="text-380"/>
          <p:cNvSpPr txBox="1"/>
          <p:nvPr/>
        </p:nvSpPr>
        <p:spPr>
          <a:xfrm>
            <a:off x="8092440" y="3568446"/>
            <a:ext cx="3547872" cy="27432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Floor 3 · Library</a:t>
            </a:r>
            <a:endParaRPr lang="en-US" sz="1400" dirty="0"/>
          </a:p>
        </p:txBody>
      </p:sp>
      <p:sp>
        <p:nvSpPr>
          <p:cNvPr id="21" name="text-381"/>
          <p:cNvSpPr txBox="1"/>
          <p:nvPr/>
        </p:nvSpPr>
        <p:spPr>
          <a:xfrm>
            <a:off x="8092440" y="3842766"/>
            <a:ext cx="3547872" cy="457200"/>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Insertion sort: 8 / 8 books shelved, 'table clear'</a:t>
            </a:r>
            <a:endParaRPr lang="en-US" sz="1200" dirty="0"/>
          </a:p>
        </p:txBody>
      </p:sp>
      <p:sp>
        <p:nvSpPr>
          <p:cNvPr id="22" name="text-382"/>
          <p:cNvSpPr txBox="1"/>
          <p:nvPr/>
        </p:nvSpPr>
        <p:spPr>
          <a:xfrm>
            <a:off x="548640" y="4389120"/>
            <a:ext cx="10972800" cy="274320"/>
          </a:xfrm>
          <a:prstGeom prst="rect">
            <a:avLst/>
          </a:prstGeom>
          <a:noFill/>
          <a:ln/>
        </p:spPr>
        <p:txBody>
          <a:bodyPr wrap="square" lIns="0" tIns="0" rIns="0" bIns="0" rtlCol="0" anchor="t"/>
          <a:lstStyle/>
          <a:p>
            <a:pPr indent="0" marL="0">
              <a:buNone/>
            </a:pPr>
            <a:r>
              <a:rPr lang="en-US" sz="1100" b="1" spc="100" kern="0" dirty="0">
                <a:solidFill>
                  <a:schemeClr val="tx2"/>
                </a:solidFill>
                <a:latin typeface="Arial" pitchFamily="34" charset="0"/>
                <a:ea typeface="Arial" pitchFamily="34" charset="-122"/>
                <a:cs typeface="Arial" pitchFamily="34" charset="-120"/>
              </a:rPr>
              <a:t>TEST RUN · 23 OCT 2026 · SCOREBOARD 'FLOORS 1–3 ESCAPED'</a:t>
            </a:r>
            <a:endParaRPr lang="en-US" sz="1100" dirty="0"/>
          </a:p>
        </p:txBody>
      </p:sp>
      <p:sp>
        <p:nvSpPr>
          <p:cNvPr id="23" name="text-383"/>
          <p:cNvSpPr txBox="1"/>
          <p:nvPr/>
        </p:nvSpPr>
        <p:spPr>
          <a:xfrm>
            <a:off x="548640" y="4709160"/>
            <a:ext cx="3547872"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7 = 7</a:t>
            </a:r>
            <a:endParaRPr lang="en-US" sz="3000" dirty="0"/>
          </a:p>
        </p:txBody>
      </p:sp>
      <p:sp>
        <p:nvSpPr>
          <p:cNvPr id="24" name="text-384"/>
          <p:cNvSpPr txBox="1"/>
          <p:nvPr/>
        </p:nvSpPr>
        <p:spPr>
          <a:xfrm>
            <a:off x="548640" y="5257800"/>
            <a:ext cx="3547872"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Floor 1: swaps = out-of-order pairs, the fewest possible</a:t>
            </a:r>
            <a:endParaRPr lang="en-US" sz="1200" dirty="0"/>
          </a:p>
        </p:txBody>
      </p:sp>
      <p:sp>
        <p:nvSpPr>
          <p:cNvPr id="25" name="text-385"/>
          <p:cNvSpPr txBox="1"/>
          <p:nvPr/>
        </p:nvSpPr>
        <p:spPr>
          <a:xfrm>
            <a:off x="4320540" y="4709160"/>
            <a:ext cx="3547872"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6 &amp; 21</a:t>
            </a:r>
            <a:endParaRPr lang="en-US" sz="3000" dirty="0"/>
          </a:p>
        </p:txBody>
      </p:sp>
      <p:sp>
        <p:nvSpPr>
          <p:cNvPr id="26" name="text-386"/>
          <p:cNvSpPr txBox="1"/>
          <p:nvPr/>
        </p:nvSpPr>
        <p:spPr>
          <a:xfrm>
            <a:off x="4320540" y="5257800"/>
            <a:ext cx="3547872"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Floor 2: 6 swaps (at most n − 1) and 21 = n(n−1)/2 comparisons</a:t>
            </a:r>
            <a:endParaRPr lang="en-US" sz="1200" dirty="0"/>
          </a:p>
        </p:txBody>
      </p:sp>
      <p:sp>
        <p:nvSpPr>
          <p:cNvPr id="27" name="text-387"/>
          <p:cNvSpPr txBox="1"/>
          <p:nvPr/>
        </p:nvSpPr>
        <p:spPr>
          <a:xfrm>
            <a:off x="8092440" y="4709160"/>
            <a:ext cx="3547872"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13 = 13</a:t>
            </a:r>
            <a:endParaRPr lang="en-US" sz="3000" dirty="0"/>
          </a:p>
        </p:txBody>
      </p:sp>
      <p:sp>
        <p:nvSpPr>
          <p:cNvPr id="28" name="text-388"/>
          <p:cNvSpPr txBox="1"/>
          <p:nvPr/>
        </p:nvSpPr>
        <p:spPr>
          <a:xfrm>
            <a:off x="8092440" y="5257800"/>
            <a:ext cx="3547872"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Floor 3: shifts = out-of-order pairs in the table order</a:t>
            </a:r>
            <a:endParaRPr lang="en-US" sz="1200" dirty="0"/>
          </a:p>
        </p:txBody>
      </p:sp>
      <p:sp>
        <p:nvSpPr>
          <p:cNvPr id="29" name="text-389"/>
          <p:cNvSpPr txBox="1"/>
          <p:nvPr/>
        </p:nvSpPr>
        <p:spPr>
          <a:xfrm>
            <a:off x="548640" y="5852160"/>
            <a:ext cx="11091672" cy="411480"/>
          </a:xfrm>
          <a:prstGeom prst="rect">
            <a:avLst/>
          </a:prstGeom>
          <a:noFill/>
          <a:ln/>
        </p:spPr>
        <p:txBody>
          <a:bodyPr wrap="square" lIns="0" tIns="0" rIns="0" bIns="0" rtlCol="0" anchor="ctr"/>
          <a:lstStyle/>
          <a:p>
            <a:pPr indent="0" marL="0">
              <a:buNone/>
            </a:pPr>
            <a:r>
              <a:rPr lang="en-US" sz="1200" dirty="0">
                <a:solidFill>
                  <a:schemeClr val="tx2"/>
                </a:solidFill>
                <a:latin typeface="Arial" pitchFamily="34" charset="0"/>
                <a:ea typeface="Arial" pitchFamily="34" charset="-122"/>
                <a:cs typeface="Arial" pitchFamily="34" charset="-120"/>
              </a:rPr>
              <a:t>Also done: realistic avatars Alex &amp; Maya · point-and-click with auto-walk · number-key shortcuts · hints · slips · debrief cards · pause menu · editor scene builders</a:t>
            </a:r>
            <a:endParaRPr lang="en-US" sz="12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CURRENT PROGRESS · DEMO EVIDENCE</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Feedback that explains, not just a score</a:t>
            </a:r>
            <a:endParaRPr lang="en-US" sz="2800" dirty="0"/>
          </a:p>
        </p:txBody>
      </p:sp>
      <p:sp>
        <p:nvSpPr>
          <p:cNvPr id="4" name="shot-frame-390"/>
          <p:cNvSpPr/>
          <p:nvPr/>
        </p:nvSpPr>
        <p:spPr>
          <a:xfrm>
            <a:off x="530352" y="1353312"/>
            <a:ext cx="3419856" cy="1939671"/>
          </a:xfrm>
          <a:prstGeom prst="rect">
            <a:avLst/>
          </a:prstGeom>
          <a:solidFill>
            <a:srgbClr val="FFFFFF"/>
          </a:solidFill>
          <a:ln w="9525">
            <a:solidFill>
              <a:srgbClr val="C9D0D7"/>
            </a:solidFill>
            <a:prstDash val="solid"/>
          </a:ln>
        </p:spPr>
      </p:sp>
      <p:pic>
        <p:nvPicPr>
          <p:cNvPr id="5" name="shot-391" descr="/tmp/claude-0/-home-claude/8b672690-7cd0-5d59-9493-8eaa2a9a5a93/scratchpad/deck/shots/crop_04_Level1_Bubble_020034_739.jpg">    </p:cNvPr>
          <p:cNvPicPr>
            <a:picLocks noChangeAspect="1"/>
          </p:cNvPicPr>
          <p:nvPr/>
        </p:nvPicPr>
        <p:blipFill>
          <a:blip r:embed="rId1"/>
          <a:stretch>
            <a:fillRect/>
          </a:stretch>
        </p:blipFill>
        <p:spPr>
          <a:xfrm>
            <a:off x="548640" y="1371600"/>
            <a:ext cx="3383280" cy="1903095"/>
          </a:xfrm>
          <a:prstGeom prst="rect">
            <a:avLst/>
          </a:prstGeom>
        </p:spPr>
      </p:pic>
      <p:sp>
        <p:nvSpPr>
          <p:cNvPr id="6" name="text-392"/>
          <p:cNvSpPr txBox="1"/>
          <p:nvPr/>
        </p:nvSpPr>
        <p:spPr>
          <a:xfrm>
            <a:off x="548640" y="3347847"/>
            <a:ext cx="3383280" cy="384048"/>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Debrief after Floor 1: "Why 7?" — 7 out-of-order pairs, each swap fixes one</a:t>
            </a:r>
            <a:endParaRPr lang="en-US" sz="1100" dirty="0"/>
          </a:p>
        </p:txBody>
      </p:sp>
      <p:sp>
        <p:nvSpPr>
          <p:cNvPr id="7" name="shot-frame-393"/>
          <p:cNvSpPr/>
          <p:nvPr/>
        </p:nvSpPr>
        <p:spPr>
          <a:xfrm>
            <a:off x="4384548" y="1353312"/>
            <a:ext cx="3419856" cy="1939671"/>
          </a:xfrm>
          <a:prstGeom prst="rect">
            <a:avLst/>
          </a:prstGeom>
          <a:solidFill>
            <a:srgbClr val="FFFFFF"/>
          </a:solidFill>
          <a:ln w="9525">
            <a:solidFill>
              <a:srgbClr val="C9D0D7"/>
            </a:solidFill>
            <a:prstDash val="solid"/>
          </a:ln>
        </p:spPr>
      </p:sp>
      <p:pic>
        <p:nvPicPr>
          <p:cNvPr id="8" name="shot-394" descr="/tmp/claude-0/-home-claude/8b672690-7cd0-5d59-9493-8eaa2a9a5a93/scratchpad/deck/shots/crop_14_Level2_Selection_020441_760.jpg">    </p:cNvPr>
          <p:cNvPicPr>
            <a:picLocks noChangeAspect="1"/>
          </p:cNvPicPr>
          <p:nvPr/>
        </p:nvPicPr>
        <p:blipFill>
          <a:blip r:embed="rId2"/>
          <a:stretch>
            <a:fillRect/>
          </a:stretch>
        </p:blipFill>
        <p:spPr>
          <a:xfrm>
            <a:off x="4402836" y="1371600"/>
            <a:ext cx="3383280" cy="1903095"/>
          </a:xfrm>
          <a:prstGeom prst="rect">
            <a:avLst/>
          </a:prstGeom>
        </p:spPr>
      </p:pic>
      <p:sp>
        <p:nvSpPr>
          <p:cNvPr id="9" name="text-395"/>
          <p:cNvSpPr txBox="1"/>
          <p:nvPr/>
        </p:nvSpPr>
        <p:spPr>
          <a:xfrm>
            <a:off x="4402836" y="3347847"/>
            <a:ext cx="3383280" cy="384048"/>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Debrief after Floor 2: 21 = n(n−1)/2 comparisons; compared with Floor 1</a:t>
            </a:r>
            <a:endParaRPr lang="en-US" sz="1100" dirty="0"/>
          </a:p>
        </p:txBody>
      </p:sp>
      <p:sp>
        <p:nvSpPr>
          <p:cNvPr id="10" name="shot-frame-396"/>
          <p:cNvSpPr/>
          <p:nvPr/>
        </p:nvSpPr>
        <p:spPr>
          <a:xfrm>
            <a:off x="8238744" y="1353312"/>
            <a:ext cx="3419856" cy="1939671"/>
          </a:xfrm>
          <a:prstGeom prst="rect">
            <a:avLst/>
          </a:prstGeom>
          <a:solidFill>
            <a:srgbClr val="FFFFFF"/>
          </a:solidFill>
          <a:ln w="9525">
            <a:solidFill>
              <a:srgbClr val="C9D0D7"/>
            </a:solidFill>
            <a:prstDash val="solid"/>
          </a:ln>
        </p:spPr>
      </p:sp>
      <p:pic>
        <p:nvPicPr>
          <p:cNvPr id="11" name="shot-397" descr="/tmp/claude-0/-home-claude/8b672690-7cd0-5d59-9493-8eaa2a9a5a93/scratchpad/deck/shots/crop_21_Level3_Insertion_021121_562.jpg">    </p:cNvPr>
          <p:cNvPicPr>
            <a:picLocks noChangeAspect="1"/>
          </p:cNvPicPr>
          <p:nvPr/>
        </p:nvPicPr>
        <p:blipFill>
          <a:blip r:embed="rId3"/>
          <a:stretch>
            <a:fillRect/>
          </a:stretch>
        </p:blipFill>
        <p:spPr>
          <a:xfrm>
            <a:off x="8257032" y="1371600"/>
            <a:ext cx="3383280" cy="1903095"/>
          </a:xfrm>
          <a:prstGeom prst="rect">
            <a:avLst/>
          </a:prstGeom>
        </p:spPr>
      </p:pic>
      <p:sp>
        <p:nvSpPr>
          <p:cNvPr id="12" name="text-398"/>
          <p:cNvSpPr txBox="1"/>
          <p:nvPr/>
        </p:nvSpPr>
        <p:spPr>
          <a:xfrm>
            <a:off x="8257032" y="3347847"/>
            <a:ext cx="3383280" cy="384048"/>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Debrief after Floor 3: shifts = out-of-order pairs; why insertion suits nearly sorted lists</a:t>
            </a:r>
            <a:endParaRPr lang="en-US" sz="1100" dirty="0"/>
          </a:p>
        </p:txBody>
      </p:sp>
      <p:sp>
        <p:nvSpPr>
          <p:cNvPr id="13" name="shot-frame-399"/>
          <p:cNvSpPr/>
          <p:nvPr/>
        </p:nvSpPr>
        <p:spPr>
          <a:xfrm>
            <a:off x="530352" y="3840480"/>
            <a:ext cx="3419856" cy="1939671"/>
          </a:xfrm>
          <a:prstGeom prst="rect">
            <a:avLst/>
          </a:prstGeom>
          <a:solidFill>
            <a:srgbClr val="FFFFFF"/>
          </a:solidFill>
          <a:ln w="9525">
            <a:solidFill>
              <a:srgbClr val="C9D0D7"/>
            </a:solidFill>
            <a:prstDash val="solid"/>
          </a:ln>
        </p:spPr>
      </p:sp>
      <p:pic>
        <p:nvPicPr>
          <p:cNvPr id="14" name="shot-400" descr="/tmp/claude-0/-home-claude/8b672690-7cd0-5d59-9493-8eaa2a9a5a93/scratchpad/deck/shots/12_Level2_Selection_020249_110.jpg">    </p:cNvPr>
          <p:cNvPicPr>
            <a:picLocks noChangeAspect="1"/>
          </p:cNvPicPr>
          <p:nvPr/>
        </p:nvPicPr>
        <p:blipFill>
          <a:blip r:embed="rId4"/>
          <a:stretch>
            <a:fillRect/>
          </a:stretch>
        </p:blipFill>
        <p:spPr>
          <a:xfrm>
            <a:off x="548640" y="3858768"/>
            <a:ext cx="3383280" cy="1903095"/>
          </a:xfrm>
          <a:prstGeom prst="rect">
            <a:avLst/>
          </a:prstGeom>
        </p:spPr>
      </p:pic>
      <p:sp>
        <p:nvSpPr>
          <p:cNvPr id="15" name="text-401"/>
          <p:cNvSpPr txBox="1"/>
          <p:nvPr/>
        </p:nvSpPr>
        <p:spPr>
          <a:xfrm>
            <a:off x="548640" y="5835015"/>
            <a:ext cx="3383280" cy="384048"/>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Point and click: hover marker + label, the avatar walks over by himself</a:t>
            </a:r>
            <a:endParaRPr lang="en-US" sz="1100" dirty="0"/>
          </a:p>
        </p:txBody>
      </p:sp>
      <p:sp>
        <p:nvSpPr>
          <p:cNvPr id="16" name="shot-frame-402"/>
          <p:cNvSpPr/>
          <p:nvPr/>
        </p:nvSpPr>
        <p:spPr>
          <a:xfrm>
            <a:off x="4384548" y="3840480"/>
            <a:ext cx="3419856" cy="1939671"/>
          </a:xfrm>
          <a:prstGeom prst="rect">
            <a:avLst/>
          </a:prstGeom>
          <a:solidFill>
            <a:srgbClr val="FFFFFF"/>
          </a:solidFill>
          <a:ln w="9525">
            <a:solidFill>
              <a:srgbClr val="C9D0D7"/>
            </a:solidFill>
            <a:prstDash val="solid"/>
          </a:ln>
        </p:spPr>
      </p:sp>
      <p:pic>
        <p:nvPicPr>
          <p:cNvPr id="17" name="shot-403" descr="/tmp/claude-0/-home-claude/8b672690-7cd0-5d59-9493-8eaa2a9a5a93/scratchpad/deck/shots/20_Level3_Insertion_020640_908.jpg">    </p:cNvPr>
          <p:cNvPicPr>
            <a:picLocks noChangeAspect="1"/>
          </p:cNvPicPr>
          <p:nvPr/>
        </p:nvPicPr>
        <p:blipFill>
          <a:blip r:embed="rId5"/>
          <a:stretch>
            <a:fillRect/>
          </a:stretch>
        </p:blipFill>
        <p:spPr>
          <a:xfrm>
            <a:off x="4402836" y="3858768"/>
            <a:ext cx="3383280" cy="1903095"/>
          </a:xfrm>
          <a:prstGeom prst="rect">
            <a:avLst/>
          </a:prstGeom>
        </p:spPr>
      </p:pic>
      <p:sp>
        <p:nvSpPr>
          <p:cNvPr id="18" name="text-404"/>
          <p:cNvSpPr txBox="1"/>
          <p:nvPr/>
        </p:nvSpPr>
        <p:spPr>
          <a:xfrm>
            <a:off x="4402836" y="5835015"/>
            <a:ext cx="3383280" cy="384048"/>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Second realistic character (Maya); press C to switch</a:t>
            </a:r>
            <a:endParaRPr lang="en-US" sz="1100" dirty="0"/>
          </a:p>
        </p:txBody>
      </p:sp>
      <p:sp>
        <p:nvSpPr>
          <p:cNvPr id="19" name="shot-frame-405"/>
          <p:cNvSpPr/>
          <p:nvPr/>
        </p:nvSpPr>
        <p:spPr>
          <a:xfrm>
            <a:off x="8238744" y="3840480"/>
            <a:ext cx="3419856" cy="1939671"/>
          </a:xfrm>
          <a:prstGeom prst="rect">
            <a:avLst/>
          </a:prstGeom>
          <a:solidFill>
            <a:srgbClr val="FFFFFF"/>
          </a:solidFill>
          <a:ln w="9525">
            <a:solidFill>
              <a:srgbClr val="C9D0D7"/>
            </a:solidFill>
            <a:prstDash val="solid"/>
          </a:ln>
        </p:spPr>
      </p:sp>
      <p:pic>
        <p:nvPicPr>
          <p:cNvPr id="20" name="shot-406" descr="/tmp/claude-0/-home-claude/8b672690-7cd0-5d59-9493-8eaa2a9a5a93/scratchpad/deck/shots/crop_24_Level3_Insertion_021300_025.jpg">    </p:cNvPr>
          <p:cNvPicPr>
            <a:picLocks noChangeAspect="1"/>
          </p:cNvPicPr>
          <p:nvPr/>
        </p:nvPicPr>
        <p:blipFill>
          <a:blip r:embed="rId6"/>
          <a:stretch>
            <a:fillRect/>
          </a:stretch>
        </p:blipFill>
        <p:spPr>
          <a:xfrm>
            <a:off x="8257032" y="3858768"/>
            <a:ext cx="3383280" cy="1903095"/>
          </a:xfrm>
          <a:prstGeom prst="rect">
            <a:avLst/>
          </a:prstGeom>
        </p:spPr>
      </p:pic>
      <p:sp>
        <p:nvSpPr>
          <p:cNvPr id="21" name="text-407"/>
          <p:cNvSpPr txBox="1"/>
          <p:nvPr/>
        </p:nvSpPr>
        <p:spPr>
          <a:xfrm>
            <a:off x="8257032" y="5835015"/>
            <a:ext cx="3383280" cy="384048"/>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End scoreboard: all three floors, total time 9:49</a:t>
            </a:r>
            <a:endParaRPr lang="en-US" sz="11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NEXT STEPS</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Two floors and a pilot study to go</a:t>
            </a:r>
            <a:endParaRPr lang="en-US" sz="2800" dirty="0"/>
          </a:p>
        </p:txBody>
      </p:sp>
      <p:sp>
        <p:nvSpPr>
          <p:cNvPr id="4" name="card-408"/>
          <p:cNvSpPr/>
          <p:nvPr/>
        </p:nvSpPr>
        <p:spPr>
          <a:xfrm>
            <a:off x="548640" y="1417320"/>
            <a:ext cx="3291840" cy="3429000"/>
          </a:xfrm>
          <a:prstGeom prst="roundRect">
            <a:avLst>
              <a:gd name="adj" fmla="val 2778"/>
            </a:avLst>
          </a:prstGeom>
          <a:solidFill>
            <a:schemeClr val="bg2"/>
          </a:solidFill>
          <a:ln w="12700">
            <a:solidFill>
              <a:schemeClr val="bg2"/>
            </a:solidFill>
            <a:prstDash val="solid"/>
          </a:ln>
        </p:spPr>
      </p:sp>
      <p:sp>
        <p:nvSpPr>
          <p:cNvPr id="5" name="icon-bg-409"/>
          <p:cNvSpPr/>
          <p:nvPr/>
        </p:nvSpPr>
        <p:spPr>
          <a:xfrm>
            <a:off x="731520" y="1600200"/>
            <a:ext cx="420624" cy="420624"/>
          </a:xfrm>
          <a:prstGeom prst="ellipse">
            <a:avLst/>
          </a:prstGeom>
          <a:solidFill>
            <a:schemeClr val="accent3"/>
          </a:solidFill>
          <a:ln w="12700">
            <a:solidFill>
              <a:schemeClr val="accent3"/>
            </a:solidFill>
            <a:prstDash val="solid"/>
          </a:ln>
        </p:spPr>
      </p:sp>
      <p:pic>
        <p:nvPicPr>
          <p:cNvPr id="6" name="icon-410" descr="preencoded.png">    </p:cNvPr>
          <p:cNvPicPr>
            <a:picLocks noChangeAspect="1"/>
          </p:cNvPicPr>
          <p:nvPr/>
        </p:nvPicPr>
        <p:blipFill>
          <a:blip r:embed="rId1"/>
          <a:stretch>
            <a:fillRect/>
          </a:stretch>
        </p:blipFill>
        <p:spPr>
          <a:xfrm>
            <a:off x="832470" y="1701150"/>
            <a:ext cx="218724" cy="218724"/>
          </a:xfrm>
          <a:prstGeom prst="rect">
            <a:avLst/>
          </a:prstGeom>
        </p:spPr>
      </p:pic>
      <p:sp>
        <p:nvSpPr>
          <p:cNvPr id="7" name="text-411"/>
          <p:cNvSpPr txBox="1"/>
          <p:nvPr/>
        </p:nvSpPr>
        <p:spPr>
          <a:xfrm>
            <a:off x="1261872" y="1600200"/>
            <a:ext cx="2423160" cy="420624"/>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Work in progress</a:t>
            </a:r>
            <a:endParaRPr lang="en-US" sz="1700" dirty="0"/>
          </a:p>
        </p:txBody>
      </p:sp>
      <p:sp>
        <p:nvSpPr>
          <p:cNvPr id="8" name="text-412"/>
          <p:cNvSpPr txBox="1"/>
          <p:nvPr/>
        </p:nvSpPr>
        <p:spPr>
          <a:xfrm>
            <a:off x="731520" y="2194560"/>
            <a:ext cx="2926080" cy="25603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Floor 4 · Control Room — merge sort: level design and rule checker (Premkumar)</a:t>
            </a:r>
            <a:endParaRPr lang="en-US" sz="1300" dirty="0"/>
          </a:p>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Control polish: editor focus click counted as a move; Floor 1 marker overlaps hook numbers (Premkumar)</a:t>
            </a:r>
            <a:endParaRPr lang="en-US" sz="1300" dirty="0"/>
          </a:p>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Pilot test questions for each floor (Uday)</a:t>
            </a:r>
            <a:endParaRPr lang="en-US" sz="1300" dirty="0"/>
          </a:p>
        </p:txBody>
      </p:sp>
      <p:sp>
        <p:nvSpPr>
          <p:cNvPr id="9" name="card-413"/>
          <p:cNvSpPr/>
          <p:nvPr/>
        </p:nvSpPr>
        <p:spPr>
          <a:xfrm>
            <a:off x="4114800" y="1417320"/>
            <a:ext cx="3291840" cy="3429000"/>
          </a:xfrm>
          <a:prstGeom prst="roundRect">
            <a:avLst>
              <a:gd name="adj" fmla="val 2778"/>
            </a:avLst>
          </a:prstGeom>
          <a:solidFill>
            <a:schemeClr val="bg2"/>
          </a:solidFill>
          <a:ln w="12700">
            <a:solidFill>
              <a:schemeClr val="bg2"/>
            </a:solidFill>
            <a:prstDash val="solid"/>
          </a:ln>
        </p:spPr>
      </p:sp>
      <p:sp>
        <p:nvSpPr>
          <p:cNvPr id="10" name="icon-bg-414"/>
          <p:cNvSpPr/>
          <p:nvPr/>
        </p:nvSpPr>
        <p:spPr>
          <a:xfrm>
            <a:off x="4297680" y="1600200"/>
            <a:ext cx="420624" cy="420624"/>
          </a:xfrm>
          <a:prstGeom prst="ellipse">
            <a:avLst/>
          </a:prstGeom>
          <a:solidFill>
            <a:schemeClr val="accent1"/>
          </a:solidFill>
          <a:ln w="12700">
            <a:solidFill>
              <a:schemeClr val="accent1"/>
            </a:solidFill>
            <a:prstDash val="solid"/>
          </a:ln>
        </p:spPr>
      </p:sp>
      <p:pic>
        <p:nvPicPr>
          <p:cNvPr id="11" name="icon-415" descr="preencoded.png">    </p:cNvPr>
          <p:cNvPicPr>
            <a:picLocks noChangeAspect="1"/>
          </p:cNvPicPr>
          <p:nvPr/>
        </p:nvPicPr>
        <p:blipFill>
          <a:blip r:embed="rId2"/>
          <a:stretch>
            <a:fillRect/>
          </a:stretch>
        </p:blipFill>
        <p:spPr>
          <a:xfrm>
            <a:off x="4398630" y="1701150"/>
            <a:ext cx="218724" cy="218724"/>
          </a:xfrm>
          <a:prstGeom prst="rect">
            <a:avLst/>
          </a:prstGeom>
        </p:spPr>
      </p:pic>
      <p:sp>
        <p:nvSpPr>
          <p:cNvPr id="12" name="text-416"/>
          <p:cNvSpPr txBox="1"/>
          <p:nvPr/>
        </p:nvSpPr>
        <p:spPr>
          <a:xfrm>
            <a:off x="4828032" y="1600200"/>
            <a:ext cx="2423160" cy="420624"/>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Remaining work</a:t>
            </a:r>
            <a:endParaRPr lang="en-US" sz="1700" dirty="0"/>
          </a:p>
        </p:txBody>
      </p:sp>
      <p:sp>
        <p:nvSpPr>
          <p:cNvPr id="13" name="text-417"/>
          <p:cNvSpPr txBox="1"/>
          <p:nvPr/>
        </p:nvSpPr>
        <p:spPr>
          <a:xfrm>
            <a:off x="4297680" y="2194560"/>
            <a:ext cx="2926080" cy="25603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Floor 5 · Vault — quick sort, pivot and partition (Vijaya Teja)</a:t>
            </a:r>
            <a:endParaRPr lang="en-US" sz="1300" dirty="0"/>
          </a:p>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Adaptive hints after repeated slips (Uday)</a:t>
            </a:r>
            <a:endParaRPr lang="en-US" sz="1300" dirty="0"/>
          </a:p>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Start menu, settings, Windows / Mac builds (all)</a:t>
            </a:r>
            <a:endParaRPr lang="en-US" sz="1300" dirty="0"/>
          </a:p>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Pilot study: pre / post test, delayed test after a week, questionnaire (Uday leads)</a:t>
            </a:r>
            <a:endParaRPr lang="en-US" sz="1300" dirty="0"/>
          </a:p>
          <a:p>
            <a:pPr marL="177800" indent="-177800">
              <a:spcAft>
                <a:spcPts val="500"/>
              </a:spcAft>
              <a:buSzPct val="100000"/>
              <a:buChar char="•"/>
            </a:pPr>
            <a:r>
              <a:rPr lang="en-US" sz="1300" dirty="0">
                <a:solidFill>
                  <a:schemeClr val="tx1"/>
                </a:solidFill>
                <a:latin typeface="Arial" pitchFamily="34" charset="0"/>
                <a:ea typeface="Arial" pitchFamily="34" charset="-122"/>
                <a:cs typeface="Arial" pitchFamily="34" charset="-120"/>
              </a:rPr>
              <a:t>Final report and demo video (all)</a:t>
            </a:r>
            <a:endParaRPr lang="en-US" sz="1300" dirty="0"/>
          </a:p>
        </p:txBody>
      </p:sp>
      <p:sp>
        <p:nvSpPr>
          <p:cNvPr id="14" name="card-418"/>
          <p:cNvSpPr/>
          <p:nvPr/>
        </p:nvSpPr>
        <p:spPr>
          <a:xfrm>
            <a:off x="548640" y="5029200"/>
            <a:ext cx="6858000" cy="1188720"/>
          </a:xfrm>
          <a:prstGeom prst="roundRect">
            <a:avLst>
              <a:gd name="adj" fmla="val 7692"/>
            </a:avLst>
          </a:prstGeom>
          <a:solidFill>
            <a:srgbClr val="FDF0E7"/>
          </a:solidFill>
          <a:ln w="12700">
            <a:solidFill>
              <a:srgbClr val="FDF0E7"/>
            </a:solidFill>
            <a:prstDash val="solid"/>
          </a:ln>
        </p:spPr>
      </p:sp>
      <p:sp>
        <p:nvSpPr>
          <p:cNvPr id="15" name="text-419"/>
          <p:cNvSpPr txBox="1"/>
          <p:nvPr/>
        </p:nvSpPr>
        <p:spPr>
          <a:xfrm>
            <a:off x="777240" y="5138928"/>
            <a:ext cx="2743200" cy="256032"/>
          </a:xfrm>
          <a:prstGeom prst="rect">
            <a:avLst/>
          </a:prstGeom>
          <a:noFill/>
          <a:ln/>
        </p:spPr>
        <p:txBody>
          <a:bodyPr wrap="square" lIns="0" tIns="0" rIns="0" bIns="0" rtlCol="0" anchor="t"/>
          <a:lstStyle/>
          <a:p>
            <a:pPr indent="0" marL="0">
              <a:buNone/>
            </a:pPr>
            <a:r>
              <a:rPr lang="en-US" sz="1100" b="1" spc="200" kern="0" dirty="0">
                <a:solidFill>
                  <a:schemeClr val="accent1"/>
                </a:solidFill>
                <a:latin typeface="Arial" pitchFamily="34" charset="0"/>
                <a:ea typeface="Arial" pitchFamily="34" charset="-122"/>
                <a:cs typeface="Arial" pitchFamily="34" charset="-120"/>
              </a:rPr>
              <a:t>DONE MEANS</a:t>
            </a:r>
            <a:endParaRPr lang="en-US" sz="1100" dirty="0"/>
          </a:p>
        </p:txBody>
      </p:sp>
      <p:sp>
        <p:nvSpPr>
          <p:cNvPr id="16" name="icon-bg-420"/>
          <p:cNvSpPr/>
          <p:nvPr/>
        </p:nvSpPr>
        <p:spPr>
          <a:xfrm>
            <a:off x="777240" y="5532120"/>
            <a:ext cx="329184" cy="329184"/>
          </a:xfrm>
          <a:prstGeom prst="ellipse">
            <a:avLst/>
          </a:prstGeom>
          <a:solidFill>
            <a:schemeClr val="accent2"/>
          </a:solidFill>
          <a:ln w="12700">
            <a:solidFill>
              <a:schemeClr val="accent2"/>
            </a:solidFill>
            <a:prstDash val="solid"/>
          </a:ln>
        </p:spPr>
      </p:sp>
      <p:pic>
        <p:nvPicPr>
          <p:cNvPr id="17" name="icon-421" descr="preencoded.png">    </p:cNvPr>
          <p:cNvPicPr>
            <a:picLocks noChangeAspect="1"/>
          </p:cNvPicPr>
          <p:nvPr/>
        </p:nvPicPr>
        <p:blipFill>
          <a:blip r:embed="rId3"/>
          <a:stretch>
            <a:fillRect/>
          </a:stretch>
        </p:blipFill>
        <p:spPr>
          <a:xfrm>
            <a:off x="856244" y="5611124"/>
            <a:ext cx="171176" cy="171176"/>
          </a:xfrm>
          <a:prstGeom prst="rect">
            <a:avLst/>
          </a:prstGeom>
        </p:spPr>
      </p:pic>
      <p:sp>
        <p:nvSpPr>
          <p:cNvPr id="18" name="text-422"/>
          <p:cNvSpPr txBox="1"/>
          <p:nvPr/>
        </p:nvSpPr>
        <p:spPr>
          <a:xfrm>
            <a:off x="1188720" y="5468112"/>
            <a:ext cx="1600200" cy="45720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All 5 floors playable</a:t>
            </a:r>
            <a:endParaRPr lang="en-US" sz="1300" dirty="0"/>
          </a:p>
        </p:txBody>
      </p:sp>
      <p:sp>
        <p:nvSpPr>
          <p:cNvPr id="19" name="icon-bg-423"/>
          <p:cNvSpPr/>
          <p:nvPr/>
        </p:nvSpPr>
        <p:spPr>
          <a:xfrm>
            <a:off x="2971800" y="5532120"/>
            <a:ext cx="329184" cy="329184"/>
          </a:xfrm>
          <a:prstGeom prst="ellipse">
            <a:avLst/>
          </a:prstGeom>
          <a:solidFill>
            <a:schemeClr val="accent2"/>
          </a:solidFill>
          <a:ln w="12700">
            <a:solidFill>
              <a:schemeClr val="accent2"/>
            </a:solidFill>
            <a:prstDash val="solid"/>
          </a:ln>
        </p:spPr>
      </p:sp>
      <p:pic>
        <p:nvPicPr>
          <p:cNvPr id="20" name="icon-424" descr="preencoded.png">    </p:cNvPr>
          <p:cNvPicPr>
            <a:picLocks noChangeAspect="1"/>
          </p:cNvPicPr>
          <p:nvPr/>
        </p:nvPicPr>
        <p:blipFill>
          <a:blip r:embed="rId4"/>
          <a:stretch>
            <a:fillRect/>
          </a:stretch>
        </p:blipFill>
        <p:spPr>
          <a:xfrm>
            <a:off x="3050804" y="5611124"/>
            <a:ext cx="171176" cy="171176"/>
          </a:xfrm>
          <a:prstGeom prst="rect">
            <a:avLst/>
          </a:prstGeom>
        </p:spPr>
      </p:pic>
      <p:sp>
        <p:nvSpPr>
          <p:cNvPr id="21" name="text-425"/>
          <p:cNvSpPr txBox="1"/>
          <p:nvPr/>
        </p:nvSpPr>
        <p:spPr>
          <a:xfrm>
            <a:off x="3383280" y="5468112"/>
            <a:ext cx="1600200" cy="45720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Pilot study results</a:t>
            </a:r>
            <a:endParaRPr lang="en-US" sz="1300" dirty="0"/>
          </a:p>
        </p:txBody>
      </p:sp>
      <p:sp>
        <p:nvSpPr>
          <p:cNvPr id="22" name="icon-bg-426"/>
          <p:cNvSpPr/>
          <p:nvPr/>
        </p:nvSpPr>
        <p:spPr>
          <a:xfrm>
            <a:off x="5166360" y="5532120"/>
            <a:ext cx="329184" cy="329184"/>
          </a:xfrm>
          <a:prstGeom prst="ellipse">
            <a:avLst/>
          </a:prstGeom>
          <a:solidFill>
            <a:schemeClr val="accent2"/>
          </a:solidFill>
          <a:ln w="12700">
            <a:solidFill>
              <a:schemeClr val="accent2"/>
            </a:solidFill>
            <a:prstDash val="solid"/>
          </a:ln>
        </p:spPr>
      </p:sp>
      <p:pic>
        <p:nvPicPr>
          <p:cNvPr id="23" name="icon-427" descr="preencoded.png">    </p:cNvPr>
          <p:cNvPicPr>
            <a:picLocks noChangeAspect="1"/>
          </p:cNvPicPr>
          <p:nvPr/>
        </p:nvPicPr>
        <p:blipFill>
          <a:blip r:embed="rId5"/>
          <a:stretch>
            <a:fillRect/>
          </a:stretch>
        </p:blipFill>
        <p:spPr>
          <a:xfrm>
            <a:off x="5245364" y="5611124"/>
            <a:ext cx="171176" cy="171176"/>
          </a:xfrm>
          <a:prstGeom prst="rect">
            <a:avLst/>
          </a:prstGeom>
        </p:spPr>
      </p:pic>
      <p:sp>
        <p:nvSpPr>
          <p:cNvPr id="24" name="text-428"/>
          <p:cNvSpPr txBox="1"/>
          <p:nvPr/>
        </p:nvSpPr>
        <p:spPr>
          <a:xfrm>
            <a:off x="5577840" y="5468112"/>
            <a:ext cx="1600200" cy="457200"/>
          </a:xfrm>
          <a:prstGeom prst="rect">
            <a:avLst/>
          </a:prstGeom>
          <a:noFill/>
          <a:ln/>
        </p:spPr>
        <p:txBody>
          <a:bodyPr wrap="square" lIns="0" tIns="0" rIns="0" bIns="0" rtlCol="0" anchor="ctr"/>
          <a:lstStyle/>
          <a:p>
            <a:pPr indent="0" marL="0">
              <a:buNone/>
            </a:pPr>
            <a:r>
              <a:rPr lang="en-US" sz="1300" b="1" dirty="0">
                <a:solidFill>
                  <a:schemeClr val="tx1"/>
                </a:solidFill>
                <a:latin typeface="Arial" pitchFamily="34" charset="0"/>
                <a:ea typeface="Arial" pitchFamily="34" charset="-122"/>
                <a:cs typeface="Arial" pitchFamily="34" charset="-120"/>
              </a:rPr>
              <a:t>Report + demo video</a:t>
            </a:r>
            <a:endParaRPr lang="en-US" sz="1300" dirty="0"/>
          </a:p>
        </p:txBody>
      </p:sp>
      <p:sp>
        <p:nvSpPr>
          <p:cNvPr id="25" name="text-429"/>
          <p:cNvSpPr txBox="1"/>
          <p:nvPr/>
        </p:nvSpPr>
        <p:spPr>
          <a:xfrm>
            <a:off x="7680960" y="1417320"/>
            <a:ext cx="3959352"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Arial" pitchFamily="34" charset="0"/>
                <a:ea typeface="Arial" pitchFamily="34" charset="-122"/>
                <a:cs typeface="Arial" pitchFamily="34" charset="-120"/>
              </a:rPr>
              <a:t>COMPLETION PLAN (PROPOSED)</a:t>
            </a:r>
            <a:endParaRPr lang="en-US" sz="1100" dirty="0"/>
          </a:p>
        </p:txBody>
      </p:sp>
      <p:sp>
        <p:nvSpPr>
          <p:cNvPr id="26" name="timeline-430"/>
          <p:cNvSpPr/>
          <p:nvPr/>
        </p:nvSpPr>
        <p:spPr>
          <a:xfrm>
            <a:off x="7863840" y="1965960"/>
            <a:ext cx="0" cy="3886200"/>
          </a:xfrm>
          <a:prstGeom prst="line">
            <a:avLst/>
          </a:prstGeom>
          <a:noFill/>
          <a:ln w="25400">
            <a:solidFill>
              <a:srgbClr val="C9D0D7"/>
            </a:solidFill>
            <a:prstDash val="solid"/>
          </a:ln>
        </p:spPr>
      </p:sp>
      <p:sp>
        <p:nvSpPr>
          <p:cNvPr id="27" name="dot-431"/>
          <p:cNvSpPr/>
          <p:nvPr/>
        </p:nvSpPr>
        <p:spPr>
          <a:xfrm>
            <a:off x="7735824" y="1819656"/>
            <a:ext cx="256032" cy="256032"/>
          </a:xfrm>
          <a:prstGeom prst="ellipse">
            <a:avLst/>
          </a:prstGeom>
          <a:solidFill>
            <a:schemeClr val="accent1"/>
          </a:solidFill>
          <a:ln w="25400">
            <a:solidFill>
              <a:schemeClr val="accent1"/>
            </a:solidFill>
            <a:prstDash val="solid"/>
          </a:ln>
        </p:spPr>
      </p:sp>
      <p:sp>
        <p:nvSpPr>
          <p:cNvPr id="28" name="text-432"/>
          <p:cNvSpPr txBox="1"/>
          <p:nvPr/>
        </p:nvSpPr>
        <p:spPr>
          <a:xfrm>
            <a:off x="8138160" y="1783080"/>
            <a:ext cx="3502152" cy="274320"/>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Week 1  </a:t>
            </a:r>
            <a:pPr indent="0" marL="0">
              <a:buNone/>
            </a:pPr>
            <a:r>
              <a:rPr lang="en-US" sz="1200" dirty="0">
                <a:solidFill>
                  <a:schemeClr val="tx2"/>
                </a:solidFill>
                <a:latin typeface="Arial" pitchFamily="34" charset="0"/>
                <a:ea typeface="Arial" pitchFamily="34" charset="-122"/>
                <a:cs typeface="Arial" pitchFamily="34" charset="-120"/>
              </a:rPr>
              <a:t>27 Oct – 2 Nov</a:t>
            </a:r>
            <a:endParaRPr lang="en-US" sz="1200" dirty="0"/>
          </a:p>
        </p:txBody>
      </p:sp>
      <p:sp>
        <p:nvSpPr>
          <p:cNvPr id="29" name="text-433"/>
          <p:cNvSpPr txBox="1"/>
          <p:nvPr/>
        </p:nvSpPr>
        <p:spPr>
          <a:xfrm>
            <a:off x="8138160" y="2057400"/>
            <a:ext cx="3502152"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Floors 4 and 5: layout + rule checker</a:t>
            </a:r>
            <a:endParaRPr lang="en-US" sz="1400" dirty="0"/>
          </a:p>
        </p:txBody>
      </p:sp>
      <p:sp>
        <p:nvSpPr>
          <p:cNvPr id="30" name="text-434"/>
          <p:cNvSpPr txBox="1"/>
          <p:nvPr/>
        </p:nvSpPr>
        <p:spPr>
          <a:xfrm>
            <a:off x="8138160" y="2350008"/>
            <a:ext cx="3502152" cy="237744"/>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Premkumar (F4) · Vijaya Teja (F5) · Uday: tests</a:t>
            </a:r>
            <a:endParaRPr lang="en-US" sz="1100" dirty="0"/>
          </a:p>
        </p:txBody>
      </p:sp>
      <p:sp>
        <p:nvSpPr>
          <p:cNvPr id="31" name="dot-435"/>
          <p:cNvSpPr/>
          <p:nvPr/>
        </p:nvSpPr>
        <p:spPr>
          <a:xfrm>
            <a:off x="7735824" y="2706624"/>
            <a:ext cx="256032" cy="256032"/>
          </a:xfrm>
          <a:prstGeom prst="ellipse">
            <a:avLst/>
          </a:prstGeom>
          <a:solidFill>
            <a:schemeClr val="bg1"/>
          </a:solidFill>
          <a:ln w="25400">
            <a:solidFill>
              <a:schemeClr val="accent1"/>
            </a:solidFill>
            <a:prstDash val="solid"/>
          </a:ln>
        </p:spPr>
      </p:sp>
      <p:sp>
        <p:nvSpPr>
          <p:cNvPr id="32" name="text-436"/>
          <p:cNvSpPr txBox="1"/>
          <p:nvPr/>
        </p:nvSpPr>
        <p:spPr>
          <a:xfrm>
            <a:off x="8138160" y="2670048"/>
            <a:ext cx="3502152" cy="274320"/>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Week 2  </a:t>
            </a:r>
            <a:pPr indent="0" marL="0">
              <a:buNone/>
            </a:pPr>
            <a:r>
              <a:rPr lang="en-US" sz="1200" dirty="0">
                <a:solidFill>
                  <a:schemeClr val="tx2"/>
                </a:solidFill>
                <a:latin typeface="Arial" pitchFamily="34" charset="0"/>
                <a:ea typeface="Arial" pitchFamily="34" charset="-122"/>
                <a:cs typeface="Arial" pitchFamily="34" charset="-120"/>
              </a:rPr>
              <a:t>3 – 9 Nov</a:t>
            </a:r>
            <a:endParaRPr lang="en-US" sz="1200" dirty="0"/>
          </a:p>
        </p:txBody>
      </p:sp>
      <p:sp>
        <p:nvSpPr>
          <p:cNvPr id="33" name="text-437"/>
          <p:cNvSpPr txBox="1"/>
          <p:nvPr/>
        </p:nvSpPr>
        <p:spPr>
          <a:xfrm>
            <a:off x="8138160" y="2944368"/>
            <a:ext cx="3502152"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Floors 4 and 5 playable; adaptive hints</a:t>
            </a:r>
            <a:endParaRPr lang="en-US" sz="1400" dirty="0"/>
          </a:p>
        </p:txBody>
      </p:sp>
      <p:sp>
        <p:nvSpPr>
          <p:cNvPr id="34" name="text-438"/>
          <p:cNvSpPr txBox="1"/>
          <p:nvPr/>
        </p:nvSpPr>
        <p:spPr>
          <a:xfrm>
            <a:off x="8138160" y="3236976"/>
            <a:ext cx="3502152" cy="237744"/>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Premkumar · Vijaya Teja · Uday (hints)</a:t>
            </a:r>
            <a:endParaRPr lang="en-US" sz="1100" dirty="0"/>
          </a:p>
        </p:txBody>
      </p:sp>
      <p:sp>
        <p:nvSpPr>
          <p:cNvPr id="35" name="dot-439"/>
          <p:cNvSpPr/>
          <p:nvPr/>
        </p:nvSpPr>
        <p:spPr>
          <a:xfrm>
            <a:off x="7735824" y="3593592"/>
            <a:ext cx="256032" cy="256032"/>
          </a:xfrm>
          <a:prstGeom prst="ellipse">
            <a:avLst/>
          </a:prstGeom>
          <a:solidFill>
            <a:schemeClr val="bg1"/>
          </a:solidFill>
          <a:ln w="25400">
            <a:solidFill>
              <a:schemeClr val="accent1"/>
            </a:solidFill>
            <a:prstDash val="solid"/>
          </a:ln>
        </p:spPr>
      </p:sp>
      <p:sp>
        <p:nvSpPr>
          <p:cNvPr id="36" name="text-440"/>
          <p:cNvSpPr txBox="1"/>
          <p:nvPr/>
        </p:nvSpPr>
        <p:spPr>
          <a:xfrm>
            <a:off x="8138160" y="3557016"/>
            <a:ext cx="3502152" cy="274320"/>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Week 3  </a:t>
            </a:r>
            <a:pPr indent="0" marL="0">
              <a:buNone/>
            </a:pPr>
            <a:r>
              <a:rPr lang="en-US" sz="1200" dirty="0">
                <a:solidFill>
                  <a:schemeClr val="tx2"/>
                </a:solidFill>
                <a:latin typeface="Arial" pitchFamily="34" charset="0"/>
                <a:ea typeface="Arial" pitchFamily="34" charset="-122"/>
                <a:cs typeface="Arial" pitchFamily="34" charset="-120"/>
              </a:rPr>
              <a:t>10 – 16 Nov</a:t>
            </a:r>
            <a:endParaRPr lang="en-US" sz="1200" dirty="0"/>
          </a:p>
        </p:txBody>
      </p:sp>
      <p:sp>
        <p:nvSpPr>
          <p:cNvPr id="37" name="text-441"/>
          <p:cNvSpPr txBox="1"/>
          <p:nvPr/>
        </p:nvSpPr>
        <p:spPr>
          <a:xfrm>
            <a:off x="8138160" y="3831336"/>
            <a:ext cx="3502152"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Menus, builds, bug fixes</a:t>
            </a:r>
            <a:endParaRPr lang="en-US" sz="1400" dirty="0"/>
          </a:p>
        </p:txBody>
      </p:sp>
      <p:sp>
        <p:nvSpPr>
          <p:cNvPr id="38" name="text-442"/>
          <p:cNvSpPr txBox="1"/>
          <p:nvPr/>
        </p:nvSpPr>
        <p:spPr>
          <a:xfrm>
            <a:off x="8138160" y="4123944"/>
            <a:ext cx="3502152" cy="237744"/>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All three</a:t>
            </a:r>
            <a:endParaRPr lang="en-US" sz="1100" dirty="0"/>
          </a:p>
        </p:txBody>
      </p:sp>
      <p:sp>
        <p:nvSpPr>
          <p:cNvPr id="39" name="dot-443"/>
          <p:cNvSpPr/>
          <p:nvPr/>
        </p:nvSpPr>
        <p:spPr>
          <a:xfrm>
            <a:off x="7735824" y="4480560"/>
            <a:ext cx="256032" cy="256032"/>
          </a:xfrm>
          <a:prstGeom prst="ellipse">
            <a:avLst/>
          </a:prstGeom>
          <a:solidFill>
            <a:schemeClr val="bg1"/>
          </a:solidFill>
          <a:ln w="25400">
            <a:solidFill>
              <a:schemeClr val="accent1"/>
            </a:solidFill>
            <a:prstDash val="solid"/>
          </a:ln>
        </p:spPr>
      </p:sp>
      <p:sp>
        <p:nvSpPr>
          <p:cNvPr id="40" name="text-444"/>
          <p:cNvSpPr txBox="1"/>
          <p:nvPr/>
        </p:nvSpPr>
        <p:spPr>
          <a:xfrm>
            <a:off x="8138160" y="4443984"/>
            <a:ext cx="3502152" cy="274320"/>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Week 4  </a:t>
            </a:r>
            <a:pPr indent="0" marL="0">
              <a:buNone/>
            </a:pPr>
            <a:r>
              <a:rPr lang="en-US" sz="1200" dirty="0">
                <a:solidFill>
                  <a:schemeClr val="tx2"/>
                </a:solidFill>
                <a:latin typeface="Arial" pitchFamily="34" charset="0"/>
                <a:ea typeface="Arial" pitchFamily="34" charset="-122"/>
                <a:cs typeface="Arial" pitchFamily="34" charset="-120"/>
              </a:rPr>
              <a:t>17 – 23 Nov</a:t>
            </a:r>
            <a:endParaRPr lang="en-US" sz="1200" dirty="0"/>
          </a:p>
        </p:txBody>
      </p:sp>
      <p:sp>
        <p:nvSpPr>
          <p:cNvPr id="41" name="text-445"/>
          <p:cNvSpPr txBox="1"/>
          <p:nvPr/>
        </p:nvSpPr>
        <p:spPr>
          <a:xfrm>
            <a:off x="8138160" y="4718304"/>
            <a:ext cx="3502152"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Pilot study with classmates</a:t>
            </a:r>
            <a:endParaRPr lang="en-US" sz="1400" dirty="0"/>
          </a:p>
        </p:txBody>
      </p:sp>
      <p:sp>
        <p:nvSpPr>
          <p:cNvPr id="42" name="text-446"/>
          <p:cNvSpPr txBox="1"/>
          <p:nvPr/>
        </p:nvSpPr>
        <p:spPr>
          <a:xfrm>
            <a:off x="8138160" y="5010912"/>
            <a:ext cx="3502152" cy="237744"/>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Uday leads · all three</a:t>
            </a:r>
            <a:endParaRPr lang="en-US" sz="1100" dirty="0"/>
          </a:p>
        </p:txBody>
      </p:sp>
      <p:sp>
        <p:nvSpPr>
          <p:cNvPr id="43" name="dot-447"/>
          <p:cNvSpPr/>
          <p:nvPr/>
        </p:nvSpPr>
        <p:spPr>
          <a:xfrm>
            <a:off x="7735824" y="5367528"/>
            <a:ext cx="256032" cy="256032"/>
          </a:xfrm>
          <a:prstGeom prst="ellipse">
            <a:avLst/>
          </a:prstGeom>
          <a:solidFill>
            <a:schemeClr val="bg1"/>
          </a:solidFill>
          <a:ln w="25400">
            <a:solidFill>
              <a:schemeClr val="accent1"/>
            </a:solidFill>
            <a:prstDash val="solid"/>
          </a:ln>
        </p:spPr>
      </p:sp>
      <p:sp>
        <p:nvSpPr>
          <p:cNvPr id="44" name="text-448"/>
          <p:cNvSpPr txBox="1"/>
          <p:nvPr/>
        </p:nvSpPr>
        <p:spPr>
          <a:xfrm>
            <a:off x="8138160" y="5330952"/>
            <a:ext cx="3502152" cy="274320"/>
          </a:xfrm>
          <a:prstGeom prst="rect">
            <a:avLst/>
          </a:prstGeom>
          <a:noFill/>
          <a:ln/>
        </p:spPr>
        <p:txBody>
          <a:bodyPr wrap="square" lIns="0" tIns="0" rIns="0" bIns="0" rtlCol="0" anchor="t"/>
          <a:lstStyle/>
          <a:p>
            <a:pPr indent="0" marL="0">
              <a:buNone/>
            </a:pPr>
            <a:r>
              <a:rPr lang="en-US" sz="1200" b="1" dirty="0">
                <a:solidFill>
                  <a:schemeClr val="accent1"/>
                </a:solidFill>
                <a:latin typeface="Arial" pitchFamily="34" charset="0"/>
                <a:ea typeface="Arial" pitchFamily="34" charset="-122"/>
                <a:cs typeface="Arial" pitchFamily="34" charset="-120"/>
              </a:rPr>
              <a:t>Week 5  </a:t>
            </a:r>
            <a:pPr indent="0" marL="0">
              <a:buNone/>
            </a:pPr>
            <a:r>
              <a:rPr lang="en-US" sz="1200" dirty="0">
                <a:solidFill>
                  <a:schemeClr val="tx2"/>
                </a:solidFill>
                <a:latin typeface="Arial" pitchFamily="34" charset="0"/>
                <a:ea typeface="Arial" pitchFamily="34" charset="-122"/>
                <a:cs typeface="Arial" pitchFamily="34" charset="-120"/>
              </a:rPr>
              <a:t>24 – 30 Nov</a:t>
            </a:r>
            <a:endParaRPr lang="en-US" sz="1200" dirty="0"/>
          </a:p>
        </p:txBody>
      </p:sp>
      <p:sp>
        <p:nvSpPr>
          <p:cNvPr id="45" name="text-449"/>
          <p:cNvSpPr txBox="1"/>
          <p:nvPr/>
        </p:nvSpPr>
        <p:spPr>
          <a:xfrm>
            <a:off x="8138160" y="5605272"/>
            <a:ext cx="3502152" cy="292608"/>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Analysis, report, final demo</a:t>
            </a:r>
            <a:endParaRPr lang="en-US" sz="1400" dirty="0"/>
          </a:p>
        </p:txBody>
      </p:sp>
      <p:sp>
        <p:nvSpPr>
          <p:cNvPr id="46" name="text-450"/>
          <p:cNvSpPr txBox="1"/>
          <p:nvPr/>
        </p:nvSpPr>
        <p:spPr>
          <a:xfrm>
            <a:off x="8138160" y="5897880"/>
            <a:ext cx="3502152" cy="237744"/>
          </a:xfrm>
          <a:prstGeom prst="rect">
            <a:avLst/>
          </a:prstGeom>
          <a:noFill/>
          <a:ln/>
        </p:spPr>
        <p:txBody>
          <a:bodyPr wrap="square" lIns="0" tIns="0" rIns="0" bIns="0" rtlCol="0" anchor="t"/>
          <a:lstStyle/>
          <a:p>
            <a:pPr indent="0" marL="0">
              <a:buNone/>
            </a:pPr>
            <a:r>
              <a:rPr lang="en-US" sz="1100" dirty="0">
                <a:solidFill>
                  <a:schemeClr val="tx2"/>
                </a:solidFill>
                <a:latin typeface="Arial" pitchFamily="34" charset="0"/>
                <a:ea typeface="Arial" pitchFamily="34" charset="-122"/>
                <a:cs typeface="Arial" pitchFamily="34" charset="-120"/>
              </a:rPr>
              <a:t>All three</a:t>
            </a:r>
            <a:endParaRPr lang="en-US" sz="11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1298448" y="365760"/>
            <a:ext cx="1033272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REFERENCES</a:t>
            </a:r>
            <a:endParaRPr lang="en-US" sz="1200" dirty="0"/>
          </a:p>
        </p:txBody>
      </p:sp>
      <p:sp>
        <p:nvSpPr>
          <p:cNvPr id="3" name="Text 1"/>
          <p:cNvSpPr/>
          <p:nvPr>
            <p:ph idx="102" type="title" hasCustomPrompt="1"/>
          </p:nvPr>
        </p:nvSpPr>
        <p:spPr>
          <a:xfrm>
            <a:off x="1298448" y="621792"/>
            <a:ext cx="10332720" cy="548640"/>
          </a:xfrm>
          <a:prstGeom prst="rect">
            <a:avLst/>
          </a:prstGeom>
          <a:noFill/>
          <a:ln/>
        </p:spPr>
        <p:txBody>
          <a:bodyPr wrap="square" lIns="0" tIns="0" rIns="0" bIns="0" rtlCol="0" anchor="ctr"/>
          <a:lstStyle/>
          <a:p>
            <a:pPr algn="l" indent="0" marL="0">
              <a:buNone/>
            </a:pPr>
            <a:r>
              <a:rPr lang="en-US" sz="2800" b="1" dirty="0">
                <a:solidFill>
                  <a:schemeClr val="tx1"/>
                </a:solidFill>
              </a:rPr>
              <a:t>Sources</a:t>
            </a:r>
            <a:endParaRPr lang="en-US" sz="2800" dirty="0"/>
          </a:p>
        </p:txBody>
      </p:sp>
      <p:sp>
        <p:nvSpPr>
          <p:cNvPr id="4" name="refdot-451"/>
          <p:cNvSpPr/>
          <p:nvPr/>
        </p:nvSpPr>
        <p:spPr>
          <a:xfrm>
            <a:off x="548640" y="1627632"/>
            <a:ext cx="201168" cy="201168"/>
          </a:xfrm>
          <a:prstGeom prst="ellipse">
            <a:avLst/>
          </a:prstGeom>
          <a:solidFill>
            <a:schemeClr val="accent4"/>
          </a:solidFill>
          <a:ln w="12700">
            <a:solidFill>
              <a:schemeClr val="accent4"/>
            </a:solidFill>
            <a:prstDash val="solid"/>
          </a:ln>
        </p:spPr>
      </p:sp>
      <p:sp>
        <p:nvSpPr>
          <p:cNvPr id="5" name="text-452"/>
          <p:cNvSpPr txBox="1"/>
          <p:nvPr/>
        </p:nvSpPr>
        <p:spPr>
          <a:xfrm>
            <a:off x="960120" y="1554480"/>
            <a:ext cx="10607040" cy="9144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Schöller, M. (2025). </a:t>
            </a:r>
            <a:pPr indent="0" marL="0">
              <a:buNone/>
            </a:pPr>
            <a:r>
              <a:rPr lang="en-US" sz="1500" i="1" dirty="0">
                <a:solidFill>
                  <a:schemeClr val="tx1"/>
                </a:solidFill>
                <a:latin typeface="Arial" pitchFamily="34" charset="0"/>
                <a:ea typeface="Arial" pitchFamily="34" charset="-122"/>
                <a:cs typeface="Arial" pitchFamily="34" charset="-120"/>
              </a:rPr>
              <a:t>An Educational Mobile Game about Sorting Algorithms. </a:t>
            </a:r>
            <a:pPr indent="0" marL="0">
              <a:buNone/>
            </a:pPr>
            <a:r>
              <a:rPr lang="en-US" sz="1500" dirty="0">
                <a:solidFill>
                  <a:schemeClr val="tx1"/>
                </a:solidFill>
                <a:latin typeface="Arial" pitchFamily="34" charset="0"/>
                <a:ea typeface="Arial" pitchFamily="34" charset="-122"/>
                <a:cs typeface="Arial" pitchFamily="34" charset="-120"/>
              </a:rPr>
              <a:t>Bachelor's thesis, Institute for System Software, Johannes Kepler University Linz, Austria.</a:t>
            </a:r>
            <a:endParaRPr lang="en-US" sz="1500" dirty="0"/>
          </a:p>
        </p:txBody>
      </p:sp>
      <p:sp>
        <p:nvSpPr>
          <p:cNvPr id="6" name="refdot-453"/>
          <p:cNvSpPr/>
          <p:nvPr/>
        </p:nvSpPr>
        <p:spPr>
          <a:xfrm>
            <a:off x="548640" y="2770632"/>
            <a:ext cx="201168" cy="201168"/>
          </a:xfrm>
          <a:prstGeom prst="ellipse">
            <a:avLst/>
          </a:prstGeom>
          <a:solidFill>
            <a:schemeClr val="accent5"/>
          </a:solidFill>
          <a:ln w="12700">
            <a:solidFill>
              <a:schemeClr val="accent5"/>
            </a:solidFill>
            <a:prstDash val="solid"/>
          </a:ln>
        </p:spPr>
      </p:sp>
      <p:sp>
        <p:nvSpPr>
          <p:cNvPr id="7" name="text-454"/>
          <p:cNvSpPr txBox="1"/>
          <p:nvPr/>
        </p:nvSpPr>
        <p:spPr>
          <a:xfrm>
            <a:off x="960120" y="2697480"/>
            <a:ext cx="10607040" cy="9144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Mukasheva, M., Kalkabayeva, Z., &amp; Pussyrmanov, N. (2023). </a:t>
            </a:r>
            <a:pPr indent="0" marL="0">
              <a:buNone/>
            </a:pPr>
            <a:r>
              <a:rPr lang="en-US" sz="1500" i="1" dirty="0">
                <a:solidFill>
                  <a:schemeClr val="tx1"/>
                </a:solidFill>
                <a:latin typeface="Arial" pitchFamily="34" charset="0"/>
                <a:ea typeface="Arial" pitchFamily="34" charset="-122"/>
                <a:cs typeface="Arial" pitchFamily="34" charset="-120"/>
              </a:rPr>
              <a:t>Visualization of sorting algorithms in the virtual reality environment. </a:t>
            </a:r>
            <a:pPr indent="0" marL="0">
              <a:buNone/>
            </a:pPr>
            <a:r>
              <a:rPr lang="en-US" sz="1500" dirty="0">
                <a:solidFill>
                  <a:schemeClr val="tx1"/>
                </a:solidFill>
                <a:latin typeface="Arial" pitchFamily="34" charset="0"/>
                <a:ea typeface="Arial" pitchFamily="34" charset="-122"/>
                <a:cs typeface="Arial" pitchFamily="34" charset="-120"/>
              </a:rPr>
              <a:t>Frontiers in Education, 8, 1195200. https://doi.org/10.3389/feduc.2023.1195200</a:t>
            </a:r>
            <a:endParaRPr lang="en-US" sz="1500" dirty="0"/>
          </a:p>
        </p:txBody>
      </p:sp>
      <p:sp>
        <p:nvSpPr>
          <p:cNvPr id="8" name="refdot-455"/>
          <p:cNvSpPr/>
          <p:nvPr/>
        </p:nvSpPr>
        <p:spPr>
          <a:xfrm>
            <a:off x="548640" y="3913632"/>
            <a:ext cx="201168" cy="201168"/>
          </a:xfrm>
          <a:prstGeom prst="ellipse">
            <a:avLst/>
          </a:prstGeom>
          <a:solidFill>
            <a:schemeClr val="accent6"/>
          </a:solidFill>
          <a:ln w="12700">
            <a:solidFill>
              <a:schemeClr val="accent6"/>
            </a:solidFill>
            <a:prstDash val="solid"/>
          </a:ln>
        </p:spPr>
      </p:sp>
      <p:sp>
        <p:nvSpPr>
          <p:cNvPr id="9" name="text-456"/>
          <p:cNvSpPr txBox="1"/>
          <p:nvPr/>
        </p:nvSpPr>
        <p:spPr>
          <a:xfrm>
            <a:off x="960120" y="3840480"/>
            <a:ext cx="10607040" cy="9144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Sidorov, S. V., &amp; Cherkasova, V. A. (2026). </a:t>
            </a:r>
            <a:pPr indent="0" marL="0">
              <a:buNone/>
            </a:pPr>
            <a:r>
              <a:rPr lang="en-US" sz="1500" i="1" dirty="0">
                <a:solidFill>
                  <a:schemeClr val="tx1"/>
                </a:solidFill>
                <a:latin typeface="Arial" pitchFamily="34" charset="0"/>
                <a:ea typeface="Arial" pitchFamily="34" charset="-122"/>
                <a:cs typeface="Arial" pitchFamily="34" charset="-120"/>
              </a:rPr>
              <a:t>A model for integrating a gamified learning module into the study of sorting algorithms. </a:t>
            </a:r>
            <a:pPr indent="0" marL="0">
              <a:buNone/>
            </a:pPr>
            <a:r>
              <a:rPr lang="en-US" sz="1500" dirty="0">
                <a:solidFill>
                  <a:schemeClr val="tx1"/>
                </a:solidFill>
                <a:latin typeface="Arial" pitchFamily="34" charset="0"/>
                <a:ea typeface="Arial" pitchFamily="34" charset="-122"/>
                <a:cs typeface="Arial" pitchFamily="34" charset="-120"/>
              </a:rPr>
              <a:t>Bulletin of Perm University. Mathematics. Mechanics. Computer Science, 1(72), 118–130. https://doi.org/10.17072/1993-0550-2026-1-118-130</a:t>
            </a:r>
            <a:endParaRPr lang="en-US" sz="1500" dirty="0"/>
          </a:p>
        </p:txBody>
      </p:sp>
      <p:sp>
        <p:nvSpPr>
          <p:cNvPr id="10" name="text-457"/>
          <p:cNvSpPr txBox="1"/>
          <p:nvPr/>
        </p:nvSpPr>
        <p:spPr>
          <a:xfrm>
            <a:off x="960120" y="5120640"/>
            <a:ext cx="5486400" cy="274320"/>
          </a:xfrm>
          <a:prstGeom prst="rect">
            <a:avLst/>
          </a:prstGeom>
          <a:noFill/>
          <a:ln/>
        </p:spPr>
        <p:txBody>
          <a:bodyPr wrap="square" lIns="0" tIns="0" rIns="0" bIns="0" rtlCol="0" anchor="t"/>
          <a:lstStyle/>
          <a:p>
            <a:pPr indent="0" marL="0">
              <a:buNone/>
            </a:pPr>
            <a:r>
              <a:rPr lang="en-US" sz="1100" b="1" spc="200" kern="0" dirty="0">
                <a:solidFill>
                  <a:schemeClr val="tx2"/>
                </a:solidFill>
                <a:latin typeface="Arial" pitchFamily="34" charset="0"/>
                <a:ea typeface="Arial" pitchFamily="34" charset="-122"/>
                <a:cs typeface="Arial" pitchFamily="34" charset="-120"/>
              </a:rPr>
              <a:t>ASSETS AND TOOLS</a:t>
            </a:r>
            <a:endParaRPr lang="en-US" sz="1100" dirty="0"/>
          </a:p>
        </p:txBody>
      </p:sp>
      <p:sp>
        <p:nvSpPr>
          <p:cNvPr id="11" name="text-458"/>
          <p:cNvSpPr txBox="1"/>
          <p:nvPr/>
        </p:nvSpPr>
        <p:spPr>
          <a:xfrm>
            <a:off x="960120" y="5440680"/>
            <a:ext cx="10607040" cy="64008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Unity 6 (URP) · Microsoft Rocketbox avatar library (MIT licence) · all screenshots captured from the Sort or Stay Unity project, 23 Oct 2026 · charts redrawn from the papers' reported data</a:t>
            </a:r>
            <a:endParaRPr lang="en-US" sz="1300" dirty="0"/>
          </a:p>
        </p:txBody>
      </p:sp>
      <p:sp>
        <p:nvSpPr>
          <p:cNvPr id="25" name="Slide Number Placeholder 0"/>
          <p:cNvSpPr>
            <a:spLocks noGrp="1"/>
          </p:cNvSpPr>
          <p:nvPr>
            <p:ph type="sldNum" sz="quarter" idx="4294967295"/>
          </p:nvPr>
        </p:nvSpPr>
        <p:spPr>
          <a:xfrm>
            <a:off x="548640" y="384048"/>
            <a:ext cx="566928" cy="566928"/>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FFFFFF"/>
                </a:solidFill>
                <a:latin typeface="Arial"/>
                <a:ea typeface="Arial"/>
                <a:cs typeface="Arial"/>
              </a:defRPr>
            </a:lvl1pPr>
          </a:lstStyle>
          <a:p>
            <a:pPr algn="ctr"/>
            <a:fld id="{F7021451-1387-4CA6-816F-3879F97B5CBC}" type="slidenum">
              <a:rPr b="1" lang="en-US"/>
              <a:t>15</a:t>
            </a:fld>
            <a:endParaRPr lang="en-US"/>
          </a:p>
        </p:txBody>
      </p:sp>
    </p:spTree>
  </p:cSld>
  <p:clrMapOvr>
    <a:masterClrMapping/>
  </p:clrMapOvr>
</p:sld>
</file>

<file path=ppt/theme/theme1.xml><?xml version="1.0" encoding="utf-8"?>
<a:theme xmlns:a="http://schemas.openxmlformats.org/drawingml/2006/main" name="Sort or Stay">
  <a:themeElements>
    <a:clrScheme name="Sort or Stay">
      <a:dk1>
        <a:srgbClr val="1E2A38"/>
      </a:dk1>
      <a:lt1>
        <a:srgbClr val="FFFFFF"/>
      </a:lt1>
      <a:dk2>
        <a:srgbClr val="4F5B6A"/>
      </a:dk2>
      <a:lt2>
        <a:srgbClr val="F3F5F7"/>
      </a:lt2>
      <a:accent1>
        <a:srgbClr val="D9692A"/>
      </a:accent1>
      <a:accent2>
        <a:srgbClr val="2F9E6E"/>
      </a:accent2>
      <a:accent3>
        <a:srgbClr val="F2B33D"/>
      </a:accent3>
      <a:accent4>
        <a:srgbClr val="3B7DD8"/>
      </a:accent4>
      <a:accent5>
        <a:srgbClr val="7B55C7"/>
      </a:accent5>
      <a:accent6>
        <a:srgbClr val="0F8C9E"/>
      </a:accent6>
      <a:hlink>
        <a:srgbClr val="3B7DD8"/>
      </a:hlink>
      <a:folHlink>
        <a:srgbClr val="7B55C7"/>
      </a:folHlink>
    </a:clrScheme>
    <a:fontScheme name="Sort or St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 or Stay — GDIT Project Presentation</dc:title>
  <dc:subject>A 3D escape-room game for learning sorting algorithms</dc:subject>
  <dc:creator>Premkumar Thota</dc:creator>
  <cp:lastModifiedBy>Premkumar Thota</cp:lastModifiedBy>
  <cp:revision>1</cp:revision>
  <dcterms:created xsi:type="dcterms:W3CDTF">2026-10-23T04:17:14Z</dcterms:created>
  <dcterms:modified xsi:type="dcterms:W3CDTF">2026-10-23T04:17:14Z</dcterms:modified>
</cp:coreProperties>
</file>